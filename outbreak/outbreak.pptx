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3"/>
  </p:notesMasterIdLst>
  <p:sldIdLst>
    <p:sldId id="257" r:id="rId5"/>
    <p:sldId id="1094" r:id="rId6"/>
    <p:sldId id="290" r:id="rId7"/>
    <p:sldId id="362" r:id="rId8"/>
    <p:sldId id="1097" r:id="rId9"/>
    <p:sldId id="1095" r:id="rId10"/>
    <p:sldId id="364" r:id="rId11"/>
    <p:sldId id="109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AE00"/>
    <a:srgbClr val="205493"/>
    <a:srgbClr val="C5EDE9"/>
    <a:srgbClr val="E1F3F9"/>
    <a:srgbClr val="34576A"/>
    <a:srgbClr val="33CABE"/>
    <a:srgbClr val="EFEFF1"/>
    <a:srgbClr val="F2D060"/>
    <a:srgbClr val="89DFD7"/>
    <a:srgbClr val="34B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34"/>
    <p:restoredTop sz="94614"/>
  </p:normalViewPr>
  <p:slideViewPr>
    <p:cSldViewPr snapToGrid="0">
      <p:cViewPr>
        <p:scale>
          <a:sx n="150" d="100"/>
          <a:sy n="150" d="100"/>
        </p:scale>
        <p:origin x="20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A2426E-871E-6048-897D-C00DFFEC19B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30F7CC-E99A-9B4E-A466-3BF0E5F4787E}" type="slidenum">
              <a:rPr lang="en-US" smtClean="0"/>
              <a:t>‹#›</a:t>
            </a:fld>
            <a:endParaRPr lang="en-US"/>
          </a:p>
        </p:txBody>
      </p:sp>
    </p:spTree>
    <p:extLst>
      <p:ext uri="{BB962C8B-B14F-4D97-AF65-F5344CB8AC3E}">
        <p14:creationId xmlns:p14="http://schemas.microsoft.com/office/powerpoint/2010/main" val="18655276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2</a:t>
            </a:fld>
            <a:endParaRPr lang="en-US" dirty="0"/>
          </a:p>
        </p:txBody>
      </p:sp>
    </p:spTree>
    <p:extLst>
      <p:ext uri="{BB962C8B-B14F-4D97-AF65-F5344CB8AC3E}">
        <p14:creationId xmlns:p14="http://schemas.microsoft.com/office/powerpoint/2010/main" val="22482926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C30F7CC-E99A-9B4E-A466-3BF0E5F4787E}" type="slidenum">
              <a:rPr lang="en-US" smtClean="0"/>
              <a:t>3</a:t>
            </a:fld>
            <a:endParaRPr lang="en-US"/>
          </a:p>
        </p:txBody>
      </p:sp>
    </p:spTree>
    <p:extLst>
      <p:ext uri="{BB962C8B-B14F-4D97-AF65-F5344CB8AC3E}">
        <p14:creationId xmlns:p14="http://schemas.microsoft.com/office/powerpoint/2010/main" val="2045615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p:cNvSpPr>
            <a:spLocks noGrp="1"/>
          </p:cNvSpPr>
          <p:nvPr>
            <p:ph type="sldNum" sz="quarter" idx="5"/>
          </p:nvPr>
        </p:nvSpPr>
        <p:spPr/>
        <p:txBody>
          <a:bodyPr/>
          <a:lstStyle/>
          <a:p>
            <a:fld id="{30BD0B8B-4FA3-4B8D-A511-CE1E9FA2288E}" type="slidenum">
              <a:rPr lang="en-US" smtClean="0"/>
              <a:t>4</a:t>
            </a:fld>
            <a:endParaRPr lang="en-US" dirty="0"/>
          </a:p>
        </p:txBody>
      </p:sp>
    </p:spTree>
    <p:extLst>
      <p:ext uri="{BB962C8B-B14F-4D97-AF65-F5344CB8AC3E}">
        <p14:creationId xmlns:p14="http://schemas.microsoft.com/office/powerpoint/2010/main" val="10748238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859E7-E386-9B22-95A0-368AC743A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3A820-79E8-C882-2600-58EC8EF949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37E5A-5E86-2C53-32E9-B104002E9450}"/>
              </a:ext>
            </a:extLst>
          </p:cNvPr>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a:extLst>
              <a:ext uri="{FF2B5EF4-FFF2-40B4-BE49-F238E27FC236}">
                <a16:creationId xmlns:a16="http://schemas.microsoft.com/office/drawing/2014/main" id="{E971AE1C-6035-F3D6-1715-1DB891352B54}"/>
              </a:ext>
            </a:extLst>
          </p:cNvPr>
          <p:cNvSpPr>
            <a:spLocks noGrp="1"/>
          </p:cNvSpPr>
          <p:nvPr>
            <p:ph type="sldNum" sz="quarter" idx="5"/>
          </p:nvPr>
        </p:nvSpPr>
        <p:spPr/>
        <p:txBody>
          <a:bodyPr/>
          <a:lstStyle/>
          <a:p>
            <a:fld id="{30BD0B8B-4FA3-4B8D-A511-CE1E9FA2288E}" type="slidenum">
              <a:rPr lang="en-US" smtClean="0"/>
              <a:t>5</a:t>
            </a:fld>
            <a:endParaRPr lang="en-US" dirty="0"/>
          </a:p>
        </p:txBody>
      </p:sp>
    </p:spTree>
    <p:extLst>
      <p:ext uri="{BB962C8B-B14F-4D97-AF65-F5344CB8AC3E}">
        <p14:creationId xmlns:p14="http://schemas.microsoft.com/office/powerpoint/2010/main" val="3255026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C30F7CC-E99A-9B4E-A466-3BF0E5F4787E}" type="slidenum">
              <a:rPr lang="en-US" smtClean="0"/>
              <a:t>6</a:t>
            </a:fld>
            <a:endParaRPr lang="en-US"/>
          </a:p>
        </p:txBody>
      </p:sp>
    </p:spTree>
    <p:extLst>
      <p:ext uri="{BB962C8B-B14F-4D97-AF65-F5344CB8AC3E}">
        <p14:creationId xmlns:p14="http://schemas.microsoft.com/office/powerpoint/2010/main" val="5725318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7</a:t>
            </a:fld>
            <a:endParaRPr lang="en-US" dirty="0"/>
          </a:p>
        </p:txBody>
      </p:sp>
    </p:spTree>
    <p:extLst>
      <p:ext uri="{BB962C8B-B14F-4D97-AF65-F5344CB8AC3E}">
        <p14:creationId xmlns:p14="http://schemas.microsoft.com/office/powerpoint/2010/main" val="8890926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008E5-378A-DC2E-201D-15B79F3CFC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011CA-D0B8-3679-2DBB-BE6D48041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259158-3BE8-51E7-7899-DBBBFB7432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E640E9-A0F4-F6F7-666B-AA521500B6CE}"/>
              </a:ext>
            </a:extLst>
          </p:cNvPr>
          <p:cNvSpPr>
            <a:spLocks noGrp="1"/>
          </p:cNvSpPr>
          <p:nvPr>
            <p:ph type="sldNum" sz="quarter" idx="5"/>
          </p:nvPr>
        </p:nvSpPr>
        <p:spPr/>
        <p:txBody>
          <a:bodyPr/>
          <a:lstStyle/>
          <a:p>
            <a:fld id="{30BD0B8B-4FA3-4B8D-A511-CE1E9FA2288E}" type="slidenum">
              <a:rPr lang="en-US" smtClean="0"/>
              <a:t>8</a:t>
            </a:fld>
            <a:endParaRPr lang="en-US" dirty="0"/>
          </a:p>
        </p:txBody>
      </p:sp>
    </p:spTree>
    <p:extLst>
      <p:ext uri="{BB962C8B-B14F-4D97-AF65-F5344CB8AC3E}">
        <p14:creationId xmlns:p14="http://schemas.microsoft.com/office/powerpoint/2010/main" val="40746033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light">
    <p:bg>
      <p:bgPr>
        <a:solidFill>
          <a:schemeClr val="bg1"/>
        </a:solidFill>
        <a:effectLst/>
      </p:bgPr>
    </p:bg>
    <p:spTree>
      <p:nvGrpSpPr>
        <p:cNvPr id="1" name=""/>
        <p:cNvGrpSpPr/>
        <p:nvPr/>
      </p:nvGrpSpPr>
      <p:grpSpPr>
        <a:xfrm>
          <a:off x="0" y="0"/>
          <a:ext cx="0" cy="0"/>
          <a:chOff x="0" y="0"/>
          <a:chExt cx="0" cy="0"/>
        </a:xfrm>
      </p:grpSpPr>
      <p:pic>
        <p:nvPicPr>
          <p:cNvPr id="7" name="Picture 6" descr="Colorful abstract graphic of a genome sequence map with NCBI at the center">
            <a:extLst>
              <a:ext uri="{FF2B5EF4-FFF2-40B4-BE49-F238E27FC236}">
                <a16:creationId xmlns:a16="http://schemas.microsoft.com/office/drawing/2014/main" id="{4B4DA229-F445-69D4-8EB0-FEF2A3A2CD86}"/>
              </a:ext>
              <a:ext uri="{C183D7F6-B498-43B3-948B-1728B52AA6E4}">
                <adec:decorative xmlns:adec="http://schemas.microsoft.com/office/drawing/2017/decorative" val="0"/>
              </a:ext>
            </a:extLst>
          </p:cNvPr>
          <p:cNvPicPr>
            <a:picLocks noChangeAspect="1"/>
          </p:cNvPicPr>
          <p:nvPr userDrawn="1"/>
        </p:nvPicPr>
        <p:blipFill rotWithShape="1">
          <a:blip r:embed="rId2"/>
          <a:srcRect l="-1" t="-502" r="8660" b="35376"/>
          <a:stretch/>
        </p:blipFill>
        <p:spPr>
          <a:xfrm>
            <a:off x="4361020" y="2048241"/>
            <a:ext cx="7830980" cy="4809759"/>
          </a:xfrm>
          <a:prstGeom prst="rect">
            <a:avLst/>
          </a:prstGeom>
        </p:spPr>
      </p:pic>
      <p:pic>
        <p:nvPicPr>
          <p:cNvPr id="6" name="Graphic 5" descr="NCBI Logo (NIH National Library of Medicine National Center for Biotechnology information Logo)">
            <a:extLst>
              <a:ext uri="{FF2B5EF4-FFF2-40B4-BE49-F238E27FC236}">
                <a16:creationId xmlns:a16="http://schemas.microsoft.com/office/drawing/2014/main" id="{E0E7B8A8-123D-2E35-DBCA-464C55092A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75937" y="6084465"/>
            <a:ext cx="3433328" cy="408409"/>
          </a:xfrm>
          <a:prstGeom prst="rect">
            <a:avLst/>
          </a:prstGeom>
        </p:spPr>
      </p:pic>
      <p:sp>
        <p:nvSpPr>
          <p:cNvPr id="9" name="Title 1">
            <a:extLst>
              <a:ext uri="{FF2B5EF4-FFF2-40B4-BE49-F238E27FC236}">
                <a16:creationId xmlns:a16="http://schemas.microsoft.com/office/drawing/2014/main" id="{ED95474A-4FAB-A45E-E630-E8CA2D49F2FF}"/>
              </a:ext>
            </a:extLst>
          </p:cNvPr>
          <p:cNvSpPr>
            <a:spLocks noGrp="1"/>
          </p:cNvSpPr>
          <p:nvPr>
            <p:ph type="title" hasCustomPrompt="1"/>
          </p:nvPr>
        </p:nvSpPr>
        <p:spPr>
          <a:xfrm>
            <a:off x="426719" y="365125"/>
            <a:ext cx="7431011" cy="1389533"/>
          </a:xfrm>
        </p:spPr>
        <p:txBody>
          <a:bodyPr anchor="t"/>
          <a:lstStyle>
            <a:lvl1pPr>
              <a:defRPr>
                <a:solidFill>
                  <a:schemeClr val="tx1"/>
                </a:solidFill>
              </a:defRPr>
            </a:lvl1pPr>
          </a:lstStyle>
          <a:p>
            <a:r>
              <a:rPr lang="en-US"/>
              <a:t>Title of Deck or Presentation Goes Here</a:t>
            </a:r>
          </a:p>
        </p:txBody>
      </p:sp>
      <p:sp>
        <p:nvSpPr>
          <p:cNvPr id="10" name="Text Placeholder 5">
            <a:extLst>
              <a:ext uri="{FF2B5EF4-FFF2-40B4-BE49-F238E27FC236}">
                <a16:creationId xmlns:a16="http://schemas.microsoft.com/office/drawing/2014/main" id="{9F338D7E-0AFB-2F3F-808F-26398C37552A}"/>
              </a:ext>
            </a:extLst>
          </p:cNvPr>
          <p:cNvSpPr>
            <a:spLocks noGrp="1"/>
          </p:cNvSpPr>
          <p:nvPr>
            <p:ph type="body" sz="quarter" idx="16" hasCustomPrompt="1"/>
          </p:nvPr>
        </p:nvSpPr>
        <p:spPr>
          <a:xfrm>
            <a:off x="8353172" y="365195"/>
            <a:ext cx="3412107" cy="1389463"/>
          </a:xfrm>
          <a:prstGeom prst="rect">
            <a:avLst/>
          </a:prstGeom>
        </p:spPr>
        <p:txBody>
          <a:bodyPr anchor="t">
            <a:noAutofit/>
          </a:bodyPr>
          <a:lstStyle>
            <a:lvl1pPr marL="0" indent="0">
              <a:lnSpc>
                <a:spcPct val="100000"/>
              </a:lnSpc>
              <a:buNone/>
              <a:defRPr sz="2000">
                <a:solidFill>
                  <a:schemeClr val="accent1"/>
                </a:solidFill>
              </a:defRPr>
            </a:lvl1pPr>
          </a:lstStyle>
          <a:p>
            <a:pPr lvl="0"/>
            <a:r>
              <a:rPr lang="en-US"/>
              <a:t>Date or Speaker</a:t>
            </a:r>
          </a:p>
        </p:txBody>
      </p:sp>
      <p:cxnSp>
        <p:nvCxnSpPr>
          <p:cNvPr id="11" name="Straight Connector 10">
            <a:extLst>
              <a:ext uri="{FF2B5EF4-FFF2-40B4-BE49-F238E27FC236}">
                <a16:creationId xmlns:a16="http://schemas.microsoft.com/office/drawing/2014/main" id="{3DB9B40C-7A10-9817-6B59-1D955733382A}"/>
              </a:ext>
              <a:ext uri="{C183D7F6-B498-43B3-948B-1728B52AA6E4}">
                <adec:decorative xmlns:adec="http://schemas.microsoft.com/office/drawing/2017/decorative" val="1"/>
              </a:ext>
            </a:extLst>
          </p:cNvPr>
          <p:cNvCxnSpPr>
            <a:cxnSpLocks/>
          </p:cNvCxnSpPr>
          <p:nvPr userDrawn="1"/>
        </p:nvCxnSpPr>
        <p:spPr>
          <a:xfrm flipV="1">
            <a:off x="8105460" y="365126"/>
            <a:ext cx="0" cy="1389532"/>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487831"/>
      </p:ext>
    </p:extLst>
  </p:cSld>
  <p:clrMapOvr>
    <a:masterClrMapping/>
  </p:clrMapOvr>
  <p:extLst>
    <p:ext uri="{DCECCB84-F9BA-43D5-87BE-67443E8EF086}">
      <p15:sldGuideLst xmlns:p15="http://schemas.microsoft.com/office/powerpoint/2012/main">
        <p15:guide id="1" pos="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 Dark">
    <p:bg>
      <p:bgPr>
        <a:solidFill>
          <a:srgbClr val="205493"/>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EE1AF13E-CF84-9B01-61B0-91F318F34DE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16200000">
            <a:off x="3910304" y="-1511033"/>
            <a:ext cx="4371387" cy="12641584"/>
          </a:xfrm>
          <a:prstGeom prst="rect">
            <a:avLst/>
          </a:prstGeom>
        </p:spPr>
      </p:pic>
      <p:pic>
        <p:nvPicPr>
          <p:cNvPr id="41" name="Graphic 40">
            <a:extLst>
              <a:ext uri="{FF2B5EF4-FFF2-40B4-BE49-F238E27FC236}">
                <a16:creationId xmlns:a16="http://schemas.microsoft.com/office/drawing/2014/main" id="{A3C789B0-28C7-E6A4-30FD-E2ACD1B9C0E2}"/>
              </a:ext>
            </a:extLst>
          </p:cNvPr>
          <p:cNvPicPr>
            <a:picLocks/>
          </p:cNvPicPr>
          <p:nvPr userDrawn="1"/>
        </p:nvPicPr>
        <p:blipFill>
          <a:blip>
            <a:extLst>
              <a:ext uri="{96DAC541-7B7A-43D3-8B79-37D633B846F1}">
                <asvg:svgBlip xmlns:asvg="http://schemas.microsoft.com/office/drawing/2016/SVG/main" r:embed="rId3"/>
              </a:ext>
            </a:extLst>
          </a:blip>
          <a:srcRect/>
          <a:stretch/>
        </p:blipFill>
        <p:spPr>
          <a:xfrm>
            <a:off x="0" y="6746581"/>
            <a:ext cx="12192000" cy="109728"/>
          </a:xfrm>
          <a:prstGeom prst="rect">
            <a:avLst/>
          </a:prstGeom>
        </p:spPr>
      </p:pic>
      <p:pic>
        <p:nvPicPr>
          <p:cNvPr id="6" name="Graphic 5">
            <a:extLst>
              <a:ext uri="{FF2B5EF4-FFF2-40B4-BE49-F238E27FC236}">
                <a16:creationId xmlns:a16="http://schemas.microsoft.com/office/drawing/2014/main" id="{35A72BDB-8252-762D-3D7A-7A1C5657566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75933" y="6084465"/>
            <a:ext cx="3433337" cy="408409"/>
          </a:xfrm>
          <a:prstGeom prst="rect">
            <a:avLst/>
          </a:prstGeom>
        </p:spPr>
      </p:pic>
      <p:sp>
        <p:nvSpPr>
          <p:cNvPr id="15" name="Title 1">
            <a:extLst>
              <a:ext uri="{FF2B5EF4-FFF2-40B4-BE49-F238E27FC236}">
                <a16:creationId xmlns:a16="http://schemas.microsoft.com/office/drawing/2014/main" id="{D8F50DCB-327E-AA1F-2CA3-7E975EAE5100}"/>
              </a:ext>
            </a:extLst>
          </p:cNvPr>
          <p:cNvSpPr>
            <a:spLocks noGrp="1"/>
          </p:cNvSpPr>
          <p:nvPr>
            <p:ph type="title" hasCustomPrompt="1"/>
          </p:nvPr>
        </p:nvSpPr>
        <p:spPr>
          <a:xfrm>
            <a:off x="426719" y="365125"/>
            <a:ext cx="7431011" cy="1389533"/>
          </a:xfrm>
        </p:spPr>
        <p:txBody>
          <a:bodyPr anchor="t"/>
          <a:lstStyle>
            <a:lvl1pPr>
              <a:defRPr>
                <a:solidFill>
                  <a:schemeClr val="tx1"/>
                </a:solidFill>
              </a:defRPr>
            </a:lvl1pPr>
          </a:lstStyle>
          <a:p>
            <a:r>
              <a:rPr lang="en-US"/>
              <a:t>Title of Deck or Presentation Goes Here</a:t>
            </a:r>
          </a:p>
        </p:txBody>
      </p:sp>
      <p:sp>
        <p:nvSpPr>
          <p:cNvPr id="16" name="Text Placeholder 5">
            <a:extLst>
              <a:ext uri="{FF2B5EF4-FFF2-40B4-BE49-F238E27FC236}">
                <a16:creationId xmlns:a16="http://schemas.microsoft.com/office/drawing/2014/main" id="{EA344E04-A265-6047-ECA8-4D72F8C3E7F6}"/>
              </a:ext>
            </a:extLst>
          </p:cNvPr>
          <p:cNvSpPr>
            <a:spLocks noGrp="1"/>
          </p:cNvSpPr>
          <p:nvPr>
            <p:ph type="body" sz="quarter" idx="16" hasCustomPrompt="1"/>
          </p:nvPr>
        </p:nvSpPr>
        <p:spPr>
          <a:xfrm>
            <a:off x="8353172" y="365195"/>
            <a:ext cx="3412107" cy="1389463"/>
          </a:xfrm>
          <a:prstGeom prst="rect">
            <a:avLst/>
          </a:prstGeom>
        </p:spPr>
        <p:txBody>
          <a:bodyPr anchor="t">
            <a:noAutofit/>
          </a:bodyPr>
          <a:lstStyle>
            <a:lvl1pPr marL="0" indent="0">
              <a:lnSpc>
                <a:spcPct val="100000"/>
              </a:lnSpc>
              <a:buNone/>
              <a:defRPr sz="2000">
                <a:solidFill>
                  <a:schemeClr val="accent3">
                    <a:lumMod val="60000"/>
                    <a:lumOff val="40000"/>
                  </a:schemeClr>
                </a:solidFill>
              </a:defRPr>
            </a:lvl1pPr>
          </a:lstStyle>
          <a:p>
            <a:pPr lvl="0"/>
            <a:r>
              <a:rPr lang="en-US"/>
              <a:t>Date or Speaker</a:t>
            </a:r>
          </a:p>
        </p:txBody>
      </p:sp>
      <p:cxnSp>
        <p:nvCxnSpPr>
          <p:cNvPr id="17" name="Straight Connector 16">
            <a:extLst>
              <a:ext uri="{FF2B5EF4-FFF2-40B4-BE49-F238E27FC236}">
                <a16:creationId xmlns:a16="http://schemas.microsoft.com/office/drawing/2014/main" id="{6B24DF2C-35CA-035B-4988-17525EC9B84E}"/>
              </a:ext>
              <a:ext uri="{C183D7F6-B498-43B3-948B-1728B52AA6E4}">
                <adec:decorative xmlns:adec="http://schemas.microsoft.com/office/drawing/2017/decorative" val="1"/>
              </a:ext>
            </a:extLst>
          </p:cNvPr>
          <p:cNvCxnSpPr>
            <a:cxnSpLocks/>
          </p:cNvCxnSpPr>
          <p:nvPr userDrawn="1"/>
        </p:nvCxnSpPr>
        <p:spPr>
          <a:xfrm flipV="1">
            <a:off x="8105460" y="365126"/>
            <a:ext cx="0" cy="1389532"/>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195255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ntent - One Column - Light">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p>
            <a:r>
              <a:rPr lang="en-US"/>
              <a:t>Headline</a:t>
            </a:r>
          </a:p>
        </p:txBody>
      </p:sp>
      <p:sp>
        <p:nvSpPr>
          <p:cNvPr id="2" name="Text Placeholder 3">
            <a:extLst>
              <a:ext uri="{FF2B5EF4-FFF2-40B4-BE49-F238E27FC236}">
                <a16:creationId xmlns:a16="http://schemas.microsoft.com/office/drawing/2014/main" id="{D560A234-533D-15AA-9C9D-BB6B3512A373}"/>
              </a:ext>
            </a:extLst>
          </p:cNvPr>
          <p:cNvSpPr>
            <a:spLocks noGrp="1"/>
          </p:cNvSpPr>
          <p:nvPr>
            <p:ph type="body" sz="quarter" idx="11" hasCustomPrompt="1"/>
          </p:nvPr>
        </p:nvSpPr>
        <p:spPr>
          <a:xfrm>
            <a:off x="427038" y="1924050"/>
            <a:ext cx="9144345" cy="3712475"/>
          </a:xfrm>
          <a:prstGeom prst="rect">
            <a:avLst/>
          </a:prstGeom>
        </p:spPr>
        <p:txBody>
          <a:bodyPr lIns="0" tIns="0" rIns="0" bIns="0">
            <a:noAutofit/>
          </a:bodyPr>
          <a:lstStyle>
            <a:lvl1pPr marL="0" indent="0">
              <a:buFont typeface="Arial" panose="020B0604020202020204" pitchFamily="34" charset="0"/>
              <a:buNone/>
              <a:defRPr sz="30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One Column</a:t>
            </a:r>
          </a:p>
        </p:txBody>
      </p:sp>
    </p:spTree>
    <p:extLst>
      <p:ext uri="{BB962C8B-B14F-4D97-AF65-F5344CB8AC3E}">
        <p14:creationId xmlns:p14="http://schemas.microsoft.com/office/powerpoint/2010/main" val="3917805753"/>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ntent - Two Column - Light">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3613F54F-A2F7-F2F6-62E6-62B006D8B096}"/>
              </a:ext>
            </a:extLst>
          </p:cNvPr>
          <p:cNvSpPr>
            <a:spLocks noGrp="1"/>
          </p:cNvSpPr>
          <p:nvPr>
            <p:ph type="body" sz="quarter" idx="10" hasCustomPrompt="1"/>
          </p:nvPr>
        </p:nvSpPr>
        <p:spPr>
          <a:xfrm>
            <a:off x="427038" y="1924050"/>
            <a:ext cx="5348634" cy="3712475"/>
          </a:xfrm>
          <a:prstGeom prst="rect">
            <a:avLst/>
          </a:prstGeom>
        </p:spPr>
        <p:txBody>
          <a:bodyPr/>
          <a:lstStyle>
            <a:lvl1pPr marL="0" indent="0">
              <a:buFont typeface="Arial" panose="020B0604020202020204" pitchFamily="34" charset="0"/>
              <a:buNone/>
              <a:defRPr sz="26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p>
            <a:r>
              <a:rPr lang="en-US"/>
              <a:t>Headline</a:t>
            </a:r>
          </a:p>
        </p:txBody>
      </p:sp>
      <p:sp>
        <p:nvSpPr>
          <p:cNvPr id="11" name="Text Placeholder 3">
            <a:extLst>
              <a:ext uri="{FF2B5EF4-FFF2-40B4-BE49-F238E27FC236}">
                <a16:creationId xmlns:a16="http://schemas.microsoft.com/office/drawing/2014/main" id="{49EB669C-81D5-BB60-4F7F-B94B0A16FEB9}"/>
              </a:ext>
            </a:extLst>
          </p:cNvPr>
          <p:cNvSpPr>
            <a:spLocks noGrp="1"/>
          </p:cNvSpPr>
          <p:nvPr>
            <p:ph type="body" sz="quarter" idx="11" hasCustomPrompt="1"/>
          </p:nvPr>
        </p:nvSpPr>
        <p:spPr>
          <a:xfrm>
            <a:off x="6390517" y="1924050"/>
            <a:ext cx="5348634" cy="3712475"/>
          </a:xfrm>
          <a:prstGeom prst="rect">
            <a:avLst/>
          </a:prstGeom>
        </p:spPr>
        <p:txBody>
          <a:bodyPr/>
          <a:lstStyle>
            <a:lvl1pPr marL="0" indent="0">
              <a:buFont typeface="Arial" panose="020B0604020202020204" pitchFamily="34" charset="0"/>
              <a:buNone/>
              <a:defRPr sz="26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Tree>
    <p:extLst>
      <p:ext uri="{BB962C8B-B14F-4D97-AF65-F5344CB8AC3E}">
        <p14:creationId xmlns:p14="http://schemas.microsoft.com/office/powerpoint/2010/main" val="1874704758"/>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Content - One Column - Dark">
    <p:bg>
      <p:bgPr>
        <a:solidFill>
          <a:schemeClr val="accent5"/>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0"/>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3613F54F-A2F7-F2F6-62E6-62B006D8B096}"/>
              </a:ext>
            </a:extLst>
          </p:cNvPr>
          <p:cNvSpPr>
            <a:spLocks noGrp="1"/>
          </p:cNvSpPr>
          <p:nvPr>
            <p:ph type="body" sz="quarter" idx="10" hasCustomPrompt="1"/>
          </p:nvPr>
        </p:nvSpPr>
        <p:spPr>
          <a:xfrm>
            <a:off x="427038" y="1924050"/>
            <a:ext cx="9144345" cy="3712475"/>
          </a:xfrm>
          <a:prstGeom prst="rect">
            <a:avLst/>
          </a:prstGeom>
        </p:spPr>
        <p:txBody>
          <a:bodyPr/>
          <a:lstStyle>
            <a:lvl1pPr marL="0" indent="0">
              <a:buClr>
                <a:schemeClr val="accent3"/>
              </a:buClr>
              <a:buFont typeface="Arial" panose="020B0604020202020204" pitchFamily="34" charset="0"/>
              <a:buNone/>
              <a:defRPr sz="30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One Column</a:t>
            </a:r>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lvl1pPr>
              <a:defRPr>
                <a:solidFill>
                  <a:schemeClr val="bg1"/>
                </a:solidFill>
              </a:defRPr>
            </a:lvl1pPr>
          </a:lstStyle>
          <a:p>
            <a:r>
              <a:rPr lang="en-US"/>
              <a:t>Headline</a:t>
            </a:r>
          </a:p>
        </p:txBody>
      </p:sp>
    </p:spTree>
    <p:extLst>
      <p:ext uri="{BB962C8B-B14F-4D97-AF65-F5344CB8AC3E}">
        <p14:creationId xmlns:p14="http://schemas.microsoft.com/office/powerpoint/2010/main" val="2528345295"/>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ntent - Two Column - Dark">
    <p:bg>
      <p:bgPr>
        <a:solidFill>
          <a:schemeClr val="accent5"/>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lvl1pPr>
              <a:defRPr>
                <a:solidFill>
                  <a:schemeClr val="bg1"/>
                </a:solidFill>
              </a:defRPr>
            </a:lvl1pPr>
          </a:lstStyle>
          <a:p>
            <a:r>
              <a:rPr lang="en-US"/>
              <a:t>Headline</a:t>
            </a:r>
          </a:p>
        </p:txBody>
      </p:sp>
      <p:sp>
        <p:nvSpPr>
          <p:cNvPr id="17" name="Text Placeholder 3">
            <a:extLst>
              <a:ext uri="{FF2B5EF4-FFF2-40B4-BE49-F238E27FC236}">
                <a16:creationId xmlns:a16="http://schemas.microsoft.com/office/drawing/2014/main" id="{23B09C06-FF86-016C-DA5F-BA1CB7EF9F46}"/>
              </a:ext>
            </a:extLst>
          </p:cNvPr>
          <p:cNvSpPr>
            <a:spLocks noGrp="1"/>
          </p:cNvSpPr>
          <p:nvPr>
            <p:ph type="body" sz="quarter" idx="10" hasCustomPrompt="1"/>
          </p:nvPr>
        </p:nvSpPr>
        <p:spPr>
          <a:xfrm>
            <a:off x="427038" y="1924050"/>
            <a:ext cx="5348634" cy="3712475"/>
          </a:xfrm>
          <a:prstGeom prst="rect">
            <a:avLst/>
          </a:prstGeom>
        </p:spPr>
        <p:txBody>
          <a:bodyPr/>
          <a:lstStyle>
            <a:lvl1pPr marL="0" indent="0">
              <a:buClr>
                <a:schemeClr val="accent3"/>
              </a:buClr>
              <a:buFont typeface="Arial" panose="020B0604020202020204" pitchFamily="34" charset="0"/>
              <a:buNone/>
              <a:defRPr sz="24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
        <p:nvSpPr>
          <p:cNvPr id="19" name="Text Placeholder 3">
            <a:extLst>
              <a:ext uri="{FF2B5EF4-FFF2-40B4-BE49-F238E27FC236}">
                <a16:creationId xmlns:a16="http://schemas.microsoft.com/office/drawing/2014/main" id="{AFA4C56E-9AA0-CC5A-564F-E319DA0B0A90}"/>
              </a:ext>
            </a:extLst>
          </p:cNvPr>
          <p:cNvSpPr>
            <a:spLocks noGrp="1"/>
          </p:cNvSpPr>
          <p:nvPr>
            <p:ph type="body" sz="quarter" idx="11" hasCustomPrompt="1"/>
          </p:nvPr>
        </p:nvSpPr>
        <p:spPr>
          <a:xfrm>
            <a:off x="6390517" y="1924050"/>
            <a:ext cx="5348634" cy="3712475"/>
          </a:xfrm>
          <a:prstGeom prst="rect">
            <a:avLst/>
          </a:prstGeom>
        </p:spPr>
        <p:txBody>
          <a:bodyPr/>
          <a:lstStyle>
            <a:lvl1pPr marL="0" indent="0">
              <a:buClr>
                <a:schemeClr val="accent3"/>
              </a:buClr>
              <a:buFont typeface="Arial" panose="020B0604020202020204" pitchFamily="34" charset="0"/>
              <a:buNone/>
              <a:defRPr sz="24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pic>
        <p:nvPicPr>
          <p:cNvPr id="20" name="Graphic 19" descr="NCBI Logo (NIH National Library of Medicine National Center for Biotechnology information Logo)">
            <a:extLst>
              <a:ext uri="{FF2B5EF4-FFF2-40B4-BE49-F238E27FC236}">
                <a16:creationId xmlns:a16="http://schemas.microsoft.com/office/drawing/2014/main" id="{01CD569F-E79E-AD8C-2A53-154024EBD9F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0"/>
          </a:xfrm>
          <a:prstGeom prst="rect">
            <a:avLst/>
          </a:prstGeom>
        </p:spPr>
      </p:pic>
      <p:pic>
        <p:nvPicPr>
          <p:cNvPr id="21" name="Graphic 20">
            <a:extLst>
              <a:ext uri="{FF2B5EF4-FFF2-40B4-BE49-F238E27FC236}">
                <a16:creationId xmlns:a16="http://schemas.microsoft.com/office/drawing/2014/main" id="{798A832D-81DC-9A3B-CCB9-B10AC507A19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22" name="Straight Connector 21">
            <a:extLst>
              <a:ext uri="{FF2B5EF4-FFF2-40B4-BE49-F238E27FC236}">
                <a16:creationId xmlns:a16="http://schemas.microsoft.com/office/drawing/2014/main" id="{5C91C8E7-B319-3185-6F93-8CEBB0BBC09D}"/>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0301561"/>
      </p:ext>
    </p:extLst>
  </p:cSld>
  <p:clrMapOvr>
    <a:masterClrMapping/>
  </p:clrMapOvr>
  <p:extLst>
    <p:ext uri="{DCECCB84-F9BA-43D5-87BE-67443E8EF086}">
      <p15:sldGuideLst xmlns:p15="http://schemas.microsoft.com/office/powerpoint/2012/main">
        <p15:guide id="1" orient="horz" pos="216" userDrawn="1">
          <p15:clr>
            <a:srgbClr val="FBAE40"/>
          </p15:clr>
        </p15:guide>
        <p15:guide id="2" pos="264" userDrawn="1">
          <p15:clr>
            <a:srgbClr val="FBAE40"/>
          </p15:clr>
        </p15:guide>
        <p15:guide id="3" orient="horz" pos="3696" userDrawn="1">
          <p15:clr>
            <a:srgbClr val="FBAE40"/>
          </p15:clr>
        </p15:guide>
        <p15:guide id="4" pos="6936" userDrawn="1">
          <p15:clr>
            <a:srgbClr val="FBAE40"/>
          </p15:clr>
        </p15:guide>
        <p15:guide id="5" pos="739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reak Slide">
    <p:bg>
      <p:bgPr>
        <a:solidFill>
          <a:schemeClr val="accent2">
            <a:lumMod val="40000"/>
            <a:lumOff val="60000"/>
          </a:schemeClr>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0A49955-8888-A5BB-538C-72E2E7947C9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16200000">
            <a:off x="3911069" y="-1429026"/>
            <a:ext cx="4371387" cy="12641578"/>
          </a:xfrm>
          <a:prstGeom prst="rect">
            <a:avLst/>
          </a:prstGeom>
        </p:spPr>
      </p:pic>
      <p:sp>
        <p:nvSpPr>
          <p:cNvPr id="12" name="Title 1">
            <a:extLst>
              <a:ext uri="{FF2B5EF4-FFF2-40B4-BE49-F238E27FC236}">
                <a16:creationId xmlns:a16="http://schemas.microsoft.com/office/drawing/2014/main" id="{759966C1-7063-9414-2DAD-CC52B1A8D7E8}"/>
              </a:ext>
            </a:extLst>
          </p:cNvPr>
          <p:cNvSpPr>
            <a:spLocks noGrp="1"/>
          </p:cNvSpPr>
          <p:nvPr>
            <p:ph type="title" hasCustomPrompt="1"/>
          </p:nvPr>
        </p:nvSpPr>
        <p:spPr>
          <a:xfrm>
            <a:off x="426720" y="365125"/>
            <a:ext cx="10515600" cy="1325563"/>
          </a:xfrm>
        </p:spPr>
        <p:txBody>
          <a:bodyPr anchor="t"/>
          <a:lstStyle/>
          <a:p>
            <a:r>
              <a:rPr lang="en-US"/>
              <a:t>Break Slide Title</a:t>
            </a:r>
          </a:p>
        </p:txBody>
      </p:sp>
    </p:spTree>
    <p:extLst>
      <p:ext uri="{BB962C8B-B14F-4D97-AF65-F5344CB8AC3E}">
        <p14:creationId xmlns:p14="http://schemas.microsoft.com/office/powerpoint/2010/main" val="3400487676"/>
      </p:ext>
    </p:extLst>
  </p:cSld>
  <p:clrMapOvr>
    <a:masterClrMapping/>
  </p:clrMapOvr>
  <p:extLst>
    <p:ext uri="{DCECCB84-F9BA-43D5-87BE-67443E8EF086}">
      <p15:sldGuideLst xmlns:p15="http://schemas.microsoft.com/office/powerpoint/2012/main">
        <p15:guide id="1" pos="28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Content - Two Column - Dark">
    <p:bg>
      <p:bgPr>
        <a:solidFill>
          <a:schemeClr val="accent5"/>
        </a:solidFill>
        <a:effectLst/>
      </p:bgPr>
    </p:bg>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A3233956-5BB5-F1FF-6027-5EE904958676}"/>
              </a:ext>
            </a:extLst>
          </p:cNvPr>
          <p:cNvSpPr>
            <a:spLocks noGrp="1"/>
          </p:cNvSpPr>
          <p:nvPr>
            <p:ph type="body" sz="quarter" idx="10" hasCustomPrompt="1"/>
          </p:nvPr>
        </p:nvSpPr>
        <p:spPr>
          <a:xfrm>
            <a:off x="7478199" y="442709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39" name="Picture Placeholder 38">
            <a:extLst>
              <a:ext uri="{FF2B5EF4-FFF2-40B4-BE49-F238E27FC236}">
                <a16:creationId xmlns:a16="http://schemas.microsoft.com/office/drawing/2014/main" id="{56124F57-707B-ABCC-315E-A81C2315137A}"/>
              </a:ext>
            </a:extLst>
          </p:cNvPr>
          <p:cNvSpPr>
            <a:spLocks noGrp="1"/>
          </p:cNvSpPr>
          <p:nvPr>
            <p:ph type="pic" sz="quarter" idx="11" hasCustomPrompt="1"/>
          </p:nvPr>
        </p:nvSpPr>
        <p:spPr>
          <a:xfrm>
            <a:off x="7492450" y="1075781"/>
            <a:ext cx="3141376" cy="3141376"/>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15" name="Text Placeholder 3">
            <a:extLst>
              <a:ext uri="{FF2B5EF4-FFF2-40B4-BE49-F238E27FC236}">
                <a16:creationId xmlns:a16="http://schemas.microsoft.com/office/drawing/2014/main" id="{0E287621-561F-D068-D1A6-C1BAD35B4A79}"/>
              </a:ext>
            </a:extLst>
          </p:cNvPr>
          <p:cNvSpPr>
            <a:spLocks noGrp="1"/>
          </p:cNvSpPr>
          <p:nvPr>
            <p:ph type="body" sz="quarter" idx="12" hasCustomPrompt="1"/>
          </p:nvPr>
        </p:nvSpPr>
        <p:spPr>
          <a:xfrm>
            <a:off x="7478199" y="494164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8377" y="1693274"/>
            <a:ext cx="4604799" cy="3052860"/>
          </a:xfrm>
        </p:spPr>
        <p:txBody>
          <a:bodyPr anchor="ctr"/>
          <a:lstStyle>
            <a:lvl1pPr>
              <a:defRPr>
                <a:solidFill>
                  <a:schemeClr val="bg1"/>
                </a:solidFill>
              </a:defRPr>
            </a:lvl1pPr>
          </a:lstStyle>
          <a:p>
            <a:r>
              <a:rPr lang="en-US"/>
              <a:t>Section Title for Single Speaker</a:t>
            </a:r>
          </a:p>
        </p:txBody>
      </p:sp>
      <p:cxnSp>
        <p:nvCxnSpPr>
          <p:cNvPr id="5" name="Straight Connector 4">
            <a:extLst>
              <a:ext uri="{FF2B5EF4-FFF2-40B4-BE49-F238E27FC236}">
                <a16:creationId xmlns:a16="http://schemas.microsoft.com/office/drawing/2014/main" id="{9A83F0ED-62F8-7C70-8C36-98A0F9757DFB}"/>
              </a:ext>
              <a:ext uri="{C183D7F6-B498-43B3-948B-1728B52AA6E4}">
                <adec:decorative xmlns:adec="http://schemas.microsoft.com/office/drawing/2017/decorative" val="1"/>
              </a:ext>
            </a:extLst>
          </p:cNvPr>
          <p:cNvCxnSpPr>
            <a:cxnSpLocks/>
          </p:cNvCxnSpPr>
          <p:nvPr userDrawn="1"/>
        </p:nvCxnSpPr>
        <p:spPr>
          <a:xfrm flipV="1">
            <a:off x="6063531" y="1168842"/>
            <a:ext cx="0" cy="4261899"/>
          </a:xfrm>
          <a:prstGeom prst="line">
            <a:avLst/>
          </a:prstGeom>
          <a:ln w="12700">
            <a:solidFill>
              <a:srgbClr val="00A6D2"/>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9ED2706D-CCF2-D1CE-C7F1-F708D78C5098}"/>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spTree>
    <p:extLst>
      <p:ext uri="{BB962C8B-B14F-4D97-AF65-F5344CB8AC3E}">
        <p14:creationId xmlns:p14="http://schemas.microsoft.com/office/powerpoint/2010/main" val="1304215997"/>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Content - Two Column - Dark">
    <p:bg>
      <p:bgPr>
        <a:solidFill>
          <a:schemeClr val="accent5"/>
        </a:solidFill>
        <a:effectLst/>
      </p:bgPr>
    </p:bg>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A3233956-5BB5-F1FF-6027-5EE904958676}"/>
              </a:ext>
            </a:extLst>
          </p:cNvPr>
          <p:cNvSpPr>
            <a:spLocks noGrp="1"/>
          </p:cNvSpPr>
          <p:nvPr>
            <p:ph type="body" sz="quarter" idx="10" hasCustomPrompt="1"/>
          </p:nvPr>
        </p:nvSpPr>
        <p:spPr>
          <a:xfrm>
            <a:off x="5307821" y="411461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39" name="Picture Placeholder 38">
            <a:extLst>
              <a:ext uri="{FF2B5EF4-FFF2-40B4-BE49-F238E27FC236}">
                <a16:creationId xmlns:a16="http://schemas.microsoft.com/office/drawing/2014/main" id="{56124F57-707B-ABCC-315E-A81C2315137A}"/>
              </a:ext>
            </a:extLst>
          </p:cNvPr>
          <p:cNvSpPr>
            <a:spLocks noGrp="1"/>
          </p:cNvSpPr>
          <p:nvPr>
            <p:ph type="pic" sz="quarter" idx="11" hasCustomPrompt="1"/>
          </p:nvPr>
        </p:nvSpPr>
        <p:spPr>
          <a:xfrm>
            <a:off x="5846895" y="1703175"/>
            <a:ext cx="2091774" cy="2091774"/>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15" name="Text Placeholder 3">
            <a:extLst>
              <a:ext uri="{FF2B5EF4-FFF2-40B4-BE49-F238E27FC236}">
                <a16:creationId xmlns:a16="http://schemas.microsoft.com/office/drawing/2014/main" id="{0E287621-561F-D068-D1A6-C1BAD35B4A79}"/>
              </a:ext>
            </a:extLst>
          </p:cNvPr>
          <p:cNvSpPr>
            <a:spLocks noGrp="1"/>
          </p:cNvSpPr>
          <p:nvPr>
            <p:ph type="body" sz="quarter" idx="12" hasCustomPrompt="1"/>
          </p:nvPr>
        </p:nvSpPr>
        <p:spPr>
          <a:xfrm>
            <a:off x="5307821" y="462916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96628" y="1693274"/>
            <a:ext cx="4217504" cy="3052860"/>
          </a:xfrm>
        </p:spPr>
        <p:txBody>
          <a:bodyPr anchor="ctr"/>
          <a:lstStyle>
            <a:lvl1pPr>
              <a:defRPr>
                <a:solidFill>
                  <a:schemeClr val="bg1"/>
                </a:solidFill>
              </a:defRPr>
            </a:lvl1pPr>
          </a:lstStyle>
          <a:p>
            <a:r>
              <a:rPr lang="en-US"/>
              <a:t>Section Title for Two Speakers</a:t>
            </a:r>
          </a:p>
        </p:txBody>
      </p:sp>
      <p:cxnSp>
        <p:nvCxnSpPr>
          <p:cNvPr id="5" name="Straight Connector 4">
            <a:extLst>
              <a:ext uri="{FF2B5EF4-FFF2-40B4-BE49-F238E27FC236}">
                <a16:creationId xmlns:a16="http://schemas.microsoft.com/office/drawing/2014/main" id="{9A83F0ED-62F8-7C70-8C36-98A0F9757DFB}"/>
              </a:ext>
              <a:ext uri="{C183D7F6-B498-43B3-948B-1728B52AA6E4}">
                <adec:decorative xmlns:adec="http://schemas.microsoft.com/office/drawing/2017/decorative" val="1"/>
              </a:ext>
            </a:extLst>
          </p:cNvPr>
          <p:cNvCxnSpPr>
            <a:cxnSpLocks/>
          </p:cNvCxnSpPr>
          <p:nvPr userDrawn="1"/>
        </p:nvCxnSpPr>
        <p:spPr>
          <a:xfrm flipV="1">
            <a:off x="5010976" y="1168842"/>
            <a:ext cx="0" cy="4261899"/>
          </a:xfrm>
          <a:prstGeom prst="line">
            <a:avLst/>
          </a:prstGeom>
          <a:ln w="12700">
            <a:solidFill>
              <a:srgbClr val="00A6D2"/>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9ED2706D-CCF2-D1CE-C7F1-F708D78C5098}"/>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sp>
        <p:nvSpPr>
          <p:cNvPr id="43" name="Text Placeholder 3">
            <a:extLst>
              <a:ext uri="{FF2B5EF4-FFF2-40B4-BE49-F238E27FC236}">
                <a16:creationId xmlns:a16="http://schemas.microsoft.com/office/drawing/2014/main" id="{36FF6C8F-0D57-7187-7A87-DC67726A180B}"/>
              </a:ext>
            </a:extLst>
          </p:cNvPr>
          <p:cNvSpPr>
            <a:spLocks noGrp="1"/>
          </p:cNvSpPr>
          <p:nvPr>
            <p:ph type="body" sz="quarter" idx="13" hasCustomPrompt="1"/>
          </p:nvPr>
        </p:nvSpPr>
        <p:spPr>
          <a:xfrm>
            <a:off x="8647369" y="411461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44" name="Picture Placeholder 43">
            <a:extLst>
              <a:ext uri="{FF2B5EF4-FFF2-40B4-BE49-F238E27FC236}">
                <a16:creationId xmlns:a16="http://schemas.microsoft.com/office/drawing/2014/main" id="{D0A16C9A-427D-3AF9-BDCB-DFC85A9F8E1F}"/>
              </a:ext>
            </a:extLst>
          </p:cNvPr>
          <p:cNvSpPr>
            <a:spLocks noGrp="1"/>
          </p:cNvSpPr>
          <p:nvPr>
            <p:ph type="pic" sz="quarter" idx="14" hasCustomPrompt="1"/>
          </p:nvPr>
        </p:nvSpPr>
        <p:spPr>
          <a:xfrm>
            <a:off x="9186443" y="1703175"/>
            <a:ext cx="2091774" cy="2091774"/>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45" name="Text Placeholder 3">
            <a:extLst>
              <a:ext uri="{FF2B5EF4-FFF2-40B4-BE49-F238E27FC236}">
                <a16:creationId xmlns:a16="http://schemas.microsoft.com/office/drawing/2014/main" id="{0A424ECA-115F-E23D-270D-9B961F2153D7}"/>
              </a:ext>
            </a:extLst>
          </p:cNvPr>
          <p:cNvSpPr>
            <a:spLocks noGrp="1"/>
          </p:cNvSpPr>
          <p:nvPr>
            <p:ph type="body" sz="quarter" idx="15" hasCustomPrompt="1"/>
          </p:nvPr>
        </p:nvSpPr>
        <p:spPr>
          <a:xfrm>
            <a:off x="8647369" y="462916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Tree>
    <p:extLst>
      <p:ext uri="{BB962C8B-B14F-4D97-AF65-F5344CB8AC3E}">
        <p14:creationId xmlns:p14="http://schemas.microsoft.com/office/powerpoint/2010/main" val="2333582684"/>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Acknowledgements - light">
    <p:spTree>
      <p:nvGrpSpPr>
        <p:cNvPr id="1" name=""/>
        <p:cNvGrpSpPr/>
        <p:nvPr/>
      </p:nvGrpSpPr>
      <p:grpSpPr>
        <a:xfrm>
          <a:off x="0" y="0"/>
          <a:ext cx="0" cy="0"/>
          <a:chOff x="0" y="0"/>
          <a:chExt cx="0" cy="0"/>
        </a:xfrm>
      </p:grpSpPr>
      <p:sp>
        <p:nvSpPr>
          <p:cNvPr id="8" name="Text Placeholder 7"/>
          <p:cNvSpPr>
            <a:spLocks noGrp="1"/>
          </p:cNvSpPr>
          <p:nvPr>
            <p:ph type="body" sz="quarter" idx="11" hasCustomPrompt="1"/>
          </p:nvPr>
        </p:nvSpPr>
        <p:spPr>
          <a:xfrm>
            <a:off x="426722" y="2004851"/>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7" name="Text Placeholder 7">
            <a:extLst>
              <a:ext uri="{FF2B5EF4-FFF2-40B4-BE49-F238E27FC236}">
                <a16:creationId xmlns:a16="http://schemas.microsoft.com/office/drawing/2014/main" id="{3EA5A18F-B4F6-7A58-7B8A-0DF3AED3E4A4}"/>
              </a:ext>
            </a:extLst>
          </p:cNvPr>
          <p:cNvSpPr>
            <a:spLocks noGrp="1"/>
          </p:cNvSpPr>
          <p:nvPr>
            <p:ph type="body" sz="quarter" idx="17" hasCustomPrompt="1"/>
          </p:nvPr>
        </p:nvSpPr>
        <p:spPr>
          <a:xfrm>
            <a:off x="3312172" y="2004852"/>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9" name="Text Placeholder 7">
            <a:extLst>
              <a:ext uri="{FF2B5EF4-FFF2-40B4-BE49-F238E27FC236}">
                <a16:creationId xmlns:a16="http://schemas.microsoft.com/office/drawing/2014/main" id="{004A4F03-377D-EA31-A279-79CA405A975C}"/>
              </a:ext>
            </a:extLst>
          </p:cNvPr>
          <p:cNvSpPr>
            <a:spLocks noGrp="1"/>
          </p:cNvSpPr>
          <p:nvPr>
            <p:ph type="body" sz="quarter" idx="18" hasCustomPrompt="1"/>
          </p:nvPr>
        </p:nvSpPr>
        <p:spPr>
          <a:xfrm>
            <a:off x="6197622" y="2004852"/>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10" name="Text Placeholder 7">
            <a:extLst>
              <a:ext uri="{FF2B5EF4-FFF2-40B4-BE49-F238E27FC236}">
                <a16:creationId xmlns:a16="http://schemas.microsoft.com/office/drawing/2014/main" id="{EB0E9297-CD85-8E60-84ED-BCE1E1F3F3E2}"/>
              </a:ext>
            </a:extLst>
          </p:cNvPr>
          <p:cNvSpPr>
            <a:spLocks noGrp="1"/>
          </p:cNvSpPr>
          <p:nvPr>
            <p:ph type="body" sz="quarter" idx="19" hasCustomPrompt="1"/>
          </p:nvPr>
        </p:nvSpPr>
        <p:spPr>
          <a:xfrm>
            <a:off x="9083071" y="2004851"/>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15" name="Title 1">
            <a:extLst>
              <a:ext uri="{FF2B5EF4-FFF2-40B4-BE49-F238E27FC236}">
                <a16:creationId xmlns:a16="http://schemas.microsoft.com/office/drawing/2014/main" id="{50855269-269E-C365-8FFF-68BD62FC2A1B}"/>
              </a:ext>
            </a:extLst>
          </p:cNvPr>
          <p:cNvSpPr>
            <a:spLocks noGrp="1"/>
          </p:cNvSpPr>
          <p:nvPr>
            <p:ph type="title" hasCustomPrompt="1"/>
          </p:nvPr>
        </p:nvSpPr>
        <p:spPr>
          <a:xfrm>
            <a:off x="426720" y="365126"/>
            <a:ext cx="5513710" cy="1017108"/>
          </a:xfrm>
        </p:spPr>
        <p:txBody>
          <a:bodyPr anchor="t"/>
          <a:lstStyle>
            <a:lvl1pPr>
              <a:defRPr>
                <a:solidFill>
                  <a:schemeClr val="accent5"/>
                </a:solidFill>
              </a:defRPr>
            </a:lvl1pPr>
          </a:lstStyle>
          <a:p>
            <a:r>
              <a:rPr lang="en-US"/>
              <a:t>Headline</a:t>
            </a:r>
          </a:p>
        </p:txBody>
      </p:sp>
      <p:pic>
        <p:nvPicPr>
          <p:cNvPr id="17" name="Graphic 16" descr="NCBI Logo (NIH National Library of Medicine National Center for Biotechnology information Logo)">
            <a:extLst>
              <a:ext uri="{FF2B5EF4-FFF2-40B4-BE49-F238E27FC236}">
                <a16:creationId xmlns:a16="http://schemas.microsoft.com/office/drawing/2014/main" id="{BD8255F4-9318-F636-EE6B-6F66FD1E0C8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18" name="Graphic 17">
            <a:extLst>
              <a:ext uri="{FF2B5EF4-FFF2-40B4-BE49-F238E27FC236}">
                <a16:creationId xmlns:a16="http://schemas.microsoft.com/office/drawing/2014/main" id="{1CE75B8A-B9AF-56D4-C647-F34BB09803EE}"/>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19" name="Straight Connector 18">
            <a:extLst>
              <a:ext uri="{FF2B5EF4-FFF2-40B4-BE49-F238E27FC236}">
                <a16:creationId xmlns:a16="http://schemas.microsoft.com/office/drawing/2014/main" id="{16715067-F616-7D4C-3384-B3D5C0A2132E}"/>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20" name="Text Placeholder 5">
            <a:extLst>
              <a:ext uri="{FF2B5EF4-FFF2-40B4-BE49-F238E27FC236}">
                <a16:creationId xmlns:a16="http://schemas.microsoft.com/office/drawing/2014/main" id="{9B569A67-58CE-931A-17BF-9F3646A4C2DF}"/>
              </a:ext>
            </a:extLst>
          </p:cNvPr>
          <p:cNvSpPr>
            <a:spLocks noGrp="1"/>
          </p:cNvSpPr>
          <p:nvPr>
            <p:ph type="body" sz="quarter" idx="16" hasCustomPrompt="1"/>
          </p:nvPr>
        </p:nvSpPr>
        <p:spPr>
          <a:xfrm>
            <a:off x="6283376" y="365195"/>
            <a:ext cx="5481903" cy="1017039"/>
          </a:xfrm>
          <a:prstGeom prst="rect">
            <a:avLst/>
          </a:prstGeom>
        </p:spPr>
        <p:txBody>
          <a:bodyPr anchor="ctr">
            <a:noAutofit/>
          </a:bodyPr>
          <a:lstStyle>
            <a:lvl1pPr marL="0" indent="0">
              <a:lnSpc>
                <a:spcPct val="100000"/>
              </a:lnSpc>
              <a:buNone/>
              <a:defRPr sz="2000">
                <a:solidFill>
                  <a:schemeClr val="accent1"/>
                </a:solidFill>
              </a:defRPr>
            </a:lvl1pPr>
          </a:lstStyle>
          <a:p>
            <a:pPr lvl="0"/>
            <a:r>
              <a:rPr lang="en-US"/>
              <a:t>This research was supported by the Intramural Research Program of the NIH, National Library of Medicine.</a:t>
            </a:r>
          </a:p>
        </p:txBody>
      </p:sp>
      <p:pic>
        <p:nvPicPr>
          <p:cNvPr id="2" name="Graphic 1">
            <a:extLst>
              <a:ext uri="{FF2B5EF4-FFF2-40B4-BE49-F238E27FC236}">
                <a16:creationId xmlns:a16="http://schemas.microsoft.com/office/drawing/2014/main" id="{4B1D9A10-CD33-63B9-08C9-0837536A5429}"/>
              </a:ext>
            </a:extLst>
          </p:cNvPr>
          <p:cNvPicPr>
            <a:picLocks/>
          </p:cNvPicPr>
          <p:nvPr userDrawn="1"/>
        </p:nvPicPr>
        <p:blipFill>
          <a:blip>
            <a:extLst>
              <a:ext uri="{96DAC541-7B7A-43D3-8B79-37D633B846F1}">
                <asvg:svgBlip xmlns:asvg="http://schemas.microsoft.com/office/drawing/2016/SVG/main" r:embed="rId4"/>
              </a:ext>
            </a:extLst>
          </a:blip>
          <a:srcRect/>
          <a:stretch/>
        </p:blipFill>
        <p:spPr>
          <a:xfrm>
            <a:off x="0" y="6746581"/>
            <a:ext cx="12192000" cy="109728"/>
          </a:xfrm>
          <a:prstGeom prst="rect">
            <a:avLst/>
          </a:prstGeom>
        </p:spPr>
      </p:pic>
      <p:cxnSp>
        <p:nvCxnSpPr>
          <p:cNvPr id="4" name="Straight Connector 3">
            <a:extLst>
              <a:ext uri="{FF2B5EF4-FFF2-40B4-BE49-F238E27FC236}">
                <a16:creationId xmlns:a16="http://schemas.microsoft.com/office/drawing/2014/main" id="{29C8390E-78B4-C871-D0B5-8CC48CB63FC7}"/>
              </a:ext>
              <a:ext uri="{C183D7F6-B498-43B3-948B-1728B52AA6E4}">
                <adec:decorative xmlns:adec="http://schemas.microsoft.com/office/drawing/2017/decorative" val="1"/>
              </a:ext>
            </a:extLst>
          </p:cNvPr>
          <p:cNvCxnSpPr>
            <a:cxnSpLocks/>
          </p:cNvCxnSpPr>
          <p:nvPr userDrawn="1"/>
        </p:nvCxnSpPr>
        <p:spPr>
          <a:xfrm flipH="1">
            <a:off x="426720"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C7637F4-2CD1-BD22-4254-469373E33709}"/>
              </a:ext>
              <a:ext uri="{C183D7F6-B498-43B3-948B-1728B52AA6E4}">
                <adec:decorative xmlns:adec="http://schemas.microsoft.com/office/drawing/2017/decorative" val="1"/>
              </a:ext>
            </a:extLst>
          </p:cNvPr>
          <p:cNvCxnSpPr>
            <a:cxnSpLocks/>
          </p:cNvCxnSpPr>
          <p:nvPr userDrawn="1"/>
        </p:nvCxnSpPr>
        <p:spPr>
          <a:xfrm flipH="1">
            <a:off x="3295816"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F8A5649-581E-CE2A-5A77-129D2C29A297}"/>
              </a:ext>
              <a:ext uri="{C183D7F6-B498-43B3-948B-1728B52AA6E4}">
                <adec:decorative xmlns:adec="http://schemas.microsoft.com/office/drawing/2017/decorative" val="1"/>
              </a:ext>
            </a:extLst>
          </p:cNvPr>
          <p:cNvCxnSpPr>
            <a:cxnSpLocks/>
          </p:cNvCxnSpPr>
          <p:nvPr userDrawn="1"/>
        </p:nvCxnSpPr>
        <p:spPr>
          <a:xfrm flipH="1">
            <a:off x="6184790"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B67580C-B3D5-84C1-1B7F-7FA4C025E4E8}"/>
              </a:ext>
              <a:ext uri="{C183D7F6-B498-43B3-948B-1728B52AA6E4}">
                <adec:decorative xmlns:adec="http://schemas.microsoft.com/office/drawing/2017/decorative" val="1"/>
              </a:ext>
            </a:extLst>
          </p:cNvPr>
          <p:cNvCxnSpPr>
            <a:cxnSpLocks/>
          </p:cNvCxnSpPr>
          <p:nvPr userDrawn="1"/>
        </p:nvCxnSpPr>
        <p:spPr>
          <a:xfrm flipH="1">
            <a:off x="9067138"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C0E7C7F-964F-996B-DDD4-3221E6042858}"/>
              </a:ext>
              <a:ext uri="{C183D7F6-B498-43B3-948B-1728B52AA6E4}">
                <adec:decorative xmlns:adec="http://schemas.microsoft.com/office/drawing/2017/decorative" val="1"/>
              </a:ext>
            </a:extLst>
          </p:cNvPr>
          <p:cNvCxnSpPr>
            <a:cxnSpLocks/>
          </p:cNvCxnSpPr>
          <p:nvPr userDrawn="1"/>
        </p:nvCxnSpPr>
        <p:spPr>
          <a:xfrm flipV="1">
            <a:off x="6111903" y="365126"/>
            <a:ext cx="0" cy="1017108"/>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7">
            <a:extLst>
              <a:ext uri="{FF2B5EF4-FFF2-40B4-BE49-F238E27FC236}">
                <a16:creationId xmlns:a16="http://schemas.microsoft.com/office/drawing/2014/main" id="{FDC96597-7132-F127-BF5F-E7359E1641DB}"/>
              </a:ext>
            </a:extLst>
          </p:cNvPr>
          <p:cNvSpPr>
            <a:spLocks noGrp="1"/>
          </p:cNvSpPr>
          <p:nvPr>
            <p:ph type="body" sz="quarter" idx="20" hasCustomPrompt="1"/>
          </p:nvPr>
        </p:nvSpPr>
        <p:spPr>
          <a:xfrm>
            <a:off x="426722" y="2501808"/>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28" name="Text Placeholder 7">
            <a:extLst>
              <a:ext uri="{FF2B5EF4-FFF2-40B4-BE49-F238E27FC236}">
                <a16:creationId xmlns:a16="http://schemas.microsoft.com/office/drawing/2014/main" id="{848EB98F-E93D-70C7-01CC-B1FA54A4EEE5}"/>
              </a:ext>
            </a:extLst>
          </p:cNvPr>
          <p:cNvSpPr>
            <a:spLocks noGrp="1"/>
          </p:cNvSpPr>
          <p:nvPr>
            <p:ph type="body" sz="quarter" idx="21" hasCustomPrompt="1"/>
          </p:nvPr>
        </p:nvSpPr>
        <p:spPr>
          <a:xfrm>
            <a:off x="3312172" y="2501809"/>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29" name="Text Placeholder 7">
            <a:extLst>
              <a:ext uri="{FF2B5EF4-FFF2-40B4-BE49-F238E27FC236}">
                <a16:creationId xmlns:a16="http://schemas.microsoft.com/office/drawing/2014/main" id="{9C6D97E6-9ECF-10B0-B326-FB1CECD0575C}"/>
              </a:ext>
            </a:extLst>
          </p:cNvPr>
          <p:cNvSpPr>
            <a:spLocks noGrp="1"/>
          </p:cNvSpPr>
          <p:nvPr>
            <p:ph type="body" sz="quarter" idx="22" hasCustomPrompt="1"/>
          </p:nvPr>
        </p:nvSpPr>
        <p:spPr>
          <a:xfrm>
            <a:off x="6197622" y="2501809"/>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0" name="Text Placeholder 7">
            <a:extLst>
              <a:ext uri="{FF2B5EF4-FFF2-40B4-BE49-F238E27FC236}">
                <a16:creationId xmlns:a16="http://schemas.microsoft.com/office/drawing/2014/main" id="{9966DFA8-18B2-5C07-FBA1-4B9DA840BA1A}"/>
              </a:ext>
            </a:extLst>
          </p:cNvPr>
          <p:cNvSpPr>
            <a:spLocks noGrp="1"/>
          </p:cNvSpPr>
          <p:nvPr>
            <p:ph type="body" sz="quarter" idx="23" hasCustomPrompt="1"/>
          </p:nvPr>
        </p:nvSpPr>
        <p:spPr>
          <a:xfrm>
            <a:off x="9083071" y="2501808"/>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1" name="Text Placeholder 7">
            <a:extLst>
              <a:ext uri="{FF2B5EF4-FFF2-40B4-BE49-F238E27FC236}">
                <a16:creationId xmlns:a16="http://schemas.microsoft.com/office/drawing/2014/main" id="{8B697692-05D4-3420-9B34-A31E80016BAF}"/>
              </a:ext>
            </a:extLst>
          </p:cNvPr>
          <p:cNvSpPr>
            <a:spLocks noGrp="1"/>
          </p:cNvSpPr>
          <p:nvPr>
            <p:ph type="body" sz="quarter" idx="24" hasCustomPrompt="1"/>
          </p:nvPr>
        </p:nvSpPr>
        <p:spPr>
          <a:xfrm>
            <a:off x="426722" y="2998764"/>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2" name="Text Placeholder 7">
            <a:extLst>
              <a:ext uri="{FF2B5EF4-FFF2-40B4-BE49-F238E27FC236}">
                <a16:creationId xmlns:a16="http://schemas.microsoft.com/office/drawing/2014/main" id="{6A8FF00C-C95C-27DD-C658-7C3A864B0D87}"/>
              </a:ext>
            </a:extLst>
          </p:cNvPr>
          <p:cNvSpPr>
            <a:spLocks noGrp="1"/>
          </p:cNvSpPr>
          <p:nvPr>
            <p:ph type="body" sz="quarter" idx="25" hasCustomPrompt="1"/>
          </p:nvPr>
        </p:nvSpPr>
        <p:spPr>
          <a:xfrm>
            <a:off x="3312172" y="2998765"/>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3" name="Text Placeholder 7">
            <a:extLst>
              <a:ext uri="{FF2B5EF4-FFF2-40B4-BE49-F238E27FC236}">
                <a16:creationId xmlns:a16="http://schemas.microsoft.com/office/drawing/2014/main" id="{3678510A-0452-22FE-841A-228DA0883BCF}"/>
              </a:ext>
            </a:extLst>
          </p:cNvPr>
          <p:cNvSpPr>
            <a:spLocks noGrp="1"/>
          </p:cNvSpPr>
          <p:nvPr>
            <p:ph type="body" sz="quarter" idx="26" hasCustomPrompt="1"/>
          </p:nvPr>
        </p:nvSpPr>
        <p:spPr>
          <a:xfrm>
            <a:off x="6197622" y="2998765"/>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4" name="Text Placeholder 7">
            <a:extLst>
              <a:ext uri="{FF2B5EF4-FFF2-40B4-BE49-F238E27FC236}">
                <a16:creationId xmlns:a16="http://schemas.microsoft.com/office/drawing/2014/main" id="{1D8B2479-BCD0-D03E-F66F-004D1793FFAF}"/>
              </a:ext>
            </a:extLst>
          </p:cNvPr>
          <p:cNvSpPr>
            <a:spLocks noGrp="1"/>
          </p:cNvSpPr>
          <p:nvPr>
            <p:ph type="body" sz="quarter" idx="27" hasCustomPrompt="1"/>
          </p:nvPr>
        </p:nvSpPr>
        <p:spPr>
          <a:xfrm>
            <a:off x="9083071" y="2998764"/>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5" name="Text Placeholder 7">
            <a:extLst>
              <a:ext uri="{FF2B5EF4-FFF2-40B4-BE49-F238E27FC236}">
                <a16:creationId xmlns:a16="http://schemas.microsoft.com/office/drawing/2014/main" id="{C7FB240F-23C3-CF13-09DC-4D1A6D299EFE}"/>
              </a:ext>
            </a:extLst>
          </p:cNvPr>
          <p:cNvSpPr>
            <a:spLocks noGrp="1"/>
          </p:cNvSpPr>
          <p:nvPr>
            <p:ph type="body" sz="quarter" idx="28" hasCustomPrompt="1"/>
          </p:nvPr>
        </p:nvSpPr>
        <p:spPr>
          <a:xfrm>
            <a:off x="426722" y="3502347"/>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6" name="Text Placeholder 7">
            <a:extLst>
              <a:ext uri="{FF2B5EF4-FFF2-40B4-BE49-F238E27FC236}">
                <a16:creationId xmlns:a16="http://schemas.microsoft.com/office/drawing/2014/main" id="{902D1EFB-55C9-C80E-DDE3-818DE3141D45}"/>
              </a:ext>
            </a:extLst>
          </p:cNvPr>
          <p:cNvSpPr>
            <a:spLocks noGrp="1"/>
          </p:cNvSpPr>
          <p:nvPr>
            <p:ph type="body" sz="quarter" idx="29" hasCustomPrompt="1"/>
          </p:nvPr>
        </p:nvSpPr>
        <p:spPr>
          <a:xfrm>
            <a:off x="3312172" y="3502348"/>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7" name="Text Placeholder 7">
            <a:extLst>
              <a:ext uri="{FF2B5EF4-FFF2-40B4-BE49-F238E27FC236}">
                <a16:creationId xmlns:a16="http://schemas.microsoft.com/office/drawing/2014/main" id="{276B1096-76A0-DF4D-8EC1-C7838BEB2D3C}"/>
              </a:ext>
            </a:extLst>
          </p:cNvPr>
          <p:cNvSpPr>
            <a:spLocks noGrp="1"/>
          </p:cNvSpPr>
          <p:nvPr>
            <p:ph type="body" sz="quarter" idx="30" hasCustomPrompt="1"/>
          </p:nvPr>
        </p:nvSpPr>
        <p:spPr>
          <a:xfrm>
            <a:off x="6197622" y="3502348"/>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8" name="Text Placeholder 7">
            <a:extLst>
              <a:ext uri="{FF2B5EF4-FFF2-40B4-BE49-F238E27FC236}">
                <a16:creationId xmlns:a16="http://schemas.microsoft.com/office/drawing/2014/main" id="{1561E42B-6B9D-D59C-80FD-F785DF01E4C3}"/>
              </a:ext>
            </a:extLst>
          </p:cNvPr>
          <p:cNvSpPr>
            <a:spLocks noGrp="1"/>
          </p:cNvSpPr>
          <p:nvPr>
            <p:ph type="body" sz="quarter" idx="31" hasCustomPrompt="1"/>
          </p:nvPr>
        </p:nvSpPr>
        <p:spPr>
          <a:xfrm>
            <a:off x="9083071" y="3502347"/>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9" name="Text Placeholder 7">
            <a:extLst>
              <a:ext uri="{FF2B5EF4-FFF2-40B4-BE49-F238E27FC236}">
                <a16:creationId xmlns:a16="http://schemas.microsoft.com/office/drawing/2014/main" id="{E6A5224B-5734-8647-E0F7-5DA1B8CB8727}"/>
              </a:ext>
            </a:extLst>
          </p:cNvPr>
          <p:cNvSpPr>
            <a:spLocks noGrp="1"/>
          </p:cNvSpPr>
          <p:nvPr>
            <p:ph type="body" sz="quarter" idx="32" hasCustomPrompt="1"/>
          </p:nvPr>
        </p:nvSpPr>
        <p:spPr>
          <a:xfrm>
            <a:off x="426722" y="4005930"/>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0" name="Text Placeholder 7">
            <a:extLst>
              <a:ext uri="{FF2B5EF4-FFF2-40B4-BE49-F238E27FC236}">
                <a16:creationId xmlns:a16="http://schemas.microsoft.com/office/drawing/2014/main" id="{1F12970B-1355-2E6B-E65D-83E2789A3BCF}"/>
              </a:ext>
            </a:extLst>
          </p:cNvPr>
          <p:cNvSpPr>
            <a:spLocks noGrp="1"/>
          </p:cNvSpPr>
          <p:nvPr>
            <p:ph type="body" sz="quarter" idx="33" hasCustomPrompt="1"/>
          </p:nvPr>
        </p:nvSpPr>
        <p:spPr>
          <a:xfrm>
            <a:off x="3312172" y="4005931"/>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1" name="Text Placeholder 7">
            <a:extLst>
              <a:ext uri="{FF2B5EF4-FFF2-40B4-BE49-F238E27FC236}">
                <a16:creationId xmlns:a16="http://schemas.microsoft.com/office/drawing/2014/main" id="{026B318F-836E-B4C7-CD1F-9724D6608F71}"/>
              </a:ext>
            </a:extLst>
          </p:cNvPr>
          <p:cNvSpPr>
            <a:spLocks noGrp="1"/>
          </p:cNvSpPr>
          <p:nvPr>
            <p:ph type="body" sz="quarter" idx="34" hasCustomPrompt="1"/>
          </p:nvPr>
        </p:nvSpPr>
        <p:spPr>
          <a:xfrm>
            <a:off x="6197622" y="4005931"/>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2" name="Text Placeholder 7">
            <a:extLst>
              <a:ext uri="{FF2B5EF4-FFF2-40B4-BE49-F238E27FC236}">
                <a16:creationId xmlns:a16="http://schemas.microsoft.com/office/drawing/2014/main" id="{336A4646-574D-9944-BB7B-D9DEA0248B93}"/>
              </a:ext>
            </a:extLst>
          </p:cNvPr>
          <p:cNvSpPr>
            <a:spLocks noGrp="1"/>
          </p:cNvSpPr>
          <p:nvPr>
            <p:ph type="body" sz="quarter" idx="35" hasCustomPrompt="1"/>
          </p:nvPr>
        </p:nvSpPr>
        <p:spPr>
          <a:xfrm>
            <a:off x="9083071" y="4005930"/>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3" name="Text Placeholder 7">
            <a:extLst>
              <a:ext uri="{FF2B5EF4-FFF2-40B4-BE49-F238E27FC236}">
                <a16:creationId xmlns:a16="http://schemas.microsoft.com/office/drawing/2014/main" id="{F5C7786A-06AF-2A71-32C3-4CB5D4D21607}"/>
              </a:ext>
            </a:extLst>
          </p:cNvPr>
          <p:cNvSpPr>
            <a:spLocks noGrp="1"/>
          </p:cNvSpPr>
          <p:nvPr>
            <p:ph type="body" sz="quarter" idx="36" hasCustomPrompt="1"/>
          </p:nvPr>
        </p:nvSpPr>
        <p:spPr>
          <a:xfrm>
            <a:off x="426722" y="4502887"/>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4" name="Text Placeholder 7">
            <a:extLst>
              <a:ext uri="{FF2B5EF4-FFF2-40B4-BE49-F238E27FC236}">
                <a16:creationId xmlns:a16="http://schemas.microsoft.com/office/drawing/2014/main" id="{0CD909F0-E7D0-FA0F-700C-39BCF2817B1E}"/>
              </a:ext>
            </a:extLst>
          </p:cNvPr>
          <p:cNvSpPr>
            <a:spLocks noGrp="1"/>
          </p:cNvSpPr>
          <p:nvPr>
            <p:ph type="body" sz="quarter" idx="37" hasCustomPrompt="1"/>
          </p:nvPr>
        </p:nvSpPr>
        <p:spPr>
          <a:xfrm>
            <a:off x="3312172" y="4502888"/>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5" name="Text Placeholder 7">
            <a:extLst>
              <a:ext uri="{FF2B5EF4-FFF2-40B4-BE49-F238E27FC236}">
                <a16:creationId xmlns:a16="http://schemas.microsoft.com/office/drawing/2014/main" id="{A17786FC-4B35-946C-E12C-2872CFD76DAD}"/>
              </a:ext>
            </a:extLst>
          </p:cNvPr>
          <p:cNvSpPr>
            <a:spLocks noGrp="1"/>
          </p:cNvSpPr>
          <p:nvPr>
            <p:ph type="body" sz="quarter" idx="38" hasCustomPrompt="1"/>
          </p:nvPr>
        </p:nvSpPr>
        <p:spPr>
          <a:xfrm>
            <a:off x="6197622" y="4502888"/>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6" name="Text Placeholder 7">
            <a:extLst>
              <a:ext uri="{FF2B5EF4-FFF2-40B4-BE49-F238E27FC236}">
                <a16:creationId xmlns:a16="http://schemas.microsoft.com/office/drawing/2014/main" id="{C0440156-864C-AF80-BBAF-30FDA4D3492E}"/>
              </a:ext>
            </a:extLst>
          </p:cNvPr>
          <p:cNvSpPr>
            <a:spLocks noGrp="1"/>
          </p:cNvSpPr>
          <p:nvPr>
            <p:ph type="body" sz="quarter" idx="39" hasCustomPrompt="1"/>
          </p:nvPr>
        </p:nvSpPr>
        <p:spPr>
          <a:xfrm>
            <a:off x="9083071" y="4502887"/>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7" name="Text Placeholder 7">
            <a:extLst>
              <a:ext uri="{FF2B5EF4-FFF2-40B4-BE49-F238E27FC236}">
                <a16:creationId xmlns:a16="http://schemas.microsoft.com/office/drawing/2014/main" id="{16FCE203-C9DB-5FE6-320B-A7551E14D956}"/>
              </a:ext>
            </a:extLst>
          </p:cNvPr>
          <p:cNvSpPr>
            <a:spLocks noGrp="1"/>
          </p:cNvSpPr>
          <p:nvPr>
            <p:ph type="body" sz="quarter" idx="40" hasCustomPrompt="1"/>
          </p:nvPr>
        </p:nvSpPr>
        <p:spPr>
          <a:xfrm>
            <a:off x="426722" y="5006469"/>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8" name="Text Placeholder 7">
            <a:extLst>
              <a:ext uri="{FF2B5EF4-FFF2-40B4-BE49-F238E27FC236}">
                <a16:creationId xmlns:a16="http://schemas.microsoft.com/office/drawing/2014/main" id="{FBAF6309-16D1-EDCB-5965-3BB9242F753A}"/>
              </a:ext>
            </a:extLst>
          </p:cNvPr>
          <p:cNvSpPr>
            <a:spLocks noGrp="1"/>
          </p:cNvSpPr>
          <p:nvPr>
            <p:ph type="body" sz="quarter" idx="41" hasCustomPrompt="1"/>
          </p:nvPr>
        </p:nvSpPr>
        <p:spPr>
          <a:xfrm>
            <a:off x="3312172" y="5006470"/>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9" name="Text Placeholder 7">
            <a:extLst>
              <a:ext uri="{FF2B5EF4-FFF2-40B4-BE49-F238E27FC236}">
                <a16:creationId xmlns:a16="http://schemas.microsoft.com/office/drawing/2014/main" id="{757E977F-79E6-3D6A-AA9A-1CB72A909843}"/>
              </a:ext>
            </a:extLst>
          </p:cNvPr>
          <p:cNvSpPr>
            <a:spLocks noGrp="1"/>
          </p:cNvSpPr>
          <p:nvPr>
            <p:ph type="body" sz="quarter" idx="42" hasCustomPrompt="1"/>
          </p:nvPr>
        </p:nvSpPr>
        <p:spPr>
          <a:xfrm>
            <a:off x="6197622" y="5006470"/>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0" name="Text Placeholder 7">
            <a:extLst>
              <a:ext uri="{FF2B5EF4-FFF2-40B4-BE49-F238E27FC236}">
                <a16:creationId xmlns:a16="http://schemas.microsoft.com/office/drawing/2014/main" id="{7042089B-EC38-D0CD-725F-0A65A897D766}"/>
              </a:ext>
            </a:extLst>
          </p:cNvPr>
          <p:cNvSpPr>
            <a:spLocks noGrp="1"/>
          </p:cNvSpPr>
          <p:nvPr>
            <p:ph type="body" sz="quarter" idx="43" hasCustomPrompt="1"/>
          </p:nvPr>
        </p:nvSpPr>
        <p:spPr>
          <a:xfrm>
            <a:off x="9083071" y="5006469"/>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1" name="Text Placeholder 7">
            <a:extLst>
              <a:ext uri="{FF2B5EF4-FFF2-40B4-BE49-F238E27FC236}">
                <a16:creationId xmlns:a16="http://schemas.microsoft.com/office/drawing/2014/main" id="{BFFE2A36-04E7-C57B-4862-3E55F06410D5}"/>
              </a:ext>
            </a:extLst>
          </p:cNvPr>
          <p:cNvSpPr>
            <a:spLocks noGrp="1"/>
          </p:cNvSpPr>
          <p:nvPr>
            <p:ph type="body" sz="quarter" idx="44" hasCustomPrompt="1"/>
          </p:nvPr>
        </p:nvSpPr>
        <p:spPr>
          <a:xfrm>
            <a:off x="426722" y="5510051"/>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2" name="Text Placeholder 7">
            <a:extLst>
              <a:ext uri="{FF2B5EF4-FFF2-40B4-BE49-F238E27FC236}">
                <a16:creationId xmlns:a16="http://schemas.microsoft.com/office/drawing/2014/main" id="{45E3A8CF-7348-C9AB-72C7-62A0C0AA9A5A}"/>
              </a:ext>
            </a:extLst>
          </p:cNvPr>
          <p:cNvSpPr>
            <a:spLocks noGrp="1"/>
          </p:cNvSpPr>
          <p:nvPr>
            <p:ph type="body" sz="quarter" idx="45" hasCustomPrompt="1"/>
          </p:nvPr>
        </p:nvSpPr>
        <p:spPr>
          <a:xfrm>
            <a:off x="3312172" y="5510052"/>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3" name="Text Placeholder 7">
            <a:extLst>
              <a:ext uri="{FF2B5EF4-FFF2-40B4-BE49-F238E27FC236}">
                <a16:creationId xmlns:a16="http://schemas.microsoft.com/office/drawing/2014/main" id="{0F7B8E3F-F073-A7F4-61F2-7DDF85C706FF}"/>
              </a:ext>
            </a:extLst>
          </p:cNvPr>
          <p:cNvSpPr>
            <a:spLocks noGrp="1"/>
          </p:cNvSpPr>
          <p:nvPr>
            <p:ph type="body" sz="quarter" idx="46" hasCustomPrompt="1"/>
          </p:nvPr>
        </p:nvSpPr>
        <p:spPr>
          <a:xfrm>
            <a:off x="6197622" y="5510052"/>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4" name="Text Placeholder 7">
            <a:extLst>
              <a:ext uri="{FF2B5EF4-FFF2-40B4-BE49-F238E27FC236}">
                <a16:creationId xmlns:a16="http://schemas.microsoft.com/office/drawing/2014/main" id="{543D65C9-244C-31CF-1816-0ADDE9EE2C3A}"/>
              </a:ext>
            </a:extLst>
          </p:cNvPr>
          <p:cNvSpPr>
            <a:spLocks noGrp="1"/>
          </p:cNvSpPr>
          <p:nvPr>
            <p:ph type="body" sz="quarter" idx="47" hasCustomPrompt="1"/>
          </p:nvPr>
        </p:nvSpPr>
        <p:spPr>
          <a:xfrm>
            <a:off x="9083071" y="5510051"/>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Tree>
    <p:extLst>
      <p:ext uri="{BB962C8B-B14F-4D97-AF65-F5344CB8AC3E}">
        <p14:creationId xmlns:p14="http://schemas.microsoft.com/office/powerpoint/2010/main" val="5882530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_Acknowledgements - dark">
    <p:bg>
      <p:bgPr>
        <a:solidFill>
          <a:srgbClr val="112E5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49551E1-2B60-1B3A-6490-862DCFE22157}"/>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pic>
        <p:nvPicPr>
          <p:cNvPr id="3" name="Graphic 2">
            <a:extLst>
              <a:ext uri="{FF2B5EF4-FFF2-40B4-BE49-F238E27FC236}">
                <a16:creationId xmlns:a16="http://schemas.microsoft.com/office/drawing/2014/main" id="{C6DA7EB7-1085-4D51-B404-831285C2D30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5933" y="6084465"/>
            <a:ext cx="3433337" cy="408409"/>
          </a:xfrm>
          <a:prstGeom prst="rect">
            <a:avLst/>
          </a:prstGeom>
        </p:spPr>
      </p:pic>
      <p:sp>
        <p:nvSpPr>
          <p:cNvPr id="12" name="Text Placeholder 7">
            <a:extLst>
              <a:ext uri="{FF2B5EF4-FFF2-40B4-BE49-F238E27FC236}">
                <a16:creationId xmlns:a16="http://schemas.microsoft.com/office/drawing/2014/main" id="{06A66A67-8AA1-B29D-CB63-5BA7A96642AF}"/>
              </a:ext>
            </a:extLst>
          </p:cNvPr>
          <p:cNvSpPr>
            <a:spLocks noGrp="1"/>
          </p:cNvSpPr>
          <p:nvPr>
            <p:ph type="body" sz="quarter" idx="11" hasCustomPrompt="1"/>
          </p:nvPr>
        </p:nvSpPr>
        <p:spPr>
          <a:xfrm>
            <a:off x="426722" y="2004851"/>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3" name="Text Placeholder 7">
            <a:extLst>
              <a:ext uri="{FF2B5EF4-FFF2-40B4-BE49-F238E27FC236}">
                <a16:creationId xmlns:a16="http://schemas.microsoft.com/office/drawing/2014/main" id="{78BFD8E0-8AC9-D341-0EB4-D9BC4CFA91B4}"/>
              </a:ext>
            </a:extLst>
          </p:cNvPr>
          <p:cNvSpPr>
            <a:spLocks noGrp="1"/>
          </p:cNvSpPr>
          <p:nvPr>
            <p:ph type="body" sz="quarter" idx="17" hasCustomPrompt="1"/>
          </p:nvPr>
        </p:nvSpPr>
        <p:spPr>
          <a:xfrm>
            <a:off x="3312172" y="2004852"/>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4" name="Text Placeholder 7">
            <a:extLst>
              <a:ext uri="{FF2B5EF4-FFF2-40B4-BE49-F238E27FC236}">
                <a16:creationId xmlns:a16="http://schemas.microsoft.com/office/drawing/2014/main" id="{B78DAB82-4A89-8F55-4A57-31153C2D0B96}"/>
              </a:ext>
            </a:extLst>
          </p:cNvPr>
          <p:cNvSpPr>
            <a:spLocks noGrp="1"/>
          </p:cNvSpPr>
          <p:nvPr>
            <p:ph type="body" sz="quarter" idx="18" hasCustomPrompt="1"/>
          </p:nvPr>
        </p:nvSpPr>
        <p:spPr>
          <a:xfrm>
            <a:off x="6197622" y="2004852"/>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5" name="Text Placeholder 7">
            <a:extLst>
              <a:ext uri="{FF2B5EF4-FFF2-40B4-BE49-F238E27FC236}">
                <a16:creationId xmlns:a16="http://schemas.microsoft.com/office/drawing/2014/main" id="{46B3D5C8-5300-F151-7C17-58914A918A6B}"/>
              </a:ext>
            </a:extLst>
          </p:cNvPr>
          <p:cNvSpPr>
            <a:spLocks noGrp="1"/>
          </p:cNvSpPr>
          <p:nvPr>
            <p:ph type="body" sz="quarter" idx="19" hasCustomPrompt="1"/>
          </p:nvPr>
        </p:nvSpPr>
        <p:spPr>
          <a:xfrm>
            <a:off x="9083071" y="2004851"/>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6" name="Title 1">
            <a:extLst>
              <a:ext uri="{FF2B5EF4-FFF2-40B4-BE49-F238E27FC236}">
                <a16:creationId xmlns:a16="http://schemas.microsoft.com/office/drawing/2014/main" id="{3274ED7C-5EF7-AABE-7C28-9E139B442E19}"/>
              </a:ext>
            </a:extLst>
          </p:cNvPr>
          <p:cNvSpPr>
            <a:spLocks noGrp="1"/>
          </p:cNvSpPr>
          <p:nvPr>
            <p:ph type="title" hasCustomPrompt="1"/>
          </p:nvPr>
        </p:nvSpPr>
        <p:spPr>
          <a:xfrm>
            <a:off x="426720" y="365126"/>
            <a:ext cx="5513710" cy="1017108"/>
          </a:xfrm>
        </p:spPr>
        <p:txBody>
          <a:bodyPr anchor="t"/>
          <a:lstStyle>
            <a:lvl1pPr>
              <a:defRPr>
                <a:solidFill>
                  <a:schemeClr val="bg1"/>
                </a:solidFill>
              </a:defRPr>
            </a:lvl1pPr>
          </a:lstStyle>
          <a:p>
            <a:r>
              <a:rPr lang="en-US"/>
              <a:t>Headline</a:t>
            </a:r>
          </a:p>
        </p:txBody>
      </p:sp>
      <p:sp>
        <p:nvSpPr>
          <p:cNvPr id="17" name="Text Placeholder 5">
            <a:extLst>
              <a:ext uri="{FF2B5EF4-FFF2-40B4-BE49-F238E27FC236}">
                <a16:creationId xmlns:a16="http://schemas.microsoft.com/office/drawing/2014/main" id="{83BD6A4D-C5E3-5AC9-0766-76995C034D44}"/>
              </a:ext>
            </a:extLst>
          </p:cNvPr>
          <p:cNvSpPr>
            <a:spLocks noGrp="1"/>
          </p:cNvSpPr>
          <p:nvPr>
            <p:ph type="body" sz="quarter" idx="16" hasCustomPrompt="1"/>
          </p:nvPr>
        </p:nvSpPr>
        <p:spPr>
          <a:xfrm>
            <a:off x="6283376" y="365195"/>
            <a:ext cx="5481903" cy="1017039"/>
          </a:xfrm>
          <a:prstGeom prst="rect">
            <a:avLst/>
          </a:prstGeom>
        </p:spPr>
        <p:txBody>
          <a:bodyPr anchor="ctr">
            <a:noAutofit/>
          </a:bodyPr>
          <a:lstStyle>
            <a:lvl1pPr marL="0" indent="0">
              <a:lnSpc>
                <a:spcPct val="100000"/>
              </a:lnSpc>
              <a:buNone/>
              <a:defRPr sz="2000">
                <a:solidFill>
                  <a:schemeClr val="accent3">
                    <a:lumMod val="60000"/>
                    <a:lumOff val="40000"/>
                  </a:schemeClr>
                </a:solidFill>
              </a:defRPr>
            </a:lvl1pPr>
          </a:lstStyle>
          <a:p>
            <a:pPr lvl="0"/>
            <a:r>
              <a:rPr lang="en-US"/>
              <a:t>This research was supported by the Intramural Research Program of the NIH, National Library of Medicine.</a:t>
            </a:r>
          </a:p>
        </p:txBody>
      </p:sp>
      <p:cxnSp>
        <p:nvCxnSpPr>
          <p:cNvPr id="18" name="Straight Connector 17">
            <a:extLst>
              <a:ext uri="{FF2B5EF4-FFF2-40B4-BE49-F238E27FC236}">
                <a16:creationId xmlns:a16="http://schemas.microsoft.com/office/drawing/2014/main" id="{3655BACE-D303-C4BD-C718-BBD432438493}"/>
              </a:ext>
              <a:ext uri="{C183D7F6-B498-43B3-948B-1728B52AA6E4}">
                <adec:decorative xmlns:adec="http://schemas.microsoft.com/office/drawing/2017/decorative" val="1"/>
              </a:ext>
            </a:extLst>
          </p:cNvPr>
          <p:cNvCxnSpPr>
            <a:cxnSpLocks/>
          </p:cNvCxnSpPr>
          <p:nvPr userDrawn="1"/>
        </p:nvCxnSpPr>
        <p:spPr>
          <a:xfrm flipH="1">
            <a:off x="426720"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E5B420F-B57E-4E9C-F541-04613B14070D}"/>
              </a:ext>
              <a:ext uri="{C183D7F6-B498-43B3-948B-1728B52AA6E4}">
                <adec:decorative xmlns:adec="http://schemas.microsoft.com/office/drawing/2017/decorative" val="1"/>
              </a:ext>
            </a:extLst>
          </p:cNvPr>
          <p:cNvCxnSpPr>
            <a:cxnSpLocks/>
          </p:cNvCxnSpPr>
          <p:nvPr userDrawn="1"/>
        </p:nvCxnSpPr>
        <p:spPr>
          <a:xfrm flipH="1">
            <a:off x="3295816"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C3C409A-4322-1DA2-0A92-91F62DF76FA6}"/>
              </a:ext>
              <a:ext uri="{C183D7F6-B498-43B3-948B-1728B52AA6E4}">
                <adec:decorative xmlns:adec="http://schemas.microsoft.com/office/drawing/2017/decorative" val="1"/>
              </a:ext>
            </a:extLst>
          </p:cNvPr>
          <p:cNvCxnSpPr>
            <a:cxnSpLocks/>
          </p:cNvCxnSpPr>
          <p:nvPr userDrawn="1"/>
        </p:nvCxnSpPr>
        <p:spPr>
          <a:xfrm flipH="1">
            <a:off x="6184790"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7433C17-6E55-6729-4B71-90C1C5D0AACB}"/>
              </a:ext>
              <a:ext uri="{C183D7F6-B498-43B3-948B-1728B52AA6E4}">
                <adec:decorative xmlns:adec="http://schemas.microsoft.com/office/drawing/2017/decorative" val="1"/>
              </a:ext>
            </a:extLst>
          </p:cNvPr>
          <p:cNvCxnSpPr>
            <a:cxnSpLocks/>
          </p:cNvCxnSpPr>
          <p:nvPr userDrawn="1"/>
        </p:nvCxnSpPr>
        <p:spPr>
          <a:xfrm flipH="1">
            <a:off x="9067138"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920AA62-E612-D965-1F88-E6F1009AE41D}"/>
              </a:ext>
              <a:ext uri="{C183D7F6-B498-43B3-948B-1728B52AA6E4}">
                <adec:decorative xmlns:adec="http://schemas.microsoft.com/office/drawing/2017/decorative" val="1"/>
              </a:ext>
            </a:extLst>
          </p:cNvPr>
          <p:cNvCxnSpPr>
            <a:cxnSpLocks/>
          </p:cNvCxnSpPr>
          <p:nvPr userDrawn="1"/>
        </p:nvCxnSpPr>
        <p:spPr>
          <a:xfrm flipV="1">
            <a:off x="6111903" y="365126"/>
            <a:ext cx="0" cy="1017108"/>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7">
            <a:extLst>
              <a:ext uri="{FF2B5EF4-FFF2-40B4-BE49-F238E27FC236}">
                <a16:creationId xmlns:a16="http://schemas.microsoft.com/office/drawing/2014/main" id="{F4678C97-353D-718B-C7D3-856CA7BA54EA}"/>
              </a:ext>
            </a:extLst>
          </p:cNvPr>
          <p:cNvSpPr>
            <a:spLocks noGrp="1"/>
          </p:cNvSpPr>
          <p:nvPr>
            <p:ph type="body" sz="quarter" idx="20" hasCustomPrompt="1"/>
          </p:nvPr>
        </p:nvSpPr>
        <p:spPr>
          <a:xfrm>
            <a:off x="426722" y="2501808"/>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4" name="Text Placeholder 7">
            <a:extLst>
              <a:ext uri="{FF2B5EF4-FFF2-40B4-BE49-F238E27FC236}">
                <a16:creationId xmlns:a16="http://schemas.microsoft.com/office/drawing/2014/main" id="{C99EDFFC-C024-9A76-8088-04C8F0CEE0CD}"/>
              </a:ext>
            </a:extLst>
          </p:cNvPr>
          <p:cNvSpPr>
            <a:spLocks noGrp="1"/>
          </p:cNvSpPr>
          <p:nvPr>
            <p:ph type="body" sz="quarter" idx="21" hasCustomPrompt="1"/>
          </p:nvPr>
        </p:nvSpPr>
        <p:spPr>
          <a:xfrm>
            <a:off x="3312172" y="2501809"/>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5" name="Text Placeholder 7">
            <a:extLst>
              <a:ext uri="{FF2B5EF4-FFF2-40B4-BE49-F238E27FC236}">
                <a16:creationId xmlns:a16="http://schemas.microsoft.com/office/drawing/2014/main" id="{FBD657C7-13F8-FC36-8BA4-397DFD2DD2AD}"/>
              </a:ext>
            </a:extLst>
          </p:cNvPr>
          <p:cNvSpPr>
            <a:spLocks noGrp="1"/>
          </p:cNvSpPr>
          <p:nvPr>
            <p:ph type="body" sz="quarter" idx="22" hasCustomPrompt="1"/>
          </p:nvPr>
        </p:nvSpPr>
        <p:spPr>
          <a:xfrm>
            <a:off x="6197622" y="2501809"/>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6" name="Text Placeholder 7">
            <a:extLst>
              <a:ext uri="{FF2B5EF4-FFF2-40B4-BE49-F238E27FC236}">
                <a16:creationId xmlns:a16="http://schemas.microsoft.com/office/drawing/2014/main" id="{E1CE904B-65D6-92E0-B60A-5E063D731713}"/>
              </a:ext>
            </a:extLst>
          </p:cNvPr>
          <p:cNvSpPr>
            <a:spLocks noGrp="1"/>
          </p:cNvSpPr>
          <p:nvPr>
            <p:ph type="body" sz="quarter" idx="23" hasCustomPrompt="1"/>
          </p:nvPr>
        </p:nvSpPr>
        <p:spPr>
          <a:xfrm>
            <a:off x="9083071" y="2501808"/>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7" name="Text Placeholder 7">
            <a:extLst>
              <a:ext uri="{FF2B5EF4-FFF2-40B4-BE49-F238E27FC236}">
                <a16:creationId xmlns:a16="http://schemas.microsoft.com/office/drawing/2014/main" id="{68DBB60D-4611-5A0D-13D2-B86C33F46EA8}"/>
              </a:ext>
            </a:extLst>
          </p:cNvPr>
          <p:cNvSpPr>
            <a:spLocks noGrp="1"/>
          </p:cNvSpPr>
          <p:nvPr>
            <p:ph type="body" sz="quarter" idx="24" hasCustomPrompt="1"/>
          </p:nvPr>
        </p:nvSpPr>
        <p:spPr>
          <a:xfrm>
            <a:off x="426722" y="2998764"/>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8" name="Text Placeholder 7">
            <a:extLst>
              <a:ext uri="{FF2B5EF4-FFF2-40B4-BE49-F238E27FC236}">
                <a16:creationId xmlns:a16="http://schemas.microsoft.com/office/drawing/2014/main" id="{83CA0F78-A225-8EA3-0535-300EBAE61FC0}"/>
              </a:ext>
            </a:extLst>
          </p:cNvPr>
          <p:cNvSpPr>
            <a:spLocks noGrp="1"/>
          </p:cNvSpPr>
          <p:nvPr>
            <p:ph type="body" sz="quarter" idx="25" hasCustomPrompt="1"/>
          </p:nvPr>
        </p:nvSpPr>
        <p:spPr>
          <a:xfrm>
            <a:off x="3312172" y="2998765"/>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9" name="Text Placeholder 7">
            <a:extLst>
              <a:ext uri="{FF2B5EF4-FFF2-40B4-BE49-F238E27FC236}">
                <a16:creationId xmlns:a16="http://schemas.microsoft.com/office/drawing/2014/main" id="{7C9AAB5D-ACC6-119E-353F-6A2A094BBFA9}"/>
              </a:ext>
            </a:extLst>
          </p:cNvPr>
          <p:cNvSpPr>
            <a:spLocks noGrp="1"/>
          </p:cNvSpPr>
          <p:nvPr>
            <p:ph type="body" sz="quarter" idx="26" hasCustomPrompt="1"/>
          </p:nvPr>
        </p:nvSpPr>
        <p:spPr>
          <a:xfrm>
            <a:off x="6197622" y="2998765"/>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0" name="Text Placeholder 7">
            <a:extLst>
              <a:ext uri="{FF2B5EF4-FFF2-40B4-BE49-F238E27FC236}">
                <a16:creationId xmlns:a16="http://schemas.microsoft.com/office/drawing/2014/main" id="{B62407F9-3AF4-DD41-FF99-47FC0E23D3A3}"/>
              </a:ext>
            </a:extLst>
          </p:cNvPr>
          <p:cNvSpPr>
            <a:spLocks noGrp="1"/>
          </p:cNvSpPr>
          <p:nvPr>
            <p:ph type="body" sz="quarter" idx="27" hasCustomPrompt="1"/>
          </p:nvPr>
        </p:nvSpPr>
        <p:spPr>
          <a:xfrm>
            <a:off x="9083071" y="2998764"/>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1" name="Text Placeholder 7">
            <a:extLst>
              <a:ext uri="{FF2B5EF4-FFF2-40B4-BE49-F238E27FC236}">
                <a16:creationId xmlns:a16="http://schemas.microsoft.com/office/drawing/2014/main" id="{85057305-3D0F-D202-D22B-D80A017A0F94}"/>
              </a:ext>
            </a:extLst>
          </p:cNvPr>
          <p:cNvSpPr>
            <a:spLocks noGrp="1"/>
          </p:cNvSpPr>
          <p:nvPr>
            <p:ph type="body" sz="quarter" idx="28" hasCustomPrompt="1"/>
          </p:nvPr>
        </p:nvSpPr>
        <p:spPr>
          <a:xfrm>
            <a:off x="426722" y="3502347"/>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2" name="Text Placeholder 7">
            <a:extLst>
              <a:ext uri="{FF2B5EF4-FFF2-40B4-BE49-F238E27FC236}">
                <a16:creationId xmlns:a16="http://schemas.microsoft.com/office/drawing/2014/main" id="{C1B28C04-42FA-A1C1-9C6C-E797BB9D9D8C}"/>
              </a:ext>
            </a:extLst>
          </p:cNvPr>
          <p:cNvSpPr>
            <a:spLocks noGrp="1"/>
          </p:cNvSpPr>
          <p:nvPr>
            <p:ph type="body" sz="quarter" idx="29" hasCustomPrompt="1"/>
          </p:nvPr>
        </p:nvSpPr>
        <p:spPr>
          <a:xfrm>
            <a:off x="3312172" y="3502348"/>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3" name="Text Placeholder 7">
            <a:extLst>
              <a:ext uri="{FF2B5EF4-FFF2-40B4-BE49-F238E27FC236}">
                <a16:creationId xmlns:a16="http://schemas.microsoft.com/office/drawing/2014/main" id="{C3733A55-F3E7-80E9-94AF-625760AA4570}"/>
              </a:ext>
            </a:extLst>
          </p:cNvPr>
          <p:cNvSpPr>
            <a:spLocks noGrp="1"/>
          </p:cNvSpPr>
          <p:nvPr>
            <p:ph type="body" sz="quarter" idx="30" hasCustomPrompt="1"/>
          </p:nvPr>
        </p:nvSpPr>
        <p:spPr>
          <a:xfrm>
            <a:off x="6197622" y="3502348"/>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4" name="Text Placeholder 7">
            <a:extLst>
              <a:ext uri="{FF2B5EF4-FFF2-40B4-BE49-F238E27FC236}">
                <a16:creationId xmlns:a16="http://schemas.microsoft.com/office/drawing/2014/main" id="{B0E519D3-28E2-3F77-434F-A3087568F80E}"/>
              </a:ext>
            </a:extLst>
          </p:cNvPr>
          <p:cNvSpPr>
            <a:spLocks noGrp="1"/>
          </p:cNvSpPr>
          <p:nvPr>
            <p:ph type="body" sz="quarter" idx="31" hasCustomPrompt="1"/>
          </p:nvPr>
        </p:nvSpPr>
        <p:spPr>
          <a:xfrm>
            <a:off x="9083071" y="3502347"/>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5" name="Text Placeholder 7">
            <a:extLst>
              <a:ext uri="{FF2B5EF4-FFF2-40B4-BE49-F238E27FC236}">
                <a16:creationId xmlns:a16="http://schemas.microsoft.com/office/drawing/2014/main" id="{C0E24C90-88CF-EB17-8AAB-B7120FFF4BC3}"/>
              </a:ext>
            </a:extLst>
          </p:cNvPr>
          <p:cNvSpPr>
            <a:spLocks noGrp="1"/>
          </p:cNvSpPr>
          <p:nvPr>
            <p:ph type="body" sz="quarter" idx="32" hasCustomPrompt="1"/>
          </p:nvPr>
        </p:nvSpPr>
        <p:spPr>
          <a:xfrm>
            <a:off x="426722" y="4005930"/>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6" name="Text Placeholder 7">
            <a:extLst>
              <a:ext uri="{FF2B5EF4-FFF2-40B4-BE49-F238E27FC236}">
                <a16:creationId xmlns:a16="http://schemas.microsoft.com/office/drawing/2014/main" id="{3A192949-79BB-46CD-819D-B5D70F422FF6}"/>
              </a:ext>
            </a:extLst>
          </p:cNvPr>
          <p:cNvSpPr>
            <a:spLocks noGrp="1"/>
          </p:cNvSpPr>
          <p:nvPr>
            <p:ph type="body" sz="quarter" idx="33" hasCustomPrompt="1"/>
          </p:nvPr>
        </p:nvSpPr>
        <p:spPr>
          <a:xfrm>
            <a:off x="3312172" y="4005931"/>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7" name="Text Placeholder 7">
            <a:extLst>
              <a:ext uri="{FF2B5EF4-FFF2-40B4-BE49-F238E27FC236}">
                <a16:creationId xmlns:a16="http://schemas.microsoft.com/office/drawing/2014/main" id="{D2F40E89-11CC-5188-46E9-0FCA9DEBB5ED}"/>
              </a:ext>
            </a:extLst>
          </p:cNvPr>
          <p:cNvSpPr>
            <a:spLocks noGrp="1"/>
          </p:cNvSpPr>
          <p:nvPr>
            <p:ph type="body" sz="quarter" idx="34" hasCustomPrompt="1"/>
          </p:nvPr>
        </p:nvSpPr>
        <p:spPr>
          <a:xfrm>
            <a:off x="6197622" y="4005931"/>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8" name="Text Placeholder 7">
            <a:extLst>
              <a:ext uri="{FF2B5EF4-FFF2-40B4-BE49-F238E27FC236}">
                <a16:creationId xmlns:a16="http://schemas.microsoft.com/office/drawing/2014/main" id="{38553D0E-ECAA-7779-0726-5B46E2E210A9}"/>
              </a:ext>
            </a:extLst>
          </p:cNvPr>
          <p:cNvSpPr>
            <a:spLocks noGrp="1"/>
          </p:cNvSpPr>
          <p:nvPr>
            <p:ph type="body" sz="quarter" idx="35" hasCustomPrompt="1"/>
          </p:nvPr>
        </p:nvSpPr>
        <p:spPr>
          <a:xfrm>
            <a:off x="9083071" y="4005930"/>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9" name="Text Placeholder 7">
            <a:extLst>
              <a:ext uri="{FF2B5EF4-FFF2-40B4-BE49-F238E27FC236}">
                <a16:creationId xmlns:a16="http://schemas.microsoft.com/office/drawing/2014/main" id="{E10BFC44-5DF8-E9F8-4806-FE74E33FCF64}"/>
              </a:ext>
            </a:extLst>
          </p:cNvPr>
          <p:cNvSpPr>
            <a:spLocks noGrp="1"/>
          </p:cNvSpPr>
          <p:nvPr>
            <p:ph type="body" sz="quarter" idx="36" hasCustomPrompt="1"/>
          </p:nvPr>
        </p:nvSpPr>
        <p:spPr>
          <a:xfrm>
            <a:off x="426722" y="4502887"/>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0" name="Text Placeholder 7">
            <a:extLst>
              <a:ext uri="{FF2B5EF4-FFF2-40B4-BE49-F238E27FC236}">
                <a16:creationId xmlns:a16="http://schemas.microsoft.com/office/drawing/2014/main" id="{38CC61CB-15EA-1797-5C21-9B04B65AD69F}"/>
              </a:ext>
            </a:extLst>
          </p:cNvPr>
          <p:cNvSpPr>
            <a:spLocks noGrp="1"/>
          </p:cNvSpPr>
          <p:nvPr>
            <p:ph type="body" sz="quarter" idx="37" hasCustomPrompt="1"/>
          </p:nvPr>
        </p:nvSpPr>
        <p:spPr>
          <a:xfrm>
            <a:off x="3312172" y="4502888"/>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1" name="Text Placeholder 7">
            <a:extLst>
              <a:ext uri="{FF2B5EF4-FFF2-40B4-BE49-F238E27FC236}">
                <a16:creationId xmlns:a16="http://schemas.microsoft.com/office/drawing/2014/main" id="{9E24C476-CF53-24E8-07C6-79594848E6B1}"/>
              </a:ext>
            </a:extLst>
          </p:cNvPr>
          <p:cNvSpPr>
            <a:spLocks noGrp="1"/>
          </p:cNvSpPr>
          <p:nvPr>
            <p:ph type="body" sz="quarter" idx="38" hasCustomPrompt="1"/>
          </p:nvPr>
        </p:nvSpPr>
        <p:spPr>
          <a:xfrm>
            <a:off x="6197622" y="4502888"/>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2" name="Text Placeholder 7">
            <a:extLst>
              <a:ext uri="{FF2B5EF4-FFF2-40B4-BE49-F238E27FC236}">
                <a16:creationId xmlns:a16="http://schemas.microsoft.com/office/drawing/2014/main" id="{DF114B07-7304-2BC1-F426-7330700A77D6}"/>
              </a:ext>
            </a:extLst>
          </p:cNvPr>
          <p:cNvSpPr>
            <a:spLocks noGrp="1"/>
          </p:cNvSpPr>
          <p:nvPr>
            <p:ph type="body" sz="quarter" idx="39" hasCustomPrompt="1"/>
          </p:nvPr>
        </p:nvSpPr>
        <p:spPr>
          <a:xfrm>
            <a:off x="9083071" y="4502887"/>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3" name="Text Placeholder 7">
            <a:extLst>
              <a:ext uri="{FF2B5EF4-FFF2-40B4-BE49-F238E27FC236}">
                <a16:creationId xmlns:a16="http://schemas.microsoft.com/office/drawing/2014/main" id="{DAA65E89-D8A0-EB74-8BD0-7033A76044B7}"/>
              </a:ext>
            </a:extLst>
          </p:cNvPr>
          <p:cNvSpPr>
            <a:spLocks noGrp="1"/>
          </p:cNvSpPr>
          <p:nvPr>
            <p:ph type="body" sz="quarter" idx="40" hasCustomPrompt="1"/>
          </p:nvPr>
        </p:nvSpPr>
        <p:spPr>
          <a:xfrm>
            <a:off x="426722" y="5006469"/>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4" name="Text Placeholder 7">
            <a:extLst>
              <a:ext uri="{FF2B5EF4-FFF2-40B4-BE49-F238E27FC236}">
                <a16:creationId xmlns:a16="http://schemas.microsoft.com/office/drawing/2014/main" id="{BDA97849-F569-4596-938F-949E42DDC7D7}"/>
              </a:ext>
            </a:extLst>
          </p:cNvPr>
          <p:cNvSpPr>
            <a:spLocks noGrp="1"/>
          </p:cNvSpPr>
          <p:nvPr>
            <p:ph type="body" sz="quarter" idx="41" hasCustomPrompt="1"/>
          </p:nvPr>
        </p:nvSpPr>
        <p:spPr>
          <a:xfrm>
            <a:off x="3312172" y="5006470"/>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5" name="Text Placeholder 7">
            <a:extLst>
              <a:ext uri="{FF2B5EF4-FFF2-40B4-BE49-F238E27FC236}">
                <a16:creationId xmlns:a16="http://schemas.microsoft.com/office/drawing/2014/main" id="{39316284-D361-4BD3-06F5-014434E7BFDF}"/>
              </a:ext>
            </a:extLst>
          </p:cNvPr>
          <p:cNvSpPr>
            <a:spLocks noGrp="1"/>
          </p:cNvSpPr>
          <p:nvPr>
            <p:ph type="body" sz="quarter" idx="42" hasCustomPrompt="1"/>
          </p:nvPr>
        </p:nvSpPr>
        <p:spPr>
          <a:xfrm>
            <a:off x="6197622" y="5006470"/>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6" name="Text Placeholder 7">
            <a:extLst>
              <a:ext uri="{FF2B5EF4-FFF2-40B4-BE49-F238E27FC236}">
                <a16:creationId xmlns:a16="http://schemas.microsoft.com/office/drawing/2014/main" id="{866D0BCA-F29E-BF8E-834B-1A97D47133F8}"/>
              </a:ext>
            </a:extLst>
          </p:cNvPr>
          <p:cNvSpPr>
            <a:spLocks noGrp="1"/>
          </p:cNvSpPr>
          <p:nvPr>
            <p:ph type="body" sz="quarter" idx="43" hasCustomPrompt="1"/>
          </p:nvPr>
        </p:nvSpPr>
        <p:spPr>
          <a:xfrm>
            <a:off x="9083071" y="5006469"/>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7" name="Text Placeholder 7">
            <a:extLst>
              <a:ext uri="{FF2B5EF4-FFF2-40B4-BE49-F238E27FC236}">
                <a16:creationId xmlns:a16="http://schemas.microsoft.com/office/drawing/2014/main" id="{83F0760B-AC42-E821-2B23-C0967D135521}"/>
              </a:ext>
            </a:extLst>
          </p:cNvPr>
          <p:cNvSpPr>
            <a:spLocks noGrp="1"/>
          </p:cNvSpPr>
          <p:nvPr>
            <p:ph type="body" sz="quarter" idx="44" hasCustomPrompt="1"/>
          </p:nvPr>
        </p:nvSpPr>
        <p:spPr>
          <a:xfrm>
            <a:off x="426722" y="5510051"/>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8" name="Text Placeholder 7">
            <a:extLst>
              <a:ext uri="{FF2B5EF4-FFF2-40B4-BE49-F238E27FC236}">
                <a16:creationId xmlns:a16="http://schemas.microsoft.com/office/drawing/2014/main" id="{E08E5CE3-75FD-AE88-3435-4FE5EC12EF31}"/>
              </a:ext>
            </a:extLst>
          </p:cNvPr>
          <p:cNvSpPr>
            <a:spLocks noGrp="1"/>
          </p:cNvSpPr>
          <p:nvPr>
            <p:ph type="body" sz="quarter" idx="45" hasCustomPrompt="1"/>
          </p:nvPr>
        </p:nvSpPr>
        <p:spPr>
          <a:xfrm>
            <a:off x="3312172" y="5510052"/>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9" name="Text Placeholder 7">
            <a:extLst>
              <a:ext uri="{FF2B5EF4-FFF2-40B4-BE49-F238E27FC236}">
                <a16:creationId xmlns:a16="http://schemas.microsoft.com/office/drawing/2014/main" id="{11856361-AE81-C274-15D4-B25A8DD24A1C}"/>
              </a:ext>
            </a:extLst>
          </p:cNvPr>
          <p:cNvSpPr>
            <a:spLocks noGrp="1"/>
          </p:cNvSpPr>
          <p:nvPr>
            <p:ph type="body" sz="quarter" idx="46" hasCustomPrompt="1"/>
          </p:nvPr>
        </p:nvSpPr>
        <p:spPr>
          <a:xfrm>
            <a:off x="6197622" y="5510052"/>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50" name="Text Placeholder 7">
            <a:extLst>
              <a:ext uri="{FF2B5EF4-FFF2-40B4-BE49-F238E27FC236}">
                <a16:creationId xmlns:a16="http://schemas.microsoft.com/office/drawing/2014/main" id="{8914E580-8B3F-886B-BD8B-E81A59F35F02}"/>
              </a:ext>
            </a:extLst>
          </p:cNvPr>
          <p:cNvSpPr>
            <a:spLocks noGrp="1"/>
          </p:cNvSpPr>
          <p:nvPr>
            <p:ph type="body" sz="quarter" idx="47" hasCustomPrompt="1"/>
          </p:nvPr>
        </p:nvSpPr>
        <p:spPr>
          <a:xfrm>
            <a:off x="9083071" y="5510051"/>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Tree>
    <p:extLst>
      <p:ext uri="{BB962C8B-B14F-4D97-AF65-F5344CB8AC3E}">
        <p14:creationId xmlns:p14="http://schemas.microsoft.com/office/powerpoint/2010/main" val="8214641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 Dark">
    <p:bg>
      <p:bgPr>
        <a:solidFill>
          <a:srgbClr val="205493"/>
        </a:solidFill>
        <a:effectLst/>
      </p:bgPr>
    </p:bg>
    <p:spTree>
      <p:nvGrpSpPr>
        <p:cNvPr id="1" name=""/>
        <p:cNvGrpSpPr/>
        <p:nvPr/>
      </p:nvGrpSpPr>
      <p:grpSpPr>
        <a:xfrm>
          <a:off x="0" y="0"/>
          <a:ext cx="0" cy="0"/>
          <a:chOff x="0" y="0"/>
          <a:chExt cx="0" cy="0"/>
        </a:xfrm>
      </p:grpSpPr>
      <p:pic>
        <p:nvPicPr>
          <p:cNvPr id="41" name="Graphic 40">
            <a:extLst>
              <a:ext uri="{FF2B5EF4-FFF2-40B4-BE49-F238E27FC236}">
                <a16:creationId xmlns:a16="http://schemas.microsoft.com/office/drawing/2014/main" id="{A3C789B0-28C7-E6A4-30FD-E2ACD1B9C0E2}"/>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pic>
        <p:nvPicPr>
          <p:cNvPr id="6" name="Graphic 5">
            <a:extLst>
              <a:ext uri="{FF2B5EF4-FFF2-40B4-BE49-F238E27FC236}">
                <a16:creationId xmlns:a16="http://schemas.microsoft.com/office/drawing/2014/main" id="{35A72BDB-8252-762D-3D7A-7A1C5657566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5933" y="6084465"/>
            <a:ext cx="3433337" cy="408409"/>
          </a:xfrm>
          <a:prstGeom prst="rect">
            <a:avLst/>
          </a:prstGeom>
        </p:spPr>
      </p:pic>
      <p:sp>
        <p:nvSpPr>
          <p:cNvPr id="15" name="Title 1">
            <a:extLst>
              <a:ext uri="{FF2B5EF4-FFF2-40B4-BE49-F238E27FC236}">
                <a16:creationId xmlns:a16="http://schemas.microsoft.com/office/drawing/2014/main" id="{D8F50DCB-327E-AA1F-2CA3-7E975EAE5100}"/>
              </a:ext>
            </a:extLst>
          </p:cNvPr>
          <p:cNvSpPr>
            <a:spLocks noGrp="1"/>
          </p:cNvSpPr>
          <p:nvPr>
            <p:ph type="title" hasCustomPrompt="1"/>
          </p:nvPr>
        </p:nvSpPr>
        <p:spPr>
          <a:xfrm>
            <a:off x="426719" y="365126"/>
            <a:ext cx="8882038" cy="911734"/>
          </a:xfrm>
        </p:spPr>
        <p:txBody>
          <a:bodyPr anchor="t"/>
          <a:lstStyle>
            <a:lvl1pPr>
              <a:defRPr sz="6000">
                <a:solidFill>
                  <a:schemeClr val="tx1"/>
                </a:solidFill>
              </a:defRPr>
            </a:lvl1pPr>
          </a:lstStyle>
          <a:p>
            <a:r>
              <a:rPr lang="en-US"/>
              <a:t>Learn More</a:t>
            </a:r>
          </a:p>
        </p:txBody>
      </p:sp>
      <p:cxnSp>
        <p:nvCxnSpPr>
          <p:cNvPr id="17" name="Straight Connector 16">
            <a:extLst>
              <a:ext uri="{FF2B5EF4-FFF2-40B4-BE49-F238E27FC236}">
                <a16:creationId xmlns:a16="http://schemas.microsoft.com/office/drawing/2014/main" id="{6B24DF2C-35CA-035B-4988-17525EC9B84E}"/>
              </a:ext>
              <a:ext uri="{C183D7F6-B498-43B3-948B-1728B52AA6E4}">
                <adec:decorative xmlns:adec="http://schemas.microsoft.com/office/drawing/2017/decorative" val="1"/>
              </a:ext>
            </a:extLst>
          </p:cNvPr>
          <p:cNvCxnSpPr>
            <a:cxnSpLocks/>
          </p:cNvCxnSpPr>
          <p:nvPr userDrawn="1"/>
        </p:nvCxnSpPr>
        <p:spPr>
          <a:xfrm flipH="1">
            <a:off x="426719" y="1375716"/>
            <a:ext cx="8882038"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E5A99896-ABED-F40A-954E-6508C62C9D59}"/>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42273" y="276191"/>
            <a:ext cx="2175344" cy="6290864"/>
          </a:xfrm>
          <a:prstGeom prst="rect">
            <a:avLst/>
          </a:prstGeom>
        </p:spPr>
      </p:pic>
      <p:sp>
        <p:nvSpPr>
          <p:cNvPr id="11" name="Text Placeholder 7">
            <a:extLst>
              <a:ext uri="{FF2B5EF4-FFF2-40B4-BE49-F238E27FC236}">
                <a16:creationId xmlns:a16="http://schemas.microsoft.com/office/drawing/2014/main" id="{43B63CFC-CF8F-F3E4-9861-53BF4EBE8B2F}"/>
              </a:ext>
            </a:extLst>
          </p:cNvPr>
          <p:cNvSpPr>
            <a:spLocks noGrp="1"/>
          </p:cNvSpPr>
          <p:nvPr>
            <p:ph type="body" sz="quarter" idx="11" hasCustomPrompt="1"/>
          </p:nvPr>
        </p:nvSpPr>
        <p:spPr>
          <a:xfrm>
            <a:off x="1644950" y="1855605"/>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1" name="Text Placeholder 7">
            <a:extLst>
              <a:ext uri="{FF2B5EF4-FFF2-40B4-BE49-F238E27FC236}">
                <a16:creationId xmlns:a16="http://schemas.microsoft.com/office/drawing/2014/main" id="{A37A2EA4-6881-8146-5045-8B6F575E96F6}"/>
              </a:ext>
            </a:extLst>
          </p:cNvPr>
          <p:cNvSpPr>
            <a:spLocks noGrp="1"/>
          </p:cNvSpPr>
          <p:nvPr>
            <p:ph type="body" sz="quarter" idx="12" hasCustomPrompt="1"/>
          </p:nvPr>
        </p:nvSpPr>
        <p:spPr>
          <a:xfrm>
            <a:off x="1644950" y="2365162"/>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
        <p:nvSpPr>
          <p:cNvPr id="22" name="Text Placeholder 7">
            <a:extLst>
              <a:ext uri="{FF2B5EF4-FFF2-40B4-BE49-F238E27FC236}">
                <a16:creationId xmlns:a16="http://schemas.microsoft.com/office/drawing/2014/main" id="{95034A75-F80E-2B0B-9F84-B5B09F71EA33}"/>
              </a:ext>
            </a:extLst>
          </p:cNvPr>
          <p:cNvSpPr>
            <a:spLocks noGrp="1"/>
          </p:cNvSpPr>
          <p:nvPr>
            <p:ph type="body" sz="quarter" idx="13" hasCustomPrompt="1"/>
          </p:nvPr>
        </p:nvSpPr>
        <p:spPr>
          <a:xfrm>
            <a:off x="1644950" y="3247799"/>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4" name="Text Placeholder 7">
            <a:extLst>
              <a:ext uri="{FF2B5EF4-FFF2-40B4-BE49-F238E27FC236}">
                <a16:creationId xmlns:a16="http://schemas.microsoft.com/office/drawing/2014/main" id="{F31FE3FB-2D32-B375-8EF6-BA9FF1386476}"/>
              </a:ext>
            </a:extLst>
          </p:cNvPr>
          <p:cNvSpPr>
            <a:spLocks noGrp="1"/>
          </p:cNvSpPr>
          <p:nvPr>
            <p:ph type="body" sz="quarter" idx="14" hasCustomPrompt="1"/>
          </p:nvPr>
        </p:nvSpPr>
        <p:spPr>
          <a:xfrm>
            <a:off x="1644950" y="3757356"/>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
        <p:nvSpPr>
          <p:cNvPr id="25" name="Text Placeholder 7">
            <a:extLst>
              <a:ext uri="{FF2B5EF4-FFF2-40B4-BE49-F238E27FC236}">
                <a16:creationId xmlns:a16="http://schemas.microsoft.com/office/drawing/2014/main" id="{FD921CF7-CEA6-E75B-BDF6-91C632E55FA6}"/>
              </a:ext>
            </a:extLst>
          </p:cNvPr>
          <p:cNvSpPr>
            <a:spLocks noGrp="1"/>
          </p:cNvSpPr>
          <p:nvPr>
            <p:ph type="body" sz="quarter" idx="15" hasCustomPrompt="1"/>
          </p:nvPr>
        </p:nvSpPr>
        <p:spPr>
          <a:xfrm>
            <a:off x="1644950" y="4598804"/>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7" name="Text Placeholder 7">
            <a:extLst>
              <a:ext uri="{FF2B5EF4-FFF2-40B4-BE49-F238E27FC236}">
                <a16:creationId xmlns:a16="http://schemas.microsoft.com/office/drawing/2014/main" id="{F11E9E85-CC92-1769-66C8-BA50B2C22357}"/>
              </a:ext>
            </a:extLst>
          </p:cNvPr>
          <p:cNvSpPr>
            <a:spLocks noGrp="1"/>
          </p:cNvSpPr>
          <p:nvPr>
            <p:ph type="body" sz="quarter" idx="16" hasCustomPrompt="1"/>
          </p:nvPr>
        </p:nvSpPr>
        <p:spPr>
          <a:xfrm>
            <a:off x="1644950" y="5108361"/>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Tree>
    <p:extLst>
      <p:ext uri="{BB962C8B-B14F-4D97-AF65-F5344CB8AC3E}">
        <p14:creationId xmlns:p14="http://schemas.microsoft.com/office/powerpoint/2010/main" val="204778104"/>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Blank with footer">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EEBA567-2CA1-9149-A4FA-3797D5217A39}"/>
              </a:ext>
            </a:extLst>
          </p:cNvPr>
          <p:cNvPicPr>
            <a:picLocks noChangeAspect="1"/>
          </p:cNvPicPr>
          <p:nvPr userDrawn="1"/>
        </p:nvPicPr>
        <p:blipFill>
          <a:blip r:embed="rId2"/>
          <a:stretch>
            <a:fillRect/>
          </a:stretch>
        </p:blipFill>
        <p:spPr>
          <a:xfrm>
            <a:off x="837866" y="6355080"/>
            <a:ext cx="2304589" cy="274320"/>
          </a:xfrm>
          <a:prstGeom prst="rect">
            <a:avLst/>
          </a:prstGeom>
        </p:spPr>
      </p:pic>
      <p:sp>
        <p:nvSpPr>
          <p:cNvPr id="2" name="Footer Placeholder 1">
            <a:extLst>
              <a:ext uri="{FF2B5EF4-FFF2-40B4-BE49-F238E27FC236}">
                <a16:creationId xmlns:a16="http://schemas.microsoft.com/office/drawing/2014/main" id="{5E0E9048-E61C-2D4B-A9B5-9E342B77CE30}"/>
              </a:ext>
            </a:extLst>
          </p:cNvPr>
          <p:cNvSpPr>
            <a:spLocks noGrp="1"/>
          </p:cNvSpPr>
          <p:nvPr>
            <p:ph type="ftr" sz="quarter" idx="10"/>
          </p:nvPr>
        </p:nvSpPr>
        <p:spPr/>
        <p:txBody>
          <a:bodyPr/>
          <a:lstStyle/>
          <a:p>
            <a:r>
              <a:rPr lang="en-US" dirty="0"/>
              <a:t>Quarterly Review DD MMM 2021</a:t>
            </a:r>
          </a:p>
        </p:txBody>
      </p:sp>
      <p:sp>
        <p:nvSpPr>
          <p:cNvPr id="3" name="Slide Number Placeholder 2">
            <a:extLst>
              <a:ext uri="{FF2B5EF4-FFF2-40B4-BE49-F238E27FC236}">
                <a16:creationId xmlns:a16="http://schemas.microsoft.com/office/drawing/2014/main" id="{B1C77572-BC64-1D40-B7BA-DCE425BFF4FE}"/>
              </a:ext>
            </a:extLst>
          </p:cNvPr>
          <p:cNvSpPr>
            <a:spLocks noGrp="1"/>
          </p:cNvSpPr>
          <p:nvPr>
            <p:ph type="sldNum" sz="quarter" idx="11"/>
          </p:nvPr>
        </p:nvSpPr>
        <p:spPr/>
        <p:txBody>
          <a:bodyPr/>
          <a:lstStyle/>
          <a:p>
            <a:pPr algn="ctr"/>
            <a:fld id="{C3780821-FBE7-474D-AA67-5368075B1843}" type="slidenum">
              <a:rPr lang="en-US" smtClean="0"/>
              <a:pPr algn="ctr"/>
              <a:t>‹#›</a:t>
            </a:fld>
            <a:endParaRPr lang="en-US" dirty="0"/>
          </a:p>
        </p:txBody>
      </p:sp>
    </p:spTree>
    <p:extLst>
      <p:ext uri="{BB962C8B-B14F-4D97-AF65-F5344CB8AC3E}">
        <p14:creationId xmlns:p14="http://schemas.microsoft.com/office/powerpoint/2010/main" val="3272891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Plain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9" name="Content Placeholder 8"/>
          <p:cNvSpPr>
            <a:spLocks noGrp="1"/>
          </p:cNvSpPr>
          <p:nvPr>
            <p:ph sz="quarter" idx="10"/>
          </p:nvPr>
        </p:nvSpPr>
        <p:spPr>
          <a:xfrm>
            <a:off x="838200" y="1828800"/>
            <a:ext cx="10515600" cy="4191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BEEBA567-2CA1-9149-A4FA-3797D5217A39}"/>
              </a:ext>
            </a:extLst>
          </p:cNvPr>
          <p:cNvPicPr>
            <a:picLocks noChangeAspect="1"/>
          </p:cNvPicPr>
          <p:nvPr userDrawn="1"/>
        </p:nvPicPr>
        <p:blipFill>
          <a:blip r:embed="rId2"/>
          <a:stretch>
            <a:fillRect/>
          </a:stretch>
        </p:blipFill>
        <p:spPr>
          <a:xfrm>
            <a:off x="837867" y="6355080"/>
            <a:ext cx="2304589" cy="274320"/>
          </a:xfrm>
          <a:prstGeom prst="rect">
            <a:avLst/>
          </a:prstGeom>
        </p:spPr>
      </p:pic>
    </p:spTree>
    <p:extLst>
      <p:ext uri="{BB962C8B-B14F-4D97-AF65-F5344CB8AC3E}">
        <p14:creationId xmlns:p14="http://schemas.microsoft.com/office/powerpoint/2010/main" val="41093320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720" y="365125"/>
            <a:ext cx="10515600" cy="1325563"/>
          </a:xfrm>
          <a:prstGeom prst="rect">
            <a:avLst/>
          </a:prstGeom>
        </p:spPr>
        <p:txBody>
          <a:bodyPr vert="horz" lIns="0" tIns="0" rIns="0" bIns="0" rtlCol="0" anchor="t">
            <a:noAutofit/>
          </a:bodyPr>
          <a:lstStyle/>
          <a:p>
            <a:r>
              <a:rPr lang="en-US"/>
              <a:t>Title in Helvetica Regular</a:t>
            </a:r>
          </a:p>
        </p:txBody>
      </p:sp>
      <p:sp>
        <p:nvSpPr>
          <p:cNvPr id="6" name="Text Placeholder 2">
            <a:extLst>
              <a:ext uri="{FF2B5EF4-FFF2-40B4-BE49-F238E27FC236}">
                <a16:creationId xmlns:a16="http://schemas.microsoft.com/office/drawing/2014/main" id="{90522F4F-1024-0CE0-BD94-84E3CA33B516}"/>
              </a:ext>
            </a:extLst>
          </p:cNvPr>
          <p:cNvSpPr>
            <a:spLocks noGrp="1"/>
          </p:cNvSpPr>
          <p:nvPr>
            <p:ph type="body" idx="1"/>
          </p:nvPr>
        </p:nvSpPr>
        <p:spPr>
          <a:xfrm>
            <a:off x="426720" y="1825625"/>
            <a:ext cx="10515600" cy="4351338"/>
          </a:xfrm>
          <a:prstGeom prst="rect">
            <a:avLst/>
          </a:prstGeom>
        </p:spPr>
        <p:txBody>
          <a:bodyPr vert="horz" lIns="0" tIns="0" rIns="0" bIns="0" rtlCol="0">
            <a:noAutofit/>
          </a:bodyPr>
          <a:lstStyle/>
          <a:p>
            <a:pPr lvl="0"/>
            <a:r>
              <a:rPr lang="en-US"/>
              <a:t>Click to edit Master text styles</a:t>
            </a:r>
          </a:p>
          <a:p>
            <a:pPr lvl="1"/>
            <a:r>
              <a:rPr lang="en-US"/>
              <a:t>Bullet style</a:t>
            </a:r>
          </a:p>
          <a:p>
            <a:pPr lvl="1"/>
            <a:endParaRPr lang="en-US"/>
          </a:p>
        </p:txBody>
      </p:sp>
    </p:spTree>
    <p:extLst>
      <p:ext uri="{BB962C8B-B14F-4D97-AF65-F5344CB8AC3E}">
        <p14:creationId xmlns:p14="http://schemas.microsoft.com/office/powerpoint/2010/main" val="1233805520"/>
      </p:ext>
    </p:extLst>
  </p:cSld>
  <p:clrMap bg1="lt1" tx1="dk1" bg2="lt2" tx2="dk2" accent1="accent1" accent2="accent2" accent3="accent3" accent4="accent4" accent5="accent5" accent6="accent6" hlink="hlink" folHlink="folHlink"/>
  <p:sldLayoutIdLst>
    <p:sldLayoutId id="2147483662" r:id="rId1"/>
    <p:sldLayoutId id="2147483682" r:id="rId2"/>
    <p:sldLayoutId id="2147483675" r:id="rId3"/>
    <p:sldLayoutId id="2147483674" r:id="rId4"/>
    <p:sldLayoutId id="2147483676" r:id="rId5"/>
    <p:sldLayoutId id="2147483663" r:id="rId6"/>
    <p:sldLayoutId id="2147483677" r:id="rId7"/>
    <p:sldLayoutId id="2147483679" r:id="rId8"/>
    <p:sldLayoutId id="2147483678" r:id="rId9"/>
    <p:sldLayoutId id="2147483667" r:id="rId10"/>
    <p:sldLayoutId id="2147483680" r:id="rId11"/>
    <p:sldLayoutId id="2147483681" r:id="rId12"/>
    <p:sldLayoutId id="2147483683" r:id="rId13"/>
    <p:sldLayoutId id="2147483684" r:id="rId14"/>
  </p:sldLayoutIdLst>
  <p:hf hdr="0" ftr="0" dt="0"/>
  <p:txStyles>
    <p:titleStyle>
      <a:lvl1pPr algn="l" defTabSz="914400" rtl="0" eaLnBrk="1" latinLnBrk="0" hangingPunct="1">
        <a:lnSpc>
          <a:spcPct val="100000"/>
        </a:lnSpc>
        <a:spcBef>
          <a:spcPct val="0"/>
        </a:spcBef>
        <a:buNone/>
        <a:defRPr sz="4400" kern="1200">
          <a:solidFill>
            <a:srgbClr val="112E51"/>
          </a:solidFill>
          <a:latin typeface="Helvetica" charset="0"/>
          <a:ea typeface="Helvetica" charset="0"/>
          <a:cs typeface="Helvetica" charset="0"/>
        </a:defRPr>
      </a:lvl1pPr>
    </p:titleStyle>
    <p:bodyStyle>
      <a:lvl1pPr marL="0" indent="0" algn="l" defTabSz="914400" rtl="0" eaLnBrk="1" latinLnBrk="0" hangingPunct="1">
        <a:lnSpc>
          <a:spcPct val="100000"/>
        </a:lnSpc>
        <a:spcBef>
          <a:spcPts val="1000"/>
        </a:spcBef>
        <a:spcAft>
          <a:spcPts val="900"/>
        </a:spcAft>
        <a:buClr>
          <a:schemeClr val="accent1"/>
        </a:buClr>
        <a:buSzPct val="85000"/>
        <a:buFont typeface="Arial" panose="020B0604020202020204" pitchFamily="34" charset="0"/>
        <a:buNone/>
        <a:defRPr sz="3000" b="0" kern="1200">
          <a:solidFill>
            <a:schemeClr val="tx1"/>
          </a:solidFill>
          <a:latin typeface="Helvetica" charset="0"/>
          <a:ea typeface="Helvetica" charset="0"/>
          <a:cs typeface="Helvetica" charset="0"/>
        </a:defRPr>
      </a:lvl1pPr>
      <a:lvl2pPr marL="800100" indent="-342900" algn="l" defTabSz="914400" rtl="0" eaLnBrk="1" latinLnBrk="0" hangingPunct="1">
        <a:lnSpc>
          <a:spcPct val="100000"/>
        </a:lnSpc>
        <a:spcBef>
          <a:spcPts val="500"/>
        </a:spcBef>
        <a:spcAft>
          <a:spcPts val="900"/>
        </a:spcAft>
        <a:buClr>
          <a:schemeClr val="accent1"/>
        </a:buClr>
        <a:buSzPct val="85000"/>
        <a:buFont typeface="Arial" panose="020B0604020202020204" pitchFamily="34" charset="0"/>
        <a:buChar char="•"/>
        <a:defRPr sz="30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hyperlink" Target="https://www.ncbi.nlm.nih.gov/pathogens/"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5D8FF-BA3C-AD83-94A7-05A0DCB26570}"/>
              </a:ext>
            </a:extLst>
          </p:cNvPr>
          <p:cNvSpPr>
            <a:spLocks noGrp="1"/>
          </p:cNvSpPr>
          <p:nvPr>
            <p:ph type="title"/>
          </p:nvPr>
        </p:nvSpPr>
        <p:spPr>
          <a:xfrm>
            <a:off x="426720" y="365126"/>
            <a:ext cx="9430344" cy="1683116"/>
          </a:xfrm>
        </p:spPr>
        <p:txBody>
          <a:bodyPr/>
          <a:lstStyle/>
          <a:p>
            <a:r>
              <a:rPr lang="en-US" dirty="0"/>
              <a:t>ASM BIG 2026 NCBI Workshop</a:t>
            </a:r>
            <a:br>
              <a:rPr lang="en-US" dirty="0"/>
            </a:br>
            <a:r>
              <a:rPr lang="en-US" dirty="0"/>
              <a:t>NCBI Pathogen Detection</a:t>
            </a:r>
          </a:p>
        </p:txBody>
      </p:sp>
      <p:sp>
        <p:nvSpPr>
          <p:cNvPr id="3" name="Text Placeholder 2">
            <a:extLst>
              <a:ext uri="{FF2B5EF4-FFF2-40B4-BE49-F238E27FC236}">
                <a16:creationId xmlns:a16="http://schemas.microsoft.com/office/drawing/2014/main" id="{AA1B7D85-FF5C-A1F9-5102-A1369F502494}"/>
              </a:ext>
            </a:extLst>
          </p:cNvPr>
          <p:cNvSpPr>
            <a:spLocks noGrp="1"/>
          </p:cNvSpPr>
          <p:nvPr>
            <p:ph type="body" sz="quarter" idx="4294967295"/>
          </p:nvPr>
        </p:nvSpPr>
        <p:spPr>
          <a:xfrm>
            <a:off x="427038" y="2230438"/>
            <a:ext cx="6946900" cy="1928203"/>
          </a:xfrm>
        </p:spPr>
        <p:txBody>
          <a:bodyPr>
            <a:normAutofit/>
          </a:bodyPr>
          <a:lstStyle/>
          <a:p>
            <a:pPr marL="0" indent="0">
              <a:buNone/>
            </a:pPr>
            <a:r>
              <a:rPr lang="en-US" dirty="0"/>
              <a:t>Arjun Prasad</a:t>
            </a:r>
            <a:br>
              <a:rPr lang="en-US" dirty="0"/>
            </a:br>
            <a:r>
              <a:rPr lang="en-US" sz="2800" dirty="0"/>
              <a:t>October 11, 2026</a:t>
            </a:r>
            <a:endParaRPr lang="en-US" dirty="0"/>
          </a:p>
        </p:txBody>
      </p:sp>
    </p:spTree>
    <p:extLst>
      <p:ext uri="{BB962C8B-B14F-4D97-AF65-F5344CB8AC3E}">
        <p14:creationId xmlns:p14="http://schemas.microsoft.com/office/powerpoint/2010/main" val="1459050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EAFAF836-792F-4FEE-9722-6B817A259CD9}"/>
              </a:ext>
            </a:extLst>
          </p:cNvPr>
          <p:cNvGrpSpPr/>
          <p:nvPr/>
        </p:nvGrpSpPr>
        <p:grpSpPr>
          <a:xfrm>
            <a:off x="237818" y="393825"/>
            <a:ext cx="10748671" cy="5879138"/>
            <a:chOff x="612161" y="51597"/>
            <a:chExt cx="11870573" cy="6827807"/>
          </a:xfrm>
        </p:grpSpPr>
        <p:sp>
          <p:nvSpPr>
            <p:cNvPr id="5" name="TextBox 4">
              <a:extLst>
                <a:ext uri="{FF2B5EF4-FFF2-40B4-BE49-F238E27FC236}">
                  <a16:creationId xmlns:a16="http://schemas.microsoft.com/office/drawing/2014/main" id="{55BAF201-C3B1-497C-800B-CC28A285FA32}"/>
                </a:ext>
              </a:extLst>
            </p:cNvPr>
            <p:cNvSpPr txBox="1"/>
            <p:nvPr/>
          </p:nvSpPr>
          <p:spPr>
            <a:xfrm>
              <a:off x="2920689" y="51597"/>
              <a:ext cx="5714941" cy="536160"/>
            </a:xfrm>
            <a:prstGeom prst="rect">
              <a:avLst/>
            </a:prstGeom>
            <a:noFill/>
          </p:spPr>
          <p:txBody>
            <a:bodyPr wrap="none" rtlCol="0">
              <a:spAutoFit/>
            </a:bodyPr>
            <a:lstStyle/>
            <a:p>
              <a:r>
                <a:rPr lang="en-US" sz="2400" b="1" dirty="0">
                  <a:latin typeface="Arial" panose="020B0604020202020204" pitchFamily="34" charset="0"/>
                  <a:cs typeface="Arial" panose="020B0604020202020204" pitchFamily="34" charset="0"/>
                </a:rPr>
                <a:t>NCBI Pathogen Detection Pipeline</a:t>
              </a:r>
            </a:p>
          </p:txBody>
        </p:sp>
        <p:grpSp>
          <p:nvGrpSpPr>
            <p:cNvPr id="6" name="Group 5">
              <a:extLst>
                <a:ext uri="{FF2B5EF4-FFF2-40B4-BE49-F238E27FC236}">
                  <a16:creationId xmlns:a16="http://schemas.microsoft.com/office/drawing/2014/main" id="{A9DF2845-5844-4876-8D88-74D64329490A}"/>
                </a:ext>
              </a:extLst>
            </p:cNvPr>
            <p:cNvGrpSpPr/>
            <p:nvPr/>
          </p:nvGrpSpPr>
          <p:grpSpPr>
            <a:xfrm>
              <a:off x="612161" y="702308"/>
              <a:ext cx="11870573" cy="6177096"/>
              <a:chOff x="37892" y="43236"/>
              <a:chExt cx="12444842" cy="6856111"/>
            </a:xfrm>
          </p:grpSpPr>
          <p:sp>
            <p:nvSpPr>
              <p:cNvPr id="7" name="Rounded Rectangle 111">
                <a:extLst>
                  <a:ext uri="{FF2B5EF4-FFF2-40B4-BE49-F238E27FC236}">
                    <a16:creationId xmlns:a16="http://schemas.microsoft.com/office/drawing/2014/main" id="{7C49B8FA-86B1-485A-A8FE-850E4DB20BE5}"/>
                  </a:ext>
                </a:extLst>
              </p:cNvPr>
              <p:cNvSpPr/>
              <p:nvPr/>
            </p:nvSpPr>
            <p:spPr>
              <a:xfrm>
                <a:off x="6660806" y="43236"/>
                <a:ext cx="5821928" cy="6586163"/>
              </a:xfrm>
              <a:prstGeom prst="roundRect">
                <a:avLst/>
              </a:prstGeom>
              <a:solidFill>
                <a:schemeClr val="accent1">
                  <a:alpha val="12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A3BD6DA-5F77-42D4-886C-8DADED01CA42}"/>
                  </a:ext>
                </a:extLst>
              </p:cNvPr>
              <p:cNvSpPr/>
              <p:nvPr/>
            </p:nvSpPr>
            <p:spPr>
              <a:xfrm>
                <a:off x="6170556" y="993069"/>
                <a:ext cx="994117" cy="4816990"/>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AE2C7ED7-3775-405D-B668-631EE3DF1E34}"/>
                  </a:ext>
                </a:extLst>
              </p:cNvPr>
              <p:cNvGrpSpPr/>
              <p:nvPr/>
            </p:nvGrpSpPr>
            <p:grpSpPr>
              <a:xfrm>
                <a:off x="2217556" y="1608978"/>
                <a:ext cx="3985559" cy="817256"/>
                <a:chOff x="2235135" y="2972082"/>
                <a:chExt cx="3985559" cy="817256"/>
              </a:xfrm>
            </p:grpSpPr>
            <p:sp>
              <p:nvSpPr>
                <p:cNvPr id="49" name="Rounded Rectangle 19">
                  <a:extLst>
                    <a:ext uri="{FF2B5EF4-FFF2-40B4-BE49-F238E27FC236}">
                      <a16:creationId xmlns:a16="http://schemas.microsoft.com/office/drawing/2014/main" id="{99F0D0E2-9D09-43AD-931C-A523397DA34D}"/>
                    </a:ext>
                  </a:extLst>
                </p:cNvPr>
                <p:cNvSpPr/>
                <p:nvPr/>
              </p:nvSpPr>
              <p:spPr>
                <a:xfrm>
                  <a:off x="2235135" y="2972082"/>
                  <a:ext cx="1233058" cy="817256"/>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grpSp>
              <p:nvGrpSpPr>
                <p:cNvPr id="50" name="Group 49">
                  <a:extLst>
                    <a:ext uri="{FF2B5EF4-FFF2-40B4-BE49-F238E27FC236}">
                      <a16:creationId xmlns:a16="http://schemas.microsoft.com/office/drawing/2014/main" id="{4AF82B7C-F11A-4FE3-8676-823105A215BA}"/>
                    </a:ext>
                  </a:extLst>
                </p:cNvPr>
                <p:cNvGrpSpPr/>
                <p:nvPr/>
              </p:nvGrpSpPr>
              <p:grpSpPr>
                <a:xfrm>
                  <a:off x="2348757" y="3095596"/>
                  <a:ext cx="3871937" cy="573422"/>
                  <a:chOff x="2348757" y="3095596"/>
                  <a:chExt cx="3871937" cy="573422"/>
                </a:xfrm>
              </p:grpSpPr>
              <p:pic>
                <p:nvPicPr>
                  <p:cNvPr id="51" name="Picture 50">
                    <a:extLst>
                      <a:ext uri="{FF2B5EF4-FFF2-40B4-BE49-F238E27FC236}">
                        <a16:creationId xmlns:a16="http://schemas.microsoft.com/office/drawing/2014/main" id="{01327326-D949-40D2-8E5A-07659FDE76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8757" y="3095596"/>
                    <a:ext cx="969356" cy="573422"/>
                  </a:xfrm>
                  <a:prstGeom prst="rect">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lin ang="0" scaled="1"/>
                    <a:tileRect/>
                  </a:gradFill>
                </p:spPr>
              </p:pic>
              <p:cxnSp>
                <p:nvCxnSpPr>
                  <p:cNvPr id="52" name="Straight Arrow Connector 51">
                    <a:extLst>
                      <a:ext uri="{FF2B5EF4-FFF2-40B4-BE49-F238E27FC236}">
                        <a16:creationId xmlns:a16="http://schemas.microsoft.com/office/drawing/2014/main" id="{57D150D4-16F2-4FC6-A2D1-00CCE7A4AA6E}"/>
                      </a:ext>
                    </a:extLst>
                  </p:cNvPr>
                  <p:cNvCxnSpPr>
                    <a:cxnSpLocks/>
                    <a:stCxn id="49" idx="3"/>
                  </p:cNvCxnSpPr>
                  <p:nvPr/>
                </p:nvCxnSpPr>
                <p:spPr>
                  <a:xfrm>
                    <a:off x="3468193" y="3380711"/>
                    <a:ext cx="2752501" cy="0"/>
                  </a:xfrm>
                  <a:prstGeom prst="straightConnector1">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0" name="Group 9">
                <a:extLst>
                  <a:ext uri="{FF2B5EF4-FFF2-40B4-BE49-F238E27FC236}">
                    <a16:creationId xmlns:a16="http://schemas.microsoft.com/office/drawing/2014/main" id="{6ECC8670-21F3-430E-B1BE-679A9B70EC1B}"/>
                  </a:ext>
                </a:extLst>
              </p:cNvPr>
              <p:cNvGrpSpPr/>
              <p:nvPr/>
            </p:nvGrpSpPr>
            <p:grpSpPr>
              <a:xfrm>
                <a:off x="2217556" y="731319"/>
                <a:ext cx="4018462" cy="751026"/>
                <a:chOff x="2217556" y="731319"/>
                <a:chExt cx="4018462" cy="751026"/>
              </a:xfrm>
            </p:grpSpPr>
            <p:sp>
              <p:nvSpPr>
                <p:cNvPr id="46" name="Rounded Rectangle 28">
                  <a:extLst>
                    <a:ext uri="{FF2B5EF4-FFF2-40B4-BE49-F238E27FC236}">
                      <a16:creationId xmlns:a16="http://schemas.microsoft.com/office/drawing/2014/main" id="{8743CCDE-93D6-474E-AC37-4B89B267A1A8}"/>
                    </a:ext>
                  </a:extLst>
                </p:cNvPr>
                <p:cNvSpPr/>
                <p:nvPr/>
              </p:nvSpPr>
              <p:spPr>
                <a:xfrm>
                  <a:off x="2217556" y="731319"/>
                  <a:ext cx="1233059" cy="751026"/>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pic>
              <p:nvPicPr>
                <p:cNvPr id="47" name="Picture 46">
                  <a:extLst>
                    <a:ext uri="{FF2B5EF4-FFF2-40B4-BE49-F238E27FC236}">
                      <a16:creationId xmlns:a16="http://schemas.microsoft.com/office/drawing/2014/main" id="{5AAD4B44-D915-4F3C-B3B6-2EAB71DCC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64281" y="883817"/>
                  <a:ext cx="1090958" cy="484871"/>
                </a:xfrm>
                <a:prstGeom prst="rec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p:spPr>
            </p:pic>
            <p:cxnSp>
              <p:nvCxnSpPr>
                <p:cNvPr id="48" name="Straight Arrow Connector 47">
                  <a:extLst>
                    <a:ext uri="{FF2B5EF4-FFF2-40B4-BE49-F238E27FC236}">
                      <a16:creationId xmlns:a16="http://schemas.microsoft.com/office/drawing/2014/main" id="{BC1A0C07-95DA-4F30-901C-0CB8A37E5421}"/>
                    </a:ext>
                  </a:extLst>
                </p:cNvPr>
                <p:cNvCxnSpPr/>
                <p:nvPr/>
              </p:nvCxnSpPr>
              <p:spPr>
                <a:xfrm>
                  <a:off x="3450615" y="1236908"/>
                  <a:ext cx="2785403" cy="0"/>
                </a:xfrm>
                <a:prstGeom prst="straightConnector1">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CC0AC917-A1E4-46C9-8102-95EBF33BC349}"/>
                  </a:ext>
                </a:extLst>
              </p:cNvPr>
              <p:cNvGrpSpPr/>
              <p:nvPr/>
            </p:nvGrpSpPr>
            <p:grpSpPr>
              <a:xfrm>
                <a:off x="2209824" y="2552867"/>
                <a:ext cx="3967301" cy="691347"/>
                <a:chOff x="2235135" y="1582276"/>
                <a:chExt cx="3967301" cy="691347"/>
              </a:xfrm>
            </p:grpSpPr>
            <p:sp>
              <p:nvSpPr>
                <p:cNvPr id="44" name="Rounded Rectangle 48">
                  <a:extLst>
                    <a:ext uri="{FF2B5EF4-FFF2-40B4-BE49-F238E27FC236}">
                      <a16:creationId xmlns:a16="http://schemas.microsoft.com/office/drawing/2014/main" id="{05A15DCC-1A70-459D-9CF7-D44FCF8732D3}"/>
                    </a:ext>
                  </a:extLst>
                </p:cNvPr>
                <p:cNvSpPr/>
                <p:nvPr/>
              </p:nvSpPr>
              <p:spPr>
                <a:xfrm>
                  <a:off x="2235135" y="1582276"/>
                  <a:ext cx="1247360" cy="691347"/>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cxnSp>
              <p:nvCxnSpPr>
                <p:cNvPr id="45" name="Straight Arrow Connector 44">
                  <a:extLst>
                    <a:ext uri="{FF2B5EF4-FFF2-40B4-BE49-F238E27FC236}">
                      <a16:creationId xmlns:a16="http://schemas.microsoft.com/office/drawing/2014/main" id="{54340804-593C-4B2D-9ACF-E82283572130}"/>
                    </a:ext>
                  </a:extLst>
                </p:cNvPr>
                <p:cNvCxnSpPr>
                  <a:stCxn id="44" idx="3"/>
                </p:cNvCxnSpPr>
                <p:nvPr/>
              </p:nvCxnSpPr>
              <p:spPr>
                <a:xfrm flipV="1">
                  <a:off x="3482495" y="1927514"/>
                  <a:ext cx="2719941" cy="436"/>
                </a:xfrm>
                <a:prstGeom prst="straightConnector1">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F0E450D-579B-495C-B45F-673681173FD6}"/>
                  </a:ext>
                </a:extLst>
              </p:cNvPr>
              <p:cNvGrpSpPr/>
              <p:nvPr/>
            </p:nvGrpSpPr>
            <p:grpSpPr>
              <a:xfrm>
                <a:off x="1776588" y="5232993"/>
                <a:ext cx="4424966" cy="560138"/>
                <a:chOff x="1406933" y="1035418"/>
                <a:chExt cx="4818744" cy="560138"/>
              </a:xfrm>
              <a:gradFill flip="none" rotWithShape="1">
                <a:gsLst>
                  <a:gs pos="100000">
                    <a:schemeClr val="accent1">
                      <a:lumMod val="0"/>
                      <a:lumOff val="100000"/>
                    </a:schemeClr>
                  </a:gs>
                  <a:gs pos="100000">
                    <a:schemeClr val="accent1">
                      <a:lumMod val="0"/>
                      <a:lumOff val="100000"/>
                    </a:schemeClr>
                  </a:gs>
                  <a:gs pos="0">
                    <a:schemeClr val="accent1">
                      <a:lumMod val="100000"/>
                    </a:schemeClr>
                  </a:gs>
                </a:gsLst>
                <a:lin ang="0" scaled="1"/>
                <a:tileRect/>
              </a:gradFill>
            </p:grpSpPr>
            <p:sp>
              <p:nvSpPr>
                <p:cNvPr id="42" name="Rounded Rectangle 67">
                  <a:extLst>
                    <a:ext uri="{FF2B5EF4-FFF2-40B4-BE49-F238E27FC236}">
                      <a16:creationId xmlns:a16="http://schemas.microsoft.com/office/drawing/2014/main" id="{6EE34B47-8B8B-4153-AD05-75E152A5E004}"/>
                    </a:ext>
                  </a:extLst>
                </p:cNvPr>
                <p:cNvSpPr/>
                <p:nvPr/>
              </p:nvSpPr>
              <p:spPr>
                <a:xfrm>
                  <a:off x="1406933" y="1035418"/>
                  <a:ext cx="1856755" cy="560138"/>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Arial" panose="020B0604020202020204" pitchFamily="34" charset="0"/>
                      <a:cs typeface="Arial" panose="020B0604020202020204" pitchFamily="34" charset="0"/>
                    </a:rPr>
                    <a:t>Clinical sources</a:t>
                  </a:r>
                </a:p>
              </p:txBody>
            </p:sp>
            <p:cxnSp>
              <p:nvCxnSpPr>
                <p:cNvPr id="43" name="Straight Arrow Connector 42">
                  <a:extLst>
                    <a:ext uri="{FF2B5EF4-FFF2-40B4-BE49-F238E27FC236}">
                      <a16:creationId xmlns:a16="http://schemas.microsoft.com/office/drawing/2014/main" id="{D892E1B3-8AF9-48E4-9031-ECFF35A7EB8F}"/>
                    </a:ext>
                  </a:extLst>
                </p:cNvPr>
                <p:cNvCxnSpPr>
                  <a:cxnSpLocks/>
                  <a:stCxn id="42" idx="3"/>
                </p:cNvCxnSpPr>
                <p:nvPr/>
              </p:nvCxnSpPr>
              <p:spPr>
                <a:xfrm>
                  <a:off x="3263688" y="1315487"/>
                  <a:ext cx="2961989" cy="1307"/>
                </a:xfrm>
                <a:prstGeom prst="straightConnector1">
                  <a:avLst/>
                </a:prstGeom>
                <a:grp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a:extLst>
                  <a:ext uri="{FF2B5EF4-FFF2-40B4-BE49-F238E27FC236}">
                    <a16:creationId xmlns:a16="http://schemas.microsoft.com/office/drawing/2014/main" id="{6168CFA7-10D6-40E9-B213-6810D5156337}"/>
                  </a:ext>
                </a:extLst>
              </p:cNvPr>
              <p:cNvSpPr txBox="1"/>
              <p:nvPr/>
            </p:nvSpPr>
            <p:spPr>
              <a:xfrm rot="16200000">
                <a:off x="5989280" y="2972970"/>
                <a:ext cx="1343515" cy="605786"/>
              </a:xfrm>
              <a:prstGeom prst="rect">
                <a:avLst/>
              </a:prstGeom>
              <a:noFill/>
            </p:spPr>
            <p:txBody>
              <a:bodyPr wrap="none" rtlCol="0">
                <a:spAutoFit/>
              </a:bodyPr>
              <a:lstStyle/>
              <a:p>
                <a:r>
                  <a:rPr lang="en-US" sz="2800" dirty="0">
                    <a:latin typeface="Arial" panose="020B0604020202020204" pitchFamily="34" charset="0"/>
                    <a:cs typeface="Arial" panose="020B0604020202020204" pitchFamily="34" charset="0"/>
                  </a:rPr>
                  <a:t>NCBI</a:t>
                </a:r>
              </a:p>
            </p:txBody>
          </p:sp>
          <p:grpSp>
            <p:nvGrpSpPr>
              <p:cNvPr id="14" name="Group 13">
                <a:extLst>
                  <a:ext uri="{FF2B5EF4-FFF2-40B4-BE49-F238E27FC236}">
                    <a16:creationId xmlns:a16="http://schemas.microsoft.com/office/drawing/2014/main" id="{3053C77D-B9D7-478E-85E1-EB2025208B5B}"/>
                  </a:ext>
                </a:extLst>
              </p:cNvPr>
              <p:cNvGrpSpPr/>
              <p:nvPr/>
            </p:nvGrpSpPr>
            <p:grpSpPr>
              <a:xfrm>
                <a:off x="7331757" y="1599805"/>
                <a:ext cx="1409230" cy="3574442"/>
                <a:chOff x="7737227" y="-46279"/>
                <a:chExt cx="1409230" cy="2800468"/>
              </a:xfrm>
              <a:solidFill>
                <a:schemeClr val="accent4">
                  <a:lumMod val="40000"/>
                  <a:lumOff val="60000"/>
                </a:schemeClr>
              </a:solidFill>
            </p:grpSpPr>
            <p:sp>
              <p:nvSpPr>
                <p:cNvPr id="38" name="Flowchart: Magnetic Disk 37">
                  <a:extLst>
                    <a:ext uri="{FF2B5EF4-FFF2-40B4-BE49-F238E27FC236}">
                      <a16:creationId xmlns:a16="http://schemas.microsoft.com/office/drawing/2014/main" id="{214ADA61-0C22-40D3-ACBE-79BFFD6E2F02}"/>
                    </a:ext>
                  </a:extLst>
                </p:cNvPr>
                <p:cNvSpPr/>
                <p:nvPr/>
              </p:nvSpPr>
              <p:spPr>
                <a:xfrm>
                  <a:off x="7737228" y="700403"/>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BioSamples</a:t>
                  </a:r>
                </a:p>
              </p:txBody>
            </p:sp>
            <p:sp>
              <p:nvSpPr>
                <p:cNvPr id="39" name="Flowchart: Magnetic Disk 38">
                  <a:extLst>
                    <a:ext uri="{FF2B5EF4-FFF2-40B4-BE49-F238E27FC236}">
                      <a16:creationId xmlns:a16="http://schemas.microsoft.com/office/drawing/2014/main" id="{E4229EE1-BF76-4833-9443-1ACB13029D0C}"/>
                    </a:ext>
                  </a:extLst>
                </p:cNvPr>
                <p:cNvSpPr/>
                <p:nvPr/>
              </p:nvSpPr>
              <p:spPr>
                <a:xfrm>
                  <a:off x="7739686" y="1447094"/>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SRA</a:t>
                  </a:r>
                </a:p>
              </p:txBody>
            </p:sp>
            <p:sp>
              <p:nvSpPr>
                <p:cNvPr id="40" name="Flowchart: Magnetic Disk 39">
                  <a:extLst>
                    <a:ext uri="{FF2B5EF4-FFF2-40B4-BE49-F238E27FC236}">
                      <a16:creationId xmlns:a16="http://schemas.microsoft.com/office/drawing/2014/main" id="{E4E1DE9D-73E3-46E7-826B-E13A3EFE8253}"/>
                    </a:ext>
                  </a:extLst>
                </p:cNvPr>
                <p:cNvSpPr/>
                <p:nvPr/>
              </p:nvSpPr>
              <p:spPr>
                <a:xfrm>
                  <a:off x="7737227" y="2193799"/>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GenBank</a:t>
                  </a:r>
                </a:p>
              </p:txBody>
            </p:sp>
            <p:sp>
              <p:nvSpPr>
                <p:cNvPr id="41" name="Flowchart: Magnetic Disk 40">
                  <a:extLst>
                    <a:ext uri="{FF2B5EF4-FFF2-40B4-BE49-F238E27FC236}">
                      <a16:creationId xmlns:a16="http://schemas.microsoft.com/office/drawing/2014/main" id="{5FC17EDE-0B89-4EB6-BF5E-8D7BAD3A321A}"/>
                    </a:ext>
                  </a:extLst>
                </p:cNvPr>
                <p:cNvSpPr/>
                <p:nvPr/>
              </p:nvSpPr>
              <p:spPr>
                <a:xfrm>
                  <a:off x="7737228" y="-46279"/>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BioProject</a:t>
                  </a:r>
                </a:p>
              </p:txBody>
            </p:sp>
          </p:grpSp>
          <p:sp>
            <p:nvSpPr>
              <p:cNvPr id="15" name="Rectangle 14">
                <a:extLst>
                  <a:ext uri="{FF2B5EF4-FFF2-40B4-BE49-F238E27FC236}">
                    <a16:creationId xmlns:a16="http://schemas.microsoft.com/office/drawing/2014/main" id="{0FF5D42F-8A38-498D-8386-B53D3BB69240}"/>
                  </a:ext>
                </a:extLst>
              </p:cNvPr>
              <p:cNvSpPr/>
              <p:nvPr/>
            </p:nvSpPr>
            <p:spPr>
              <a:xfrm>
                <a:off x="8869104" y="531828"/>
                <a:ext cx="3181256" cy="5178401"/>
              </a:xfrm>
              <a:prstGeom prst="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0BB506D0-C3C6-4BD6-A811-5CBB090FEAFC}"/>
                  </a:ext>
                </a:extLst>
              </p:cNvPr>
              <p:cNvSpPr txBox="1"/>
              <p:nvPr/>
            </p:nvSpPr>
            <p:spPr>
              <a:xfrm>
                <a:off x="9063405" y="789654"/>
                <a:ext cx="2919880" cy="453297"/>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NCBI Pathogen Pipeline</a:t>
                </a:r>
              </a:p>
            </p:txBody>
          </p:sp>
          <p:grpSp>
            <p:nvGrpSpPr>
              <p:cNvPr id="17" name="Group 16">
                <a:extLst>
                  <a:ext uri="{FF2B5EF4-FFF2-40B4-BE49-F238E27FC236}">
                    <a16:creationId xmlns:a16="http://schemas.microsoft.com/office/drawing/2014/main" id="{0CFF5CDA-88F4-4871-ADE1-04843908CCE6}"/>
                  </a:ext>
                </a:extLst>
              </p:cNvPr>
              <p:cNvGrpSpPr/>
              <p:nvPr/>
            </p:nvGrpSpPr>
            <p:grpSpPr>
              <a:xfrm>
                <a:off x="5410199" y="5697082"/>
                <a:ext cx="5113146" cy="576237"/>
                <a:chOff x="2219468" y="5680145"/>
                <a:chExt cx="8217696" cy="930205"/>
              </a:xfrm>
            </p:grpSpPr>
            <p:cxnSp>
              <p:nvCxnSpPr>
                <p:cNvPr id="36" name="Straight Connector 35">
                  <a:extLst>
                    <a:ext uri="{FF2B5EF4-FFF2-40B4-BE49-F238E27FC236}">
                      <a16:creationId xmlns:a16="http://schemas.microsoft.com/office/drawing/2014/main" id="{4DF63039-61A2-4E72-BCFF-923C35DFAED4}"/>
                    </a:ext>
                  </a:extLst>
                </p:cNvPr>
                <p:cNvCxnSpPr>
                  <a:cxnSpLocks/>
                </p:cNvCxnSpPr>
                <p:nvPr/>
              </p:nvCxnSpPr>
              <p:spPr>
                <a:xfrm>
                  <a:off x="10377053" y="5680145"/>
                  <a:ext cx="0" cy="930205"/>
                </a:xfrm>
                <a:prstGeom prst="line">
                  <a:avLst/>
                </a:prstGeom>
                <a:ln w="571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F1618E75-EC6A-4956-A651-9919730A4DAE}"/>
                    </a:ext>
                  </a:extLst>
                </p:cNvPr>
                <p:cNvCxnSpPr>
                  <a:cxnSpLocks/>
                </p:cNvCxnSpPr>
                <p:nvPr/>
              </p:nvCxnSpPr>
              <p:spPr>
                <a:xfrm flipH="1">
                  <a:off x="2219468" y="6610350"/>
                  <a:ext cx="8217696"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Flowchart: Multidocument 17">
                <a:extLst>
                  <a:ext uri="{FF2B5EF4-FFF2-40B4-BE49-F238E27FC236}">
                    <a16:creationId xmlns:a16="http://schemas.microsoft.com/office/drawing/2014/main" id="{5BCC2FD2-43AA-42B0-B0ED-38AF3D34B305}"/>
                  </a:ext>
                </a:extLst>
              </p:cNvPr>
              <p:cNvSpPr/>
              <p:nvPr/>
            </p:nvSpPr>
            <p:spPr>
              <a:xfrm>
                <a:off x="3877228" y="5939023"/>
                <a:ext cx="1527740" cy="758952"/>
              </a:xfrm>
              <a:prstGeom prst="flowChartMultidocumen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108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Arial" panose="020B0604020202020204" pitchFamily="34" charset="0"/>
                    <a:cs typeface="Arial" panose="020B0604020202020204" pitchFamily="34" charset="0"/>
                  </a:rPr>
                  <a:t>Reports</a:t>
                </a:r>
              </a:p>
            </p:txBody>
          </p:sp>
          <p:pic>
            <p:nvPicPr>
              <p:cNvPr id="19" name="Picture 18">
                <a:extLst>
                  <a:ext uri="{FF2B5EF4-FFF2-40B4-BE49-F238E27FC236}">
                    <a16:creationId xmlns:a16="http://schemas.microsoft.com/office/drawing/2014/main" id="{1A60ACDD-5B9F-453C-AADC-5B9295702D7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85156" y="480046"/>
                <a:ext cx="699972" cy="860265"/>
              </a:xfrm>
              <a:prstGeom prst="rect">
                <a:avLst/>
              </a:prstGeom>
            </p:spPr>
          </p:pic>
          <p:grpSp>
            <p:nvGrpSpPr>
              <p:cNvPr id="20" name="Group 19">
                <a:extLst>
                  <a:ext uri="{FF2B5EF4-FFF2-40B4-BE49-F238E27FC236}">
                    <a16:creationId xmlns:a16="http://schemas.microsoft.com/office/drawing/2014/main" id="{5BDDE569-6F28-4201-8435-C95027C2CFD1}"/>
                  </a:ext>
                </a:extLst>
              </p:cNvPr>
              <p:cNvGrpSpPr/>
              <p:nvPr/>
            </p:nvGrpSpPr>
            <p:grpSpPr>
              <a:xfrm>
                <a:off x="2139244" y="4310461"/>
                <a:ext cx="4083794" cy="812981"/>
                <a:chOff x="2139244" y="4246350"/>
                <a:chExt cx="4083794" cy="812981"/>
              </a:xfrm>
            </p:grpSpPr>
            <p:sp>
              <p:nvSpPr>
                <p:cNvPr id="34" name="Rounded Rectangle 54">
                  <a:extLst>
                    <a:ext uri="{FF2B5EF4-FFF2-40B4-BE49-F238E27FC236}">
                      <a16:creationId xmlns:a16="http://schemas.microsoft.com/office/drawing/2014/main" id="{C149D953-BB70-4FFA-B1B3-BB17D5969490}"/>
                    </a:ext>
                  </a:extLst>
                </p:cNvPr>
                <p:cNvSpPr/>
                <p:nvPr/>
              </p:nvSpPr>
              <p:spPr>
                <a:xfrm>
                  <a:off x="2139244" y="4246350"/>
                  <a:ext cx="1298391" cy="812981"/>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dirty="0">
                      <a:latin typeface="Arial" panose="020B0604020202020204" pitchFamily="34" charset="0"/>
                      <a:cs typeface="Arial" panose="020B0604020202020204" pitchFamily="34" charset="0"/>
                    </a:rPr>
                    <a:t>Basic </a:t>
                  </a:r>
                  <a:r>
                    <a:rPr lang="en-US" sz="1200" dirty="0">
                      <a:latin typeface="Arial" panose="020B0604020202020204" pitchFamily="34" charset="0"/>
                      <a:cs typeface="Arial" panose="020B0604020202020204" pitchFamily="34" charset="0"/>
                    </a:rPr>
                    <a:t>researchers</a:t>
                  </a:r>
                </a:p>
              </p:txBody>
            </p:sp>
            <p:cxnSp>
              <p:nvCxnSpPr>
                <p:cNvPr id="35" name="Straight Arrow Connector 34">
                  <a:extLst>
                    <a:ext uri="{FF2B5EF4-FFF2-40B4-BE49-F238E27FC236}">
                      <a16:creationId xmlns:a16="http://schemas.microsoft.com/office/drawing/2014/main" id="{64C5CDD9-438B-4330-82B0-895226F34E76}"/>
                    </a:ext>
                  </a:extLst>
                </p:cNvPr>
                <p:cNvCxnSpPr/>
                <p:nvPr/>
              </p:nvCxnSpPr>
              <p:spPr>
                <a:xfrm>
                  <a:off x="3437635" y="4653445"/>
                  <a:ext cx="2785403" cy="0"/>
                </a:xfrm>
                <a:prstGeom prst="straightConnector1">
                  <a:avLst/>
                </a:prstGeom>
                <a:gradFill flip="none" rotWithShape="1">
                  <a:gsLst>
                    <a:gs pos="0">
                      <a:schemeClr val="tx2">
                        <a:lumMod val="60000"/>
                        <a:lumOff val="40000"/>
                      </a:schemeClr>
                    </a:gs>
                    <a:gs pos="50000">
                      <a:schemeClr val="tx2">
                        <a:lumMod val="40000"/>
                        <a:lumOff val="60000"/>
                      </a:schemeClr>
                    </a:gs>
                    <a:gs pos="83000">
                      <a:schemeClr val="accent1">
                        <a:lumMod val="45000"/>
                        <a:lumOff val="55000"/>
                      </a:schemeClr>
                    </a:gs>
                    <a:gs pos="100000">
                      <a:schemeClr val="accent1">
                        <a:lumMod val="30000"/>
                        <a:lumOff val="7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62C940A8-4D77-4BEC-8BF7-F8D96C758C03}"/>
                  </a:ext>
                </a:extLst>
              </p:cNvPr>
              <p:cNvGrpSpPr/>
              <p:nvPr/>
            </p:nvGrpSpPr>
            <p:grpSpPr>
              <a:xfrm>
                <a:off x="2139244" y="3386109"/>
                <a:ext cx="4053533" cy="812981"/>
                <a:chOff x="2139244" y="3398093"/>
                <a:chExt cx="4053533" cy="812981"/>
              </a:xfrm>
            </p:grpSpPr>
            <p:sp>
              <p:nvSpPr>
                <p:cNvPr id="32" name="Rounded Rectangle 76">
                  <a:extLst>
                    <a:ext uri="{FF2B5EF4-FFF2-40B4-BE49-F238E27FC236}">
                      <a16:creationId xmlns:a16="http://schemas.microsoft.com/office/drawing/2014/main" id="{19EBCC98-43B1-4965-8572-7CA52E20CE15}"/>
                    </a:ext>
                  </a:extLst>
                </p:cNvPr>
                <p:cNvSpPr/>
                <p:nvPr/>
              </p:nvSpPr>
              <p:spPr>
                <a:xfrm>
                  <a:off x="2139244" y="3398093"/>
                  <a:ext cx="1341774" cy="812981"/>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latin typeface="Arial" panose="020B0604020202020204" pitchFamily="34" charset="0"/>
                      <a:cs typeface="Arial" panose="020B0604020202020204" pitchFamily="34" charset="0"/>
                    </a:rPr>
                    <a:t>Public Health Agencies</a:t>
                  </a:r>
                </a:p>
              </p:txBody>
            </p:sp>
            <p:cxnSp>
              <p:nvCxnSpPr>
                <p:cNvPr id="33" name="Straight Arrow Connector 32">
                  <a:extLst>
                    <a:ext uri="{FF2B5EF4-FFF2-40B4-BE49-F238E27FC236}">
                      <a16:creationId xmlns:a16="http://schemas.microsoft.com/office/drawing/2014/main" id="{C19D0FDB-3C7C-4FFE-9189-4A6E66A2CB55}"/>
                    </a:ext>
                  </a:extLst>
                </p:cNvPr>
                <p:cNvCxnSpPr/>
                <p:nvPr/>
              </p:nvCxnSpPr>
              <p:spPr>
                <a:xfrm>
                  <a:off x="3407374" y="3774058"/>
                  <a:ext cx="2785403" cy="0"/>
                </a:xfrm>
                <a:prstGeom prst="straightConnector1">
                  <a:avLst/>
                </a:prstGeom>
                <a:gradFill flip="none" rotWithShape="1">
                  <a:gsLst>
                    <a:gs pos="0">
                      <a:schemeClr val="tx2">
                        <a:lumMod val="60000"/>
                        <a:lumOff val="40000"/>
                      </a:schemeClr>
                    </a:gs>
                    <a:gs pos="50000">
                      <a:schemeClr val="tx2">
                        <a:lumMod val="40000"/>
                        <a:lumOff val="60000"/>
                      </a:schemeClr>
                    </a:gs>
                    <a:gs pos="83000">
                      <a:schemeClr val="accent1">
                        <a:lumMod val="45000"/>
                        <a:lumOff val="55000"/>
                      </a:schemeClr>
                    </a:gs>
                    <a:gs pos="100000">
                      <a:schemeClr val="accent1">
                        <a:lumMod val="30000"/>
                        <a:lumOff val="7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2" name="Straight Arrow Connector 21">
                <a:extLst>
                  <a:ext uri="{FF2B5EF4-FFF2-40B4-BE49-F238E27FC236}">
                    <a16:creationId xmlns:a16="http://schemas.microsoft.com/office/drawing/2014/main" id="{6D4834AC-E909-41F2-B3C6-EDC468BA67F4}"/>
                  </a:ext>
                </a:extLst>
              </p:cNvPr>
              <p:cNvCxnSpPr>
                <a:cxnSpLocks/>
                <a:stCxn id="18" idx="1"/>
                <a:endCxn id="24" idx="3"/>
              </p:cNvCxnSpPr>
              <p:nvPr/>
            </p:nvCxnSpPr>
            <p:spPr>
              <a:xfrm flipH="1" flipV="1">
                <a:off x="1164650" y="6273319"/>
                <a:ext cx="2712578" cy="45179"/>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EFC095B2-3D6D-43DA-B2D0-C43B1C3ACB0F}"/>
                  </a:ext>
                </a:extLst>
              </p:cNvPr>
              <p:cNvGrpSpPr/>
              <p:nvPr/>
            </p:nvGrpSpPr>
            <p:grpSpPr>
              <a:xfrm>
                <a:off x="3450615" y="1039626"/>
                <a:ext cx="821209" cy="4899398"/>
                <a:chOff x="3450615" y="1039626"/>
                <a:chExt cx="821209" cy="4899398"/>
              </a:xfrm>
            </p:grpSpPr>
            <p:cxnSp>
              <p:nvCxnSpPr>
                <p:cNvPr id="25" name="Straight Connector 24">
                  <a:extLst>
                    <a:ext uri="{FF2B5EF4-FFF2-40B4-BE49-F238E27FC236}">
                      <a16:creationId xmlns:a16="http://schemas.microsoft.com/office/drawing/2014/main" id="{9AD8538B-333D-4208-993E-B213453588F6}"/>
                    </a:ext>
                  </a:extLst>
                </p:cNvPr>
                <p:cNvCxnSpPr>
                  <a:cxnSpLocks/>
                </p:cNvCxnSpPr>
                <p:nvPr/>
              </p:nvCxnSpPr>
              <p:spPr>
                <a:xfrm flipH="1" flipV="1">
                  <a:off x="4265455" y="1039626"/>
                  <a:ext cx="6369" cy="489939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DB1429-432E-4707-9B92-9DF40FF2E990}"/>
                    </a:ext>
                  </a:extLst>
                </p:cNvPr>
                <p:cNvCxnSpPr/>
                <p:nvPr/>
              </p:nvCxnSpPr>
              <p:spPr>
                <a:xfrm flipH="1">
                  <a:off x="3481019" y="1039626"/>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ED75C60-562D-4BA3-9AE3-57D396AF2F5B}"/>
                    </a:ext>
                  </a:extLst>
                </p:cNvPr>
                <p:cNvCxnSpPr/>
                <p:nvPr/>
              </p:nvCxnSpPr>
              <p:spPr>
                <a:xfrm flipH="1">
                  <a:off x="3450615" y="1858386"/>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52503CF-8E4D-44E3-BCEB-888FD1BB5D91}"/>
                    </a:ext>
                  </a:extLst>
                </p:cNvPr>
                <p:cNvCxnSpPr/>
                <p:nvPr/>
              </p:nvCxnSpPr>
              <p:spPr>
                <a:xfrm flipH="1">
                  <a:off x="3481018" y="2717448"/>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3D81258-D7FC-45BA-978D-45D76F914321}"/>
                    </a:ext>
                  </a:extLst>
                </p:cNvPr>
                <p:cNvCxnSpPr/>
                <p:nvPr/>
              </p:nvCxnSpPr>
              <p:spPr>
                <a:xfrm flipH="1">
                  <a:off x="3462016" y="3646987"/>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EFB9341-9DBB-46A5-AC03-BA2E929ECA2D}"/>
                    </a:ext>
                  </a:extLst>
                </p:cNvPr>
                <p:cNvCxnSpPr/>
                <p:nvPr/>
              </p:nvCxnSpPr>
              <p:spPr>
                <a:xfrm flipH="1">
                  <a:off x="3471517" y="4578320"/>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24CAB2C-6463-48B8-BAD4-3A2687AE231A}"/>
                    </a:ext>
                  </a:extLst>
                </p:cNvPr>
                <p:cNvCxnSpPr/>
                <p:nvPr/>
              </p:nvCxnSpPr>
              <p:spPr>
                <a:xfrm flipH="1">
                  <a:off x="3481018" y="5397192"/>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pic>
            <p:nvPicPr>
              <p:cNvPr id="24" name="Picture 23">
                <a:extLst>
                  <a:ext uri="{FF2B5EF4-FFF2-40B4-BE49-F238E27FC236}">
                    <a16:creationId xmlns:a16="http://schemas.microsoft.com/office/drawing/2014/main" id="{C861B527-6886-4E3A-B18B-BAC9DAAFBD5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892" y="5647291"/>
                <a:ext cx="1126758" cy="1252056"/>
              </a:xfrm>
              <a:prstGeom prst="rect">
                <a:avLst/>
              </a:prstGeom>
            </p:spPr>
          </p:pic>
        </p:grpSp>
      </p:grpSp>
      <p:pic>
        <p:nvPicPr>
          <p:cNvPr id="53" name="Picture 52">
            <a:extLst>
              <a:ext uri="{FF2B5EF4-FFF2-40B4-BE49-F238E27FC236}">
                <a16:creationId xmlns:a16="http://schemas.microsoft.com/office/drawing/2014/main" id="{694A7C3D-5FBB-48A3-9E4C-E3A206FAA0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49241" y="2937566"/>
            <a:ext cx="728396" cy="454021"/>
          </a:xfrm>
          <a:prstGeom prst="rec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p:spPr>
      </p:pic>
      <p:sp>
        <p:nvSpPr>
          <p:cNvPr id="54" name="Arrow: Down 53">
            <a:extLst>
              <a:ext uri="{FF2B5EF4-FFF2-40B4-BE49-F238E27FC236}">
                <a16:creationId xmlns:a16="http://schemas.microsoft.com/office/drawing/2014/main" id="{204A19B4-4299-4FEC-B9F5-75DCA5444B28}"/>
              </a:ext>
            </a:extLst>
          </p:cNvPr>
          <p:cNvSpPr/>
          <p:nvPr/>
        </p:nvSpPr>
        <p:spPr>
          <a:xfrm>
            <a:off x="8839397" y="2126366"/>
            <a:ext cx="845820" cy="25098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70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1E4B43-6237-EAF5-B97C-ABE0D0D9FFF3}"/>
              </a:ext>
            </a:extLst>
          </p:cNvPr>
          <p:cNvSpPr>
            <a:spLocks noGrp="1"/>
          </p:cNvSpPr>
          <p:nvPr>
            <p:ph type="title"/>
          </p:nvPr>
        </p:nvSpPr>
        <p:spPr/>
        <p:txBody>
          <a:bodyPr/>
          <a:lstStyle/>
          <a:p>
            <a:r>
              <a:rPr lang="en-US" dirty="0"/>
              <a:t>NCBI Pathogen Detection</a:t>
            </a:r>
            <a:endParaRPr lang="en-US" sz="5400" dirty="0"/>
          </a:p>
        </p:txBody>
      </p:sp>
      <p:sp>
        <p:nvSpPr>
          <p:cNvPr id="5" name="Text Placeholder 4">
            <a:extLst>
              <a:ext uri="{FF2B5EF4-FFF2-40B4-BE49-F238E27FC236}">
                <a16:creationId xmlns:a16="http://schemas.microsoft.com/office/drawing/2014/main" id="{37FDBCAF-A367-48CA-6B3A-2E187D4BCC06}"/>
              </a:ext>
            </a:extLst>
          </p:cNvPr>
          <p:cNvSpPr>
            <a:spLocks noGrp="1"/>
          </p:cNvSpPr>
          <p:nvPr>
            <p:ph type="body" sz="quarter" idx="11"/>
          </p:nvPr>
        </p:nvSpPr>
        <p:spPr>
          <a:xfrm>
            <a:off x="427039" y="1648478"/>
            <a:ext cx="6456362" cy="3712475"/>
          </a:xfrm>
        </p:spPr>
        <p:txBody>
          <a:bodyPr/>
          <a:lstStyle/>
          <a:p>
            <a:pPr marL="457200" indent="-457200">
              <a:buFont typeface="Arial" panose="020B0604020202020204" pitchFamily="34" charset="0"/>
              <a:buChar char="•"/>
            </a:pPr>
            <a:r>
              <a:rPr lang="en-US" dirty="0"/>
              <a:t>All public data</a:t>
            </a:r>
          </a:p>
          <a:p>
            <a:pPr marL="457200" indent="-457200">
              <a:buFont typeface="Arial" panose="020B0604020202020204" pitchFamily="34" charset="0"/>
              <a:buChar char="•"/>
            </a:pPr>
            <a:r>
              <a:rPr lang="en-US" dirty="0"/>
              <a:t>Generated by submitters</a:t>
            </a:r>
          </a:p>
          <a:p>
            <a:pPr marL="457200" indent="-457200">
              <a:buFont typeface="Arial" panose="020B0604020202020204" pitchFamily="34" charset="0"/>
              <a:buChar char="•"/>
            </a:pPr>
            <a:r>
              <a:rPr lang="en-US" dirty="0"/>
              <a:t>Currently 2.9 million assemblies</a:t>
            </a:r>
          </a:p>
          <a:p>
            <a:pPr marL="457200" indent="-457200">
              <a:buFont typeface="Arial" panose="020B0604020202020204" pitchFamily="34" charset="0"/>
              <a:buChar char="•"/>
            </a:pPr>
            <a:r>
              <a:rPr lang="en-US" dirty="0"/>
              <a:t>New genomes added and analyzed </a:t>
            </a:r>
            <a:br>
              <a:rPr lang="en-US" dirty="0"/>
            </a:br>
            <a:r>
              <a:rPr lang="en-US" dirty="0"/>
              <a:t>daily</a:t>
            </a:r>
          </a:p>
          <a:p>
            <a:pPr marL="457200" indent="-457200">
              <a:buFont typeface="Arial" panose="020B0604020202020204" pitchFamily="34" charset="0"/>
              <a:buChar char="•"/>
            </a:pPr>
            <a:r>
              <a:rPr lang="en-US" dirty="0"/>
              <a:t>&gt;100 pathogenic taxa</a:t>
            </a:r>
          </a:p>
        </p:txBody>
      </p:sp>
      <p:pic>
        <p:nvPicPr>
          <p:cNvPr id="8" name="Picture 7">
            <a:extLst>
              <a:ext uri="{FF2B5EF4-FFF2-40B4-BE49-F238E27FC236}">
                <a16:creationId xmlns:a16="http://schemas.microsoft.com/office/drawing/2014/main" id="{155B5B13-7FAC-7705-BA52-FDED9FCCBB89}"/>
              </a:ext>
            </a:extLst>
          </p:cNvPr>
          <p:cNvPicPr>
            <a:picLocks noChangeAspect="1"/>
          </p:cNvPicPr>
          <p:nvPr/>
        </p:nvPicPr>
        <p:blipFill>
          <a:blip r:embed="rId3"/>
          <a:stretch>
            <a:fillRect/>
          </a:stretch>
        </p:blipFill>
        <p:spPr>
          <a:xfrm>
            <a:off x="7066581" y="1588152"/>
            <a:ext cx="4479244" cy="3261071"/>
          </a:xfrm>
          <a:prstGeom prst="rect">
            <a:avLst/>
          </a:prstGeom>
        </p:spPr>
      </p:pic>
      <p:sp>
        <p:nvSpPr>
          <p:cNvPr id="9" name="TextBox 8">
            <a:extLst>
              <a:ext uri="{FF2B5EF4-FFF2-40B4-BE49-F238E27FC236}">
                <a16:creationId xmlns:a16="http://schemas.microsoft.com/office/drawing/2014/main" id="{95710560-B054-1430-2C2F-D480C688630D}"/>
              </a:ext>
            </a:extLst>
          </p:cNvPr>
          <p:cNvSpPr txBox="1"/>
          <p:nvPr/>
        </p:nvSpPr>
        <p:spPr>
          <a:xfrm>
            <a:off x="6984285" y="1092995"/>
            <a:ext cx="4301370" cy="369332"/>
          </a:xfrm>
          <a:prstGeom prst="rect">
            <a:avLst/>
          </a:prstGeom>
          <a:noFill/>
        </p:spPr>
        <p:txBody>
          <a:bodyPr wrap="none" rtlCol="0">
            <a:spAutoFit/>
          </a:bodyPr>
          <a:lstStyle/>
          <a:p>
            <a:r>
              <a:rPr lang="en-US" dirty="0">
                <a:hlinkClick r:id="rId4"/>
              </a:rPr>
              <a:t>https://www.ncbi.nlm.nih.gov/pathogens/</a:t>
            </a:r>
            <a:endParaRPr lang="en-US" dirty="0"/>
          </a:p>
        </p:txBody>
      </p:sp>
    </p:spTree>
    <p:extLst>
      <p:ext uri="{BB962C8B-B14F-4D97-AF65-F5344CB8AC3E}">
        <p14:creationId xmlns:p14="http://schemas.microsoft.com/office/powerpoint/2010/main" val="3999752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5710E-4F27-40BE-4F6F-AC244DDDCB6F}"/>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D6A397D9-4976-42BD-86C7-EA901A40614A}"/>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Tree>
    <p:extLst>
      <p:ext uri="{BB962C8B-B14F-4D97-AF65-F5344CB8AC3E}">
        <p14:creationId xmlns:p14="http://schemas.microsoft.com/office/powerpoint/2010/main" val="2508483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0C040-0FBB-C614-182D-59B0EDC167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2BE44-8AA0-32CC-E126-B7D808EC324F}"/>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F4D007CA-155A-0930-BAD7-E7F35C73B82F}"/>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
        <p:nvSpPr>
          <p:cNvPr id="3" name="Rounded Rectangle 2">
            <a:extLst>
              <a:ext uri="{FF2B5EF4-FFF2-40B4-BE49-F238E27FC236}">
                <a16:creationId xmlns:a16="http://schemas.microsoft.com/office/drawing/2014/main" id="{775C287D-D592-3BDF-CDD6-4CC3B2313320}"/>
              </a:ext>
            </a:extLst>
          </p:cNvPr>
          <p:cNvSpPr/>
          <p:nvPr/>
        </p:nvSpPr>
        <p:spPr>
          <a:xfrm>
            <a:off x="1170432" y="1591056"/>
            <a:ext cx="8165592" cy="1014984"/>
          </a:xfrm>
          <a:prstGeom prst="roundRect">
            <a:avLst/>
          </a:prstGeom>
          <a:noFill/>
          <a:ln w="635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134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CBCEA786-1D38-CE0A-C152-F4900E093ACA}"/>
              </a:ext>
            </a:extLst>
          </p:cNvPr>
          <p:cNvSpPr txBox="1">
            <a:spLocks noGrp="1"/>
          </p:cNvSpPr>
          <p:nvPr>
            <p:ph type="title" idx="4294967295"/>
          </p:nvPr>
        </p:nvSpPr>
        <p:spPr>
          <a:xfrm>
            <a:off x="838200" y="365125"/>
            <a:ext cx="10515600"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defTabSz="914377">
              <a:defRPr/>
            </a:pPr>
            <a:r>
              <a:rPr lang="en-US" dirty="0">
                <a:latin typeface="+mj-lt"/>
              </a:rPr>
              <a:t>Pathogen Detection Pipeline</a:t>
            </a:r>
          </a:p>
        </p:txBody>
      </p:sp>
      <p:cxnSp>
        <p:nvCxnSpPr>
          <p:cNvPr id="4" name="Straight Arrow Connector 3" descr="Sequence data is submitted to the Sequence Read Archive">
            <a:extLst>
              <a:ext uri="{FF2B5EF4-FFF2-40B4-BE49-F238E27FC236}">
                <a16:creationId xmlns:a16="http://schemas.microsoft.com/office/drawing/2014/main" id="{893D8C9C-9B1E-5493-32DD-9A17C90D0E4B}"/>
              </a:ext>
            </a:extLst>
          </p:cNvPr>
          <p:cNvCxnSpPr/>
          <p:nvPr/>
        </p:nvCxnSpPr>
        <p:spPr>
          <a:xfrm>
            <a:off x="1696781" y="2467708"/>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8E1DCC8-3DEC-7941-C4BE-EDA89DEAD0AF}"/>
              </a:ext>
            </a:extLst>
          </p:cNvPr>
          <p:cNvSpPr/>
          <p:nvPr/>
        </p:nvSpPr>
        <p:spPr>
          <a:xfrm>
            <a:off x="2511263" y="2082678"/>
            <a:ext cx="1185552"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SRA</a:t>
            </a:r>
          </a:p>
        </p:txBody>
      </p:sp>
      <p:cxnSp>
        <p:nvCxnSpPr>
          <p:cNvPr id="5" name="Straight Arrow Connector 4" descr="The Pathogen Detection pipeline assembles the data">
            <a:extLst>
              <a:ext uri="{FF2B5EF4-FFF2-40B4-BE49-F238E27FC236}">
                <a16:creationId xmlns:a16="http://schemas.microsoft.com/office/drawing/2014/main" id="{95A27E2C-70EB-3367-DF7A-8151847A563E}"/>
              </a:ext>
            </a:extLst>
          </p:cNvPr>
          <p:cNvCxnSpPr/>
          <p:nvPr/>
        </p:nvCxnSpPr>
        <p:spPr>
          <a:xfrm>
            <a:off x="3901786" y="2467708"/>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CCC6DC-A082-3D4A-924B-7DDD03936663}"/>
              </a:ext>
            </a:extLst>
          </p:cNvPr>
          <p:cNvSpPr/>
          <p:nvPr/>
        </p:nvSpPr>
        <p:spPr>
          <a:xfrm>
            <a:off x="4777469" y="2082678"/>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Assembly</a:t>
            </a:r>
          </a:p>
        </p:txBody>
      </p:sp>
      <p:cxnSp>
        <p:nvCxnSpPr>
          <p:cNvPr id="7" name="Straight Arrow Connector 6" descr="The newly assembled data are included in the clustering step">
            <a:extLst>
              <a:ext uri="{FF2B5EF4-FFF2-40B4-BE49-F238E27FC236}">
                <a16:creationId xmlns:a16="http://schemas.microsoft.com/office/drawing/2014/main" id="{2EEA7FE1-3107-CF2E-7FE6-D57634D154AE}"/>
              </a:ext>
            </a:extLst>
          </p:cNvPr>
          <p:cNvCxnSpPr>
            <a:cxnSpLocks/>
          </p:cNvCxnSpPr>
          <p:nvPr/>
        </p:nvCxnSpPr>
        <p:spPr>
          <a:xfrm>
            <a:off x="5716424" y="2947371"/>
            <a:ext cx="0"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013119E5-752B-55E0-7CA5-1350FFC43392}"/>
              </a:ext>
            </a:extLst>
          </p:cNvPr>
          <p:cNvSpPr/>
          <p:nvPr/>
        </p:nvSpPr>
        <p:spPr>
          <a:xfrm>
            <a:off x="4777467" y="3758169"/>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Clustering</a:t>
            </a:r>
          </a:p>
        </p:txBody>
      </p:sp>
      <p:sp>
        <p:nvSpPr>
          <p:cNvPr id="8" name="Rectangle 7">
            <a:extLst>
              <a:ext uri="{FF2B5EF4-FFF2-40B4-BE49-F238E27FC236}">
                <a16:creationId xmlns:a16="http://schemas.microsoft.com/office/drawing/2014/main" id="{37B3D850-B1BB-9C1D-5ACB-12739395E2D1}"/>
              </a:ext>
            </a:extLst>
          </p:cNvPr>
          <p:cNvSpPr/>
          <p:nvPr/>
        </p:nvSpPr>
        <p:spPr>
          <a:xfrm>
            <a:off x="7695791" y="2082678"/>
            <a:ext cx="2001448"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Annotation</a:t>
            </a:r>
          </a:p>
        </p:txBody>
      </p:sp>
      <p:cxnSp>
        <p:nvCxnSpPr>
          <p:cNvPr id="9" name="Straight Arrow Connector 8" descr="An independent part of the pipeline annotates the assembled genomes using the NCBI Pgap tool">
            <a:extLst>
              <a:ext uri="{FF2B5EF4-FFF2-40B4-BE49-F238E27FC236}">
                <a16:creationId xmlns:a16="http://schemas.microsoft.com/office/drawing/2014/main" id="{ED684B5F-48F0-07A0-A691-2503BB67EE3C}"/>
              </a:ext>
            </a:extLst>
          </p:cNvPr>
          <p:cNvCxnSpPr>
            <a:cxnSpLocks/>
          </p:cNvCxnSpPr>
          <p:nvPr/>
        </p:nvCxnSpPr>
        <p:spPr>
          <a:xfrm>
            <a:off x="6894455" y="2467708"/>
            <a:ext cx="578248"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descr="Clusters of closely related genomes are determined and phylogenetic trees of each cluster are produced">
            <a:extLst>
              <a:ext uri="{FF2B5EF4-FFF2-40B4-BE49-F238E27FC236}">
                <a16:creationId xmlns:a16="http://schemas.microsoft.com/office/drawing/2014/main" id="{58C0396E-A1E2-36B3-45A6-EF1B45ABF23E}"/>
              </a:ext>
            </a:extLst>
          </p:cNvPr>
          <p:cNvCxnSpPr>
            <a:cxnSpLocks/>
          </p:cNvCxnSpPr>
          <p:nvPr/>
        </p:nvCxnSpPr>
        <p:spPr>
          <a:xfrm>
            <a:off x="5716424" y="4696489"/>
            <a:ext cx="0" cy="601067"/>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27DDFA37-1D58-8B89-B8F9-AF95B9B4D8C3}"/>
              </a:ext>
            </a:extLst>
          </p:cNvPr>
          <p:cNvSpPr/>
          <p:nvPr/>
        </p:nvSpPr>
        <p:spPr>
          <a:xfrm>
            <a:off x="4777467" y="5433659"/>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Trees</a:t>
            </a:r>
          </a:p>
        </p:txBody>
      </p:sp>
      <p:cxnSp>
        <p:nvCxnSpPr>
          <p:cNvPr id="13" name="Straight Arrow Connector 12" descr="Both annotated assemblies and unannotated assemblies are analyzed by AMRFinderPlus to identify antimicrobial resistance, virulence, and stress response genes in the assemblies">
            <a:extLst>
              <a:ext uri="{FF2B5EF4-FFF2-40B4-BE49-F238E27FC236}">
                <a16:creationId xmlns:a16="http://schemas.microsoft.com/office/drawing/2014/main" id="{2DDF4310-1000-9455-9375-D599F91DAD64}"/>
              </a:ext>
            </a:extLst>
          </p:cNvPr>
          <p:cNvCxnSpPr>
            <a:cxnSpLocks/>
          </p:cNvCxnSpPr>
          <p:nvPr/>
        </p:nvCxnSpPr>
        <p:spPr>
          <a:xfrm>
            <a:off x="8746135" y="2947370"/>
            <a:ext cx="0"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DC510B77-BFB2-E3CF-03A3-8530C8AEA298}"/>
              </a:ext>
            </a:extLst>
          </p:cNvPr>
          <p:cNvSpPr/>
          <p:nvPr/>
        </p:nvSpPr>
        <p:spPr>
          <a:xfrm>
            <a:off x="7444225" y="3758169"/>
            <a:ext cx="2603823"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AMRFinderPlus</a:t>
            </a:r>
          </a:p>
        </p:txBody>
      </p:sp>
      <p:cxnSp>
        <p:nvCxnSpPr>
          <p:cNvPr id="15" name="Straight Arrow Connector 14" descr="Both annotated assemblies and unannotated assemblies are analyzed by AMRFinderPlus to identify antimicrobial resistance, virulence, and stress response genes in the assemblies&#10;">
            <a:extLst>
              <a:ext uri="{FF2B5EF4-FFF2-40B4-BE49-F238E27FC236}">
                <a16:creationId xmlns:a16="http://schemas.microsoft.com/office/drawing/2014/main" id="{300FE2AF-DFF8-B356-E12E-AFBBC6E9F9AC}"/>
              </a:ext>
            </a:extLst>
          </p:cNvPr>
          <p:cNvCxnSpPr/>
          <p:nvPr/>
        </p:nvCxnSpPr>
        <p:spPr>
          <a:xfrm>
            <a:off x="6894455" y="2971496"/>
            <a:ext cx="673652"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4533801C-1473-7963-0E52-2E33746C3517}"/>
              </a:ext>
            </a:extLst>
          </p:cNvPr>
          <p:cNvSpPr/>
          <p:nvPr/>
        </p:nvSpPr>
        <p:spPr>
          <a:xfrm>
            <a:off x="2147946" y="3758169"/>
            <a:ext cx="154887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err="1">
                <a:latin typeface="Abadi" panose="020B0604020104020204" pitchFamily="34" charset="0"/>
              </a:rPr>
              <a:t>GenBank</a:t>
            </a:r>
            <a:endParaRPr lang="en-US" sz="2800" dirty="0">
              <a:latin typeface="Abadi" panose="020B0604020104020204" pitchFamily="34" charset="0"/>
            </a:endParaRPr>
          </a:p>
        </p:txBody>
      </p:sp>
      <p:cxnSp>
        <p:nvCxnSpPr>
          <p:cNvPr id="17" name="Straight Arrow Connector 16" descr="Assembled genomes from GenBank are included in the clustering step">
            <a:extLst>
              <a:ext uri="{FF2B5EF4-FFF2-40B4-BE49-F238E27FC236}">
                <a16:creationId xmlns:a16="http://schemas.microsoft.com/office/drawing/2014/main" id="{0E0FCFB6-DC98-9DE1-27E5-23390670FD1E}"/>
              </a:ext>
            </a:extLst>
          </p:cNvPr>
          <p:cNvCxnSpPr/>
          <p:nvPr/>
        </p:nvCxnSpPr>
        <p:spPr>
          <a:xfrm>
            <a:off x="3901786" y="4136189"/>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descr="The main part of the pipeline includes assembly, clustering, and phylogenetic tree generation&#10;">
            <a:extLst>
              <a:ext uri="{FF2B5EF4-FFF2-40B4-BE49-F238E27FC236}">
                <a16:creationId xmlns:a16="http://schemas.microsoft.com/office/drawing/2014/main" id="{4E47D71C-9D31-CBD4-FD05-9054EEB84B54}"/>
              </a:ext>
            </a:extLst>
          </p:cNvPr>
          <p:cNvCxnSpPr>
            <a:cxnSpLocks/>
          </p:cNvCxnSpPr>
          <p:nvPr/>
        </p:nvCxnSpPr>
        <p:spPr>
          <a:xfrm>
            <a:off x="1319704" y="1885454"/>
            <a:ext cx="5443188" cy="9773"/>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DF80091-8840-915F-2808-A8C0AD1AF0E3}"/>
              </a:ext>
              <a:ext uri="{C183D7F6-B498-43B3-948B-1728B52AA6E4}">
                <adec:decorative xmlns:adec="http://schemas.microsoft.com/office/drawing/2017/decorative" val="1"/>
              </a:ext>
            </a:extLst>
          </p:cNvPr>
          <p:cNvCxnSpPr>
            <a:cxnSpLocks/>
          </p:cNvCxnSpPr>
          <p:nvPr/>
        </p:nvCxnSpPr>
        <p:spPr>
          <a:xfrm>
            <a:off x="1333235" y="3090153"/>
            <a:ext cx="3336722" cy="0"/>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4B8F268-A3A0-7C5D-B273-4531FA3FCC55}"/>
              </a:ext>
              <a:ext uri="{C183D7F6-B498-43B3-948B-1728B52AA6E4}">
                <adec:decorative xmlns:adec="http://schemas.microsoft.com/office/drawing/2017/decorative" val="1"/>
              </a:ext>
            </a:extLst>
          </p:cNvPr>
          <p:cNvCxnSpPr>
            <a:cxnSpLocks/>
          </p:cNvCxnSpPr>
          <p:nvPr/>
        </p:nvCxnSpPr>
        <p:spPr>
          <a:xfrm flipH="1">
            <a:off x="4643338" y="3090154"/>
            <a:ext cx="26620" cy="3258767"/>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2471E5C-DB49-5C58-6CFF-77C37A6D76A6}"/>
              </a:ext>
              <a:ext uri="{C183D7F6-B498-43B3-948B-1728B52AA6E4}">
                <adec:decorative xmlns:adec="http://schemas.microsoft.com/office/drawing/2017/decorative" val="1"/>
              </a:ext>
            </a:extLst>
          </p:cNvPr>
          <p:cNvCxnSpPr>
            <a:cxnSpLocks/>
          </p:cNvCxnSpPr>
          <p:nvPr/>
        </p:nvCxnSpPr>
        <p:spPr>
          <a:xfrm>
            <a:off x="6762892" y="1905000"/>
            <a:ext cx="0" cy="4461237"/>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6241FAA-C855-0095-B0D0-A966C48084B0}"/>
              </a:ext>
              <a:ext uri="{C183D7F6-B498-43B3-948B-1728B52AA6E4}">
                <adec:decorative xmlns:adec="http://schemas.microsoft.com/office/drawing/2017/decorative" val="1"/>
              </a:ext>
            </a:extLst>
          </p:cNvPr>
          <p:cNvCxnSpPr>
            <a:cxnSpLocks/>
          </p:cNvCxnSpPr>
          <p:nvPr/>
        </p:nvCxnSpPr>
        <p:spPr>
          <a:xfrm>
            <a:off x="4643338" y="6400799"/>
            <a:ext cx="2063689" cy="0"/>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DC8EB07-CD82-532C-010C-664A4919528E}"/>
              </a:ext>
              <a:ext uri="{C183D7F6-B498-43B3-948B-1728B52AA6E4}">
                <adec:decorative xmlns:adec="http://schemas.microsoft.com/office/drawing/2017/decorative" val="1"/>
              </a:ext>
            </a:extLst>
          </p:cNvPr>
          <p:cNvCxnSpPr>
            <a:cxnSpLocks/>
          </p:cNvCxnSpPr>
          <p:nvPr/>
        </p:nvCxnSpPr>
        <p:spPr>
          <a:xfrm flipH="1">
            <a:off x="1333235" y="1905000"/>
            <a:ext cx="6093" cy="1149575"/>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sp>
        <p:nvSpPr>
          <p:cNvPr id="24" name="Arrow: Right 23" descr="The goal is turnaround the analysis within 24 hours after data submission">
            <a:extLst>
              <a:ext uri="{FF2B5EF4-FFF2-40B4-BE49-F238E27FC236}">
                <a16:creationId xmlns:a16="http://schemas.microsoft.com/office/drawing/2014/main" id="{06C268C4-EB19-DD1A-789F-ADC3EDF561EE}"/>
              </a:ext>
            </a:extLst>
          </p:cNvPr>
          <p:cNvSpPr/>
          <p:nvPr/>
        </p:nvSpPr>
        <p:spPr>
          <a:xfrm rot="10800000">
            <a:off x="6816569" y="5723109"/>
            <a:ext cx="573383" cy="408561"/>
          </a:xfrm>
          <a:prstGeom prst="rightArrow">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latin typeface="Abadi" panose="020B0604020104020204" pitchFamily="34" charset="0"/>
            </a:endParaRPr>
          </a:p>
        </p:txBody>
      </p:sp>
      <p:sp>
        <p:nvSpPr>
          <p:cNvPr id="25" name="TextBox 24">
            <a:extLst>
              <a:ext uri="{FF2B5EF4-FFF2-40B4-BE49-F238E27FC236}">
                <a16:creationId xmlns:a16="http://schemas.microsoft.com/office/drawing/2014/main" id="{A2D0078D-AC71-0A04-70A7-B46DCE1243DE}"/>
              </a:ext>
            </a:extLst>
          </p:cNvPr>
          <p:cNvSpPr txBox="1"/>
          <p:nvPr/>
        </p:nvSpPr>
        <p:spPr>
          <a:xfrm>
            <a:off x="7588761" y="5723108"/>
            <a:ext cx="1365246" cy="300210"/>
          </a:xfrm>
          <a:prstGeom prst="rect">
            <a:avLst/>
          </a:prstGeom>
          <a:noFill/>
        </p:spPr>
        <p:txBody>
          <a:bodyPr wrap="none" rtlCol="0">
            <a:spAutoFit/>
          </a:bodyPr>
          <a:lstStyle/>
          <a:p>
            <a:r>
              <a:rPr lang="en-US" sz="1351">
                <a:latin typeface="Abadi" panose="020B0604020104020204" pitchFamily="34" charset="0"/>
              </a:rPr>
              <a:t>Goal &lt;24 hours</a:t>
            </a:r>
          </a:p>
        </p:txBody>
      </p:sp>
      <p:cxnSp>
        <p:nvCxnSpPr>
          <p:cNvPr id="26" name="Straight Arrow Connector 25" descr="Sequence data is submitted to the Sequence Read Archive">
            <a:extLst>
              <a:ext uri="{FF2B5EF4-FFF2-40B4-BE49-F238E27FC236}">
                <a16:creationId xmlns:a16="http://schemas.microsoft.com/office/drawing/2014/main" id="{6D6CE75D-047D-AC36-DFB3-61968E79BE2E}"/>
              </a:ext>
            </a:extLst>
          </p:cNvPr>
          <p:cNvCxnSpPr/>
          <p:nvPr/>
        </p:nvCxnSpPr>
        <p:spPr>
          <a:xfrm>
            <a:off x="1333235" y="4136189"/>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6643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17E32-AEBE-43C9-AA6A-1391E3644454}"/>
              </a:ext>
            </a:extLst>
          </p:cNvPr>
          <p:cNvSpPr txBox="1">
            <a:spLocks/>
          </p:cNvSpPr>
          <p:nvPr/>
        </p:nvSpPr>
        <p:spPr>
          <a:xfrm>
            <a:off x="443595" y="18086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r>
              <a:rPr lang="en-US">
                <a:latin typeface="Arial" panose="020B0604020202020204" pitchFamily="34" charset="0"/>
                <a:cs typeface="Arial" panose="020B0604020202020204" pitchFamily="34" charset="0"/>
              </a:rPr>
              <a:t>Web browsers</a:t>
            </a:r>
            <a:endParaRPr lang="en-US"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B6E5A99F-DE26-47A2-8195-2EA45A876418}"/>
              </a:ext>
            </a:extLst>
          </p:cNvPr>
          <p:cNvGrpSpPr/>
          <p:nvPr/>
        </p:nvGrpSpPr>
        <p:grpSpPr>
          <a:xfrm>
            <a:off x="493680" y="1077144"/>
            <a:ext cx="4198349" cy="1505528"/>
            <a:chOff x="275020" y="652292"/>
            <a:chExt cx="4016761" cy="2005193"/>
          </a:xfrm>
        </p:grpSpPr>
        <p:sp>
          <p:nvSpPr>
            <p:cNvPr id="4" name="TextBox 3">
              <a:extLst>
                <a:ext uri="{FF2B5EF4-FFF2-40B4-BE49-F238E27FC236}">
                  <a16:creationId xmlns:a16="http://schemas.microsoft.com/office/drawing/2014/main" id="{87030516-D3A8-4389-B6A8-B494F83590A4}"/>
                </a:ext>
              </a:extLst>
            </p:cNvPr>
            <p:cNvSpPr txBox="1"/>
            <p:nvPr/>
          </p:nvSpPr>
          <p:spPr>
            <a:xfrm>
              <a:off x="2807135" y="652292"/>
              <a:ext cx="1484646" cy="1598702"/>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reference gene or point mutation</a:t>
              </a:r>
            </a:p>
          </p:txBody>
        </p:sp>
        <p:sp>
          <p:nvSpPr>
            <p:cNvPr id="5" name="Rectangle 4">
              <a:extLst>
                <a:ext uri="{FF2B5EF4-FFF2-40B4-BE49-F238E27FC236}">
                  <a16:creationId xmlns:a16="http://schemas.microsoft.com/office/drawing/2014/main" id="{56E7E8BD-ADEF-46C2-95D4-BE55B1933CA3}"/>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6" name="TextBox 5">
              <a:extLst>
                <a:ext uri="{FF2B5EF4-FFF2-40B4-BE49-F238E27FC236}">
                  <a16:creationId xmlns:a16="http://schemas.microsoft.com/office/drawing/2014/main" id="{0117BC94-A695-471E-A0D1-0C648454DCB9}"/>
                </a:ext>
              </a:extLst>
            </p:cNvPr>
            <p:cNvSpPr txBox="1"/>
            <p:nvPr/>
          </p:nvSpPr>
          <p:spPr>
            <a:xfrm>
              <a:off x="2855054" y="2165577"/>
              <a:ext cx="126883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7" name="Document 5">
              <a:extLst>
                <a:ext uri="{FF2B5EF4-FFF2-40B4-BE49-F238E27FC236}">
                  <a16:creationId xmlns:a16="http://schemas.microsoft.com/office/drawing/2014/main" id="{31566C26-C3E5-487B-B9D1-74B93F6E99E8}"/>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Catalog</a:t>
              </a:r>
            </a:p>
          </p:txBody>
        </p:sp>
      </p:grpSp>
      <p:grpSp>
        <p:nvGrpSpPr>
          <p:cNvPr id="8" name="Group 7">
            <a:extLst>
              <a:ext uri="{FF2B5EF4-FFF2-40B4-BE49-F238E27FC236}">
                <a16:creationId xmlns:a16="http://schemas.microsoft.com/office/drawing/2014/main" id="{61E64664-F269-4FE9-96B9-0178920E61FF}"/>
              </a:ext>
            </a:extLst>
          </p:cNvPr>
          <p:cNvGrpSpPr/>
          <p:nvPr/>
        </p:nvGrpSpPr>
        <p:grpSpPr>
          <a:xfrm>
            <a:off x="493680" y="4777641"/>
            <a:ext cx="4198349" cy="1505528"/>
            <a:chOff x="275020" y="652292"/>
            <a:chExt cx="4016761" cy="2005193"/>
          </a:xfrm>
        </p:grpSpPr>
        <p:sp>
          <p:nvSpPr>
            <p:cNvPr id="9" name="TextBox 8">
              <a:extLst>
                <a:ext uri="{FF2B5EF4-FFF2-40B4-BE49-F238E27FC236}">
                  <a16:creationId xmlns:a16="http://schemas.microsoft.com/office/drawing/2014/main" id="{C411ABBC-4EA2-4468-9041-038C1130CE27}"/>
                </a:ext>
              </a:extLst>
            </p:cNvPr>
            <p:cNvSpPr txBox="1"/>
            <p:nvPr/>
          </p:nvSpPr>
          <p:spPr>
            <a:xfrm>
              <a:off x="2807135" y="652292"/>
              <a:ext cx="1484646" cy="860840"/>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HMM</a:t>
              </a:r>
            </a:p>
          </p:txBody>
        </p:sp>
        <p:sp>
          <p:nvSpPr>
            <p:cNvPr id="10" name="Rectangle 9">
              <a:extLst>
                <a:ext uri="{FF2B5EF4-FFF2-40B4-BE49-F238E27FC236}">
                  <a16:creationId xmlns:a16="http://schemas.microsoft.com/office/drawing/2014/main" id="{A07118FC-26F5-487A-98AC-2620777B8DAF}"/>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9419A56C-7F28-4EC4-AF93-E31EA71192C6}"/>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 X N</a:t>
              </a:r>
            </a:p>
          </p:txBody>
        </p:sp>
        <p:sp>
          <p:nvSpPr>
            <p:cNvPr id="12" name="Document 5">
              <a:extLst>
                <a:ext uri="{FF2B5EF4-FFF2-40B4-BE49-F238E27FC236}">
                  <a16:creationId xmlns:a16="http://schemas.microsoft.com/office/drawing/2014/main" id="{F45E7311-BD09-4B7C-9813-176892D8A5A2}"/>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HMM Catalog</a:t>
              </a:r>
            </a:p>
          </p:txBody>
        </p:sp>
      </p:grpSp>
      <p:grpSp>
        <p:nvGrpSpPr>
          <p:cNvPr id="13" name="Group 12">
            <a:extLst>
              <a:ext uri="{FF2B5EF4-FFF2-40B4-BE49-F238E27FC236}">
                <a16:creationId xmlns:a16="http://schemas.microsoft.com/office/drawing/2014/main" id="{86B23C0B-CF6C-4E22-B99E-64A293EB7159}"/>
              </a:ext>
            </a:extLst>
          </p:cNvPr>
          <p:cNvGrpSpPr/>
          <p:nvPr/>
        </p:nvGrpSpPr>
        <p:grpSpPr>
          <a:xfrm>
            <a:off x="493679" y="2912249"/>
            <a:ext cx="4198349" cy="1505528"/>
            <a:chOff x="275020" y="652292"/>
            <a:chExt cx="4016761" cy="2005193"/>
          </a:xfrm>
        </p:grpSpPr>
        <p:sp>
          <p:nvSpPr>
            <p:cNvPr id="14" name="TextBox 13">
              <a:extLst>
                <a:ext uri="{FF2B5EF4-FFF2-40B4-BE49-F238E27FC236}">
                  <a16:creationId xmlns:a16="http://schemas.microsoft.com/office/drawing/2014/main" id="{A4FCCF70-9329-4F99-A637-1E20A4104F33}"/>
                </a:ext>
              </a:extLst>
            </p:cNvPr>
            <p:cNvSpPr txBox="1"/>
            <p:nvPr/>
          </p:nvSpPr>
          <p:spPr>
            <a:xfrm>
              <a:off x="2807135" y="652292"/>
              <a:ext cx="1484646" cy="1229771"/>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node in our hierarchy</a:t>
              </a:r>
            </a:p>
          </p:txBody>
        </p:sp>
        <p:sp>
          <p:nvSpPr>
            <p:cNvPr id="15" name="Rectangle 14">
              <a:extLst>
                <a:ext uri="{FF2B5EF4-FFF2-40B4-BE49-F238E27FC236}">
                  <a16:creationId xmlns:a16="http://schemas.microsoft.com/office/drawing/2014/main" id="{A5668040-9CCA-4104-B0E7-EDC3F55AE2A5}"/>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6" name="TextBox 15">
              <a:extLst>
                <a:ext uri="{FF2B5EF4-FFF2-40B4-BE49-F238E27FC236}">
                  <a16:creationId xmlns:a16="http://schemas.microsoft.com/office/drawing/2014/main" id="{8017C030-A438-4C2F-8EC7-57CF7BB56923}"/>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17" name="Document 5">
              <a:extLst>
                <a:ext uri="{FF2B5EF4-FFF2-40B4-BE49-F238E27FC236}">
                  <a16:creationId xmlns:a16="http://schemas.microsoft.com/office/drawing/2014/main" id="{B2696EAC-ECC9-4975-AC23-4D4C3D9D6436}"/>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Hierarchy</a:t>
              </a:r>
            </a:p>
          </p:txBody>
        </p:sp>
      </p:grpSp>
      <p:cxnSp>
        <p:nvCxnSpPr>
          <p:cNvPr id="18" name="Straight Arrow Connector 17">
            <a:extLst>
              <a:ext uri="{FF2B5EF4-FFF2-40B4-BE49-F238E27FC236}">
                <a16:creationId xmlns:a16="http://schemas.microsoft.com/office/drawing/2014/main" id="{3EBDB9C5-7E24-4858-9D4F-06601AE6CF0C}"/>
              </a:ext>
            </a:extLst>
          </p:cNvPr>
          <p:cNvCxnSpPr>
            <a:stCxn id="5" idx="2"/>
            <a:endCxn id="15" idx="0"/>
          </p:cNvCxnSpPr>
          <p:nvPr/>
        </p:nvCxnSpPr>
        <p:spPr>
          <a:xfrm flipH="1">
            <a:off x="2592854" y="2553474"/>
            <a:ext cx="1" cy="35986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B4AB62-E38A-4A9E-9CCB-76EFD48BAEF8}"/>
              </a:ext>
            </a:extLst>
          </p:cNvPr>
          <p:cNvCxnSpPr>
            <a:cxnSpLocks/>
            <a:stCxn id="15" idx="2"/>
            <a:endCxn id="10" idx="0"/>
          </p:cNvCxnSpPr>
          <p:nvPr/>
        </p:nvCxnSpPr>
        <p:spPr>
          <a:xfrm>
            <a:off x="2592854" y="4388578"/>
            <a:ext cx="1" cy="39015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Document 5">
            <a:extLst>
              <a:ext uri="{FF2B5EF4-FFF2-40B4-BE49-F238E27FC236}">
                <a16:creationId xmlns:a16="http://schemas.microsoft.com/office/drawing/2014/main" id="{67F838D2-D0A6-40DB-A979-504167168978}"/>
              </a:ext>
            </a:extLst>
          </p:cNvPr>
          <p:cNvSpPr/>
          <p:nvPr/>
        </p:nvSpPr>
        <p:spPr>
          <a:xfrm>
            <a:off x="5701395" y="888660"/>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Pathogen Detection Isolate Browser</a:t>
            </a:r>
          </a:p>
        </p:txBody>
      </p:sp>
      <p:sp>
        <p:nvSpPr>
          <p:cNvPr id="21" name="TextBox 20">
            <a:extLst>
              <a:ext uri="{FF2B5EF4-FFF2-40B4-BE49-F238E27FC236}">
                <a16:creationId xmlns:a16="http://schemas.microsoft.com/office/drawing/2014/main" id="{4B68EE55-79FE-4A83-85EC-7762BE8FCF70}"/>
              </a:ext>
            </a:extLst>
          </p:cNvPr>
          <p:cNvSpPr txBox="1"/>
          <p:nvPr/>
        </p:nvSpPr>
        <p:spPr>
          <a:xfrm>
            <a:off x="9148127" y="849786"/>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assembled isolate, possibly with AMR, virulence, and/or stress response genes and AST data</a:t>
            </a:r>
          </a:p>
        </p:txBody>
      </p:sp>
      <p:sp>
        <p:nvSpPr>
          <p:cNvPr id="22" name="Rectangle 21">
            <a:extLst>
              <a:ext uri="{FF2B5EF4-FFF2-40B4-BE49-F238E27FC236}">
                <a16:creationId xmlns:a16="http://schemas.microsoft.com/office/drawing/2014/main" id="{E7FF999B-79A3-4059-848A-42AE7D2D7237}"/>
              </a:ext>
            </a:extLst>
          </p:cNvPr>
          <p:cNvSpPr/>
          <p:nvPr/>
        </p:nvSpPr>
        <p:spPr>
          <a:xfrm>
            <a:off x="5616044" y="791533"/>
            <a:ext cx="6474542" cy="1933385"/>
          </a:xfrm>
          <a:prstGeom prst="rect">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23" name="TextBox 22">
            <a:extLst>
              <a:ext uri="{FF2B5EF4-FFF2-40B4-BE49-F238E27FC236}">
                <a16:creationId xmlns:a16="http://schemas.microsoft.com/office/drawing/2014/main" id="{AB925C9B-BD0C-4CA2-A34F-C0F30DACA933}"/>
              </a:ext>
            </a:extLst>
          </p:cNvPr>
          <p:cNvSpPr txBox="1"/>
          <p:nvPr/>
        </p:nvSpPr>
        <p:spPr>
          <a:xfrm>
            <a:off x="9862157" y="2248649"/>
            <a:ext cx="1757212" cy="369332"/>
          </a:xfrm>
          <a:prstGeom prst="rect">
            <a:avLst/>
          </a:prstGeom>
          <a:noFill/>
        </p:spPr>
        <p:txBody>
          <a:bodyPr wrap="non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 000,000 X N</a:t>
            </a:r>
          </a:p>
        </p:txBody>
      </p:sp>
      <p:cxnSp>
        <p:nvCxnSpPr>
          <p:cNvPr id="24" name="Straight Arrow Connector 23">
            <a:extLst>
              <a:ext uri="{FF2B5EF4-FFF2-40B4-BE49-F238E27FC236}">
                <a16:creationId xmlns:a16="http://schemas.microsoft.com/office/drawing/2014/main" id="{91BC447B-9DD9-4B5F-9012-75732AF56EE0}"/>
              </a:ext>
            </a:extLst>
          </p:cNvPr>
          <p:cNvCxnSpPr>
            <a:cxnSpLocks/>
          </p:cNvCxnSpPr>
          <p:nvPr/>
        </p:nvCxnSpPr>
        <p:spPr>
          <a:xfrm>
            <a:off x="8514369"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9819F78-FA27-42D4-9853-6554D96A21E4}"/>
              </a:ext>
            </a:extLst>
          </p:cNvPr>
          <p:cNvCxnSpPr>
            <a:cxnSpLocks/>
          </p:cNvCxnSpPr>
          <p:nvPr/>
        </p:nvCxnSpPr>
        <p:spPr>
          <a:xfrm flipV="1">
            <a:off x="8713473"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CA50C908-8A01-490E-80DC-C5D77FE2FD40}"/>
              </a:ext>
            </a:extLst>
          </p:cNvPr>
          <p:cNvSpPr txBox="1"/>
          <p:nvPr/>
        </p:nvSpPr>
        <p:spPr>
          <a:xfrm>
            <a:off x="10039640" y="2948002"/>
            <a:ext cx="222368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genomes</a:t>
            </a:r>
          </a:p>
        </p:txBody>
      </p:sp>
      <p:cxnSp>
        <p:nvCxnSpPr>
          <p:cNvPr id="27" name="Straight Arrow Connector 26">
            <a:extLst>
              <a:ext uri="{FF2B5EF4-FFF2-40B4-BE49-F238E27FC236}">
                <a16:creationId xmlns:a16="http://schemas.microsoft.com/office/drawing/2014/main" id="{58A25CC3-BE39-4D06-8974-68BEE728FB18}"/>
              </a:ext>
            </a:extLst>
          </p:cNvPr>
          <p:cNvCxnSpPr>
            <a:cxnSpLocks/>
            <a:stCxn id="5" idx="3"/>
            <a:endCxn id="22" idx="1"/>
          </p:cNvCxnSpPr>
          <p:nvPr/>
        </p:nvCxnSpPr>
        <p:spPr>
          <a:xfrm flipV="1">
            <a:off x="4692029" y="1758226"/>
            <a:ext cx="924015" cy="5762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4100AC3-3409-4393-BD56-37BF017B76E8}"/>
              </a:ext>
            </a:extLst>
          </p:cNvPr>
          <p:cNvCxnSpPr>
            <a:stCxn id="5" idx="3"/>
            <a:endCxn id="40" idx="1"/>
          </p:cNvCxnSpPr>
          <p:nvPr/>
        </p:nvCxnSpPr>
        <p:spPr>
          <a:xfrm>
            <a:off x="4692029" y="1815854"/>
            <a:ext cx="924015" cy="2821535"/>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7E501E3-5683-4E42-B929-E60F8F4E0B29}"/>
              </a:ext>
            </a:extLst>
          </p:cNvPr>
          <p:cNvCxnSpPr>
            <a:stCxn id="15" idx="3"/>
            <a:endCxn id="22" idx="1"/>
          </p:cNvCxnSpPr>
          <p:nvPr/>
        </p:nvCxnSpPr>
        <p:spPr>
          <a:xfrm flipV="1">
            <a:off x="4692028" y="1758226"/>
            <a:ext cx="924016" cy="18927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1D1584F-AD31-4F45-B291-4EB6352241AE}"/>
              </a:ext>
            </a:extLst>
          </p:cNvPr>
          <p:cNvCxnSpPr>
            <a:stCxn id="15" idx="3"/>
            <a:endCxn id="40" idx="1"/>
          </p:cNvCxnSpPr>
          <p:nvPr/>
        </p:nvCxnSpPr>
        <p:spPr>
          <a:xfrm>
            <a:off x="4692028" y="3650958"/>
            <a:ext cx="924016" cy="9864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405C274A-4506-4D2E-BA97-38F48CBD177E}"/>
              </a:ext>
            </a:extLst>
          </p:cNvPr>
          <p:cNvCxnSpPr>
            <a:stCxn id="10" idx="3"/>
            <a:endCxn id="22" idx="1"/>
          </p:cNvCxnSpPr>
          <p:nvPr/>
        </p:nvCxnSpPr>
        <p:spPr>
          <a:xfrm flipV="1">
            <a:off x="4692029" y="1758226"/>
            <a:ext cx="924015" cy="37581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086E105-4059-452C-B68C-352DB1DBFABB}"/>
              </a:ext>
            </a:extLst>
          </p:cNvPr>
          <p:cNvCxnSpPr>
            <a:stCxn id="10" idx="3"/>
            <a:endCxn id="40" idx="1"/>
          </p:cNvCxnSpPr>
          <p:nvPr/>
        </p:nvCxnSpPr>
        <p:spPr>
          <a:xfrm flipV="1">
            <a:off x="4692029" y="4637389"/>
            <a:ext cx="924015" cy="8789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3F4A2DBA-A5B0-4FF0-A17D-EC3410346793}"/>
              </a:ext>
            </a:extLst>
          </p:cNvPr>
          <p:cNvGrpSpPr/>
          <p:nvPr/>
        </p:nvGrpSpPr>
        <p:grpSpPr>
          <a:xfrm>
            <a:off x="5616044" y="3367190"/>
            <a:ext cx="6622234" cy="3258714"/>
            <a:chOff x="5614700" y="3200285"/>
            <a:chExt cx="6622234" cy="3258714"/>
          </a:xfrm>
        </p:grpSpPr>
        <p:grpSp>
          <p:nvGrpSpPr>
            <p:cNvPr id="34" name="Group 33">
              <a:extLst>
                <a:ext uri="{FF2B5EF4-FFF2-40B4-BE49-F238E27FC236}">
                  <a16:creationId xmlns:a16="http://schemas.microsoft.com/office/drawing/2014/main" id="{BE7E74AA-29C0-4B72-AEE7-2F9F6C7C8723}"/>
                </a:ext>
              </a:extLst>
            </p:cNvPr>
            <p:cNvGrpSpPr/>
            <p:nvPr/>
          </p:nvGrpSpPr>
          <p:grpSpPr>
            <a:xfrm>
              <a:off x="5614700" y="3200285"/>
              <a:ext cx="6622234" cy="2540398"/>
              <a:chOff x="5614700" y="3200285"/>
              <a:chExt cx="6622234" cy="2540398"/>
            </a:xfrm>
          </p:grpSpPr>
          <p:sp>
            <p:nvSpPr>
              <p:cNvPr id="37" name="Document 5">
                <a:extLst>
                  <a:ext uri="{FF2B5EF4-FFF2-40B4-BE49-F238E27FC236}">
                    <a16:creationId xmlns:a16="http://schemas.microsoft.com/office/drawing/2014/main" id="{865DD377-0799-40D7-B2E1-4B7966CF92A3}"/>
                  </a:ext>
                </a:extLst>
              </p:cNvPr>
              <p:cNvSpPr/>
              <p:nvPr/>
            </p:nvSpPr>
            <p:spPr>
              <a:xfrm>
                <a:off x="5795142" y="3327577"/>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err="1">
                    <a:solidFill>
                      <a:schemeClr val="bg1"/>
                    </a:solidFill>
                    <a:latin typeface="Arial" panose="020B0604020202020204" pitchFamily="34" charset="0"/>
                    <a:ea typeface="Cambria" panose="02040503050406030204" pitchFamily="18" charset="0"/>
                    <a:cs typeface="Arial" panose="020B0604020202020204" pitchFamily="34" charset="0"/>
                  </a:rPr>
                  <a:t>MicroBIGG</a:t>
                </a: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-E (Microbial Browser for Identification of Genetic and Genomic Elements)</a:t>
                </a:r>
              </a:p>
            </p:txBody>
          </p:sp>
          <p:sp>
            <p:nvSpPr>
              <p:cNvPr id="38" name="TextBox 37">
                <a:extLst>
                  <a:ext uri="{FF2B5EF4-FFF2-40B4-BE49-F238E27FC236}">
                    <a16:creationId xmlns:a16="http://schemas.microsoft.com/office/drawing/2014/main" id="{B479ACFD-A9D1-4E53-832E-22F48C91E7D7}"/>
                  </a:ext>
                </a:extLst>
              </p:cNvPr>
              <p:cNvSpPr txBox="1"/>
              <p:nvPr/>
            </p:nvSpPr>
            <p:spPr>
              <a:xfrm>
                <a:off x="9448507" y="3314747"/>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AMR, virulence, and/or stress response genes with method, type, subtype, class, subclass, and supporting evidence</a:t>
                </a:r>
              </a:p>
            </p:txBody>
          </p:sp>
          <p:sp>
            <p:nvSpPr>
              <p:cNvPr id="39" name="TextBox 38">
                <a:extLst>
                  <a:ext uri="{FF2B5EF4-FFF2-40B4-BE49-F238E27FC236}">
                    <a16:creationId xmlns:a16="http://schemas.microsoft.com/office/drawing/2014/main" id="{14431974-E110-4063-809C-B290F7F1D240}"/>
                  </a:ext>
                </a:extLst>
              </p:cNvPr>
              <p:cNvSpPr txBox="1"/>
              <p:nvPr/>
            </p:nvSpPr>
            <p:spPr>
              <a:xfrm>
                <a:off x="9749086" y="5371351"/>
                <a:ext cx="1896673" cy="369332"/>
              </a:xfrm>
              <a:prstGeom prst="rect">
                <a:avLst/>
              </a:prstGeom>
              <a:noFill/>
            </p:spPr>
            <p:txBody>
              <a:bodyPr wrap="none" rtlCol="0">
                <a:spAutoFit/>
              </a:bodyPr>
              <a:lstStyle/>
              <a:p>
                <a:r>
                  <a:rPr lang="en-US">
                    <a:latin typeface="Arial" panose="020B0604020202020204" pitchFamily="34" charset="0"/>
                    <a:ea typeface="Cambria" panose="02040503050406030204" pitchFamily="18" charset="0"/>
                    <a:cs typeface="Arial" panose="020B0604020202020204" pitchFamily="34" charset="0"/>
                  </a:rPr>
                  <a:t>10, 000,000 X N</a:t>
                </a:r>
              </a:p>
            </p:txBody>
          </p:sp>
          <p:sp>
            <p:nvSpPr>
              <p:cNvPr id="40" name="Rectangle 39">
                <a:extLst>
                  <a:ext uri="{FF2B5EF4-FFF2-40B4-BE49-F238E27FC236}">
                    <a16:creationId xmlns:a16="http://schemas.microsoft.com/office/drawing/2014/main" id="{2A15B5DB-94B8-492D-8F41-DA15912C37EF}"/>
                  </a:ext>
                </a:extLst>
              </p:cNvPr>
              <p:cNvSpPr/>
              <p:nvPr/>
            </p:nvSpPr>
            <p:spPr>
              <a:xfrm>
                <a:off x="5614700" y="3200285"/>
                <a:ext cx="6474542" cy="254039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grpSp>
        <p:sp>
          <p:nvSpPr>
            <p:cNvPr id="35" name="TextBox 34">
              <a:extLst>
                <a:ext uri="{FF2B5EF4-FFF2-40B4-BE49-F238E27FC236}">
                  <a16:creationId xmlns:a16="http://schemas.microsoft.com/office/drawing/2014/main" id="{021D6686-C30D-4FEC-9EDF-865CF4000B4A}"/>
                </a:ext>
              </a:extLst>
            </p:cNvPr>
            <p:cNvSpPr txBox="1"/>
            <p:nvPr/>
          </p:nvSpPr>
          <p:spPr>
            <a:xfrm>
              <a:off x="6096000" y="6089667"/>
              <a:ext cx="438453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genes, genes + flanks, contigs</a:t>
              </a:r>
            </a:p>
          </p:txBody>
        </p:sp>
        <p:cxnSp>
          <p:nvCxnSpPr>
            <p:cNvPr id="36" name="Straight Arrow Connector 35">
              <a:extLst>
                <a:ext uri="{FF2B5EF4-FFF2-40B4-BE49-F238E27FC236}">
                  <a16:creationId xmlns:a16="http://schemas.microsoft.com/office/drawing/2014/main" id="{47BAAD7C-A902-48CF-BB0E-6B733E260A62}"/>
                </a:ext>
              </a:extLst>
            </p:cNvPr>
            <p:cNvCxnSpPr/>
            <p:nvPr/>
          </p:nvCxnSpPr>
          <p:spPr>
            <a:xfrm>
              <a:off x="8090946" y="5815795"/>
              <a:ext cx="0" cy="355479"/>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Arrow Connector 40">
            <a:extLst>
              <a:ext uri="{FF2B5EF4-FFF2-40B4-BE49-F238E27FC236}">
                <a16:creationId xmlns:a16="http://schemas.microsoft.com/office/drawing/2014/main" id="{B2802E70-CABB-4A6B-A960-A9E1557DAD7B}"/>
              </a:ext>
            </a:extLst>
          </p:cNvPr>
          <p:cNvCxnSpPr>
            <a:cxnSpLocks/>
          </p:cNvCxnSpPr>
          <p:nvPr/>
        </p:nvCxnSpPr>
        <p:spPr>
          <a:xfrm>
            <a:off x="10893608" y="2741529"/>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0452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645EC-83CD-016E-F125-93876BE18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A34911-8B51-1BAA-6B22-72F76E42AA3D}"/>
              </a:ext>
            </a:extLst>
          </p:cNvPr>
          <p:cNvSpPr txBox="1">
            <a:spLocks/>
          </p:cNvSpPr>
          <p:nvPr/>
        </p:nvSpPr>
        <p:spPr>
          <a:xfrm>
            <a:off x="443595" y="18086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r>
              <a:rPr lang="en-US">
                <a:latin typeface="Arial" panose="020B0604020202020204" pitchFamily="34" charset="0"/>
                <a:cs typeface="Arial" panose="020B0604020202020204" pitchFamily="34" charset="0"/>
              </a:rPr>
              <a:t>Web browsers</a:t>
            </a:r>
            <a:endParaRPr lang="en-US"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C5182C5F-01F7-8997-0EDD-A44A917676D8}"/>
              </a:ext>
            </a:extLst>
          </p:cNvPr>
          <p:cNvGrpSpPr/>
          <p:nvPr/>
        </p:nvGrpSpPr>
        <p:grpSpPr>
          <a:xfrm>
            <a:off x="493680" y="1077144"/>
            <a:ext cx="4198349" cy="1505528"/>
            <a:chOff x="275020" y="652292"/>
            <a:chExt cx="4016761" cy="2005193"/>
          </a:xfrm>
        </p:grpSpPr>
        <p:sp>
          <p:nvSpPr>
            <p:cNvPr id="4" name="TextBox 3">
              <a:extLst>
                <a:ext uri="{FF2B5EF4-FFF2-40B4-BE49-F238E27FC236}">
                  <a16:creationId xmlns:a16="http://schemas.microsoft.com/office/drawing/2014/main" id="{24C455DA-4EA0-5EDE-1BBD-6B3821E539E5}"/>
                </a:ext>
              </a:extLst>
            </p:cNvPr>
            <p:cNvSpPr txBox="1"/>
            <p:nvPr/>
          </p:nvSpPr>
          <p:spPr>
            <a:xfrm>
              <a:off x="2807135" y="652292"/>
              <a:ext cx="1484646" cy="1598702"/>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reference gene or point mutation</a:t>
              </a:r>
            </a:p>
          </p:txBody>
        </p:sp>
        <p:sp>
          <p:nvSpPr>
            <p:cNvPr id="5" name="Rectangle 4">
              <a:extLst>
                <a:ext uri="{FF2B5EF4-FFF2-40B4-BE49-F238E27FC236}">
                  <a16:creationId xmlns:a16="http://schemas.microsoft.com/office/drawing/2014/main" id="{7D70D483-E6A1-959E-4AB0-6A4D0B7FED1E}"/>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6" name="TextBox 5">
              <a:extLst>
                <a:ext uri="{FF2B5EF4-FFF2-40B4-BE49-F238E27FC236}">
                  <a16:creationId xmlns:a16="http://schemas.microsoft.com/office/drawing/2014/main" id="{7D7A0D9B-F09C-2F65-F713-D2F486AE366D}"/>
                </a:ext>
              </a:extLst>
            </p:cNvPr>
            <p:cNvSpPr txBox="1"/>
            <p:nvPr/>
          </p:nvSpPr>
          <p:spPr>
            <a:xfrm>
              <a:off x="2855054" y="2165577"/>
              <a:ext cx="126883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7" name="Document 5">
              <a:extLst>
                <a:ext uri="{FF2B5EF4-FFF2-40B4-BE49-F238E27FC236}">
                  <a16:creationId xmlns:a16="http://schemas.microsoft.com/office/drawing/2014/main" id="{B1E75B61-A15F-BC94-3538-E1D1834DD987}"/>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Catalog</a:t>
              </a:r>
            </a:p>
          </p:txBody>
        </p:sp>
      </p:grpSp>
      <p:grpSp>
        <p:nvGrpSpPr>
          <p:cNvPr id="8" name="Group 7">
            <a:extLst>
              <a:ext uri="{FF2B5EF4-FFF2-40B4-BE49-F238E27FC236}">
                <a16:creationId xmlns:a16="http://schemas.microsoft.com/office/drawing/2014/main" id="{1686180A-985E-621D-9BD5-296D1F1C485D}"/>
              </a:ext>
            </a:extLst>
          </p:cNvPr>
          <p:cNvGrpSpPr/>
          <p:nvPr/>
        </p:nvGrpSpPr>
        <p:grpSpPr>
          <a:xfrm>
            <a:off x="493680" y="4777641"/>
            <a:ext cx="4198349" cy="1505528"/>
            <a:chOff x="275020" y="652292"/>
            <a:chExt cx="4016761" cy="2005193"/>
          </a:xfrm>
        </p:grpSpPr>
        <p:sp>
          <p:nvSpPr>
            <p:cNvPr id="9" name="TextBox 8">
              <a:extLst>
                <a:ext uri="{FF2B5EF4-FFF2-40B4-BE49-F238E27FC236}">
                  <a16:creationId xmlns:a16="http://schemas.microsoft.com/office/drawing/2014/main" id="{A8FBA42C-B6F3-07F4-504B-6618DFB2B597}"/>
                </a:ext>
              </a:extLst>
            </p:cNvPr>
            <p:cNvSpPr txBox="1"/>
            <p:nvPr/>
          </p:nvSpPr>
          <p:spPr>
            <a:xfrm>
              <a:off x="2807135" y="652292"/>
              <a:ext cx="1484646" cy="860840"/>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HMM</a:t>
              </a:r>
            </a:p>
          </p:txBody>
        </p:sp>
        <p:sp>
          <p:nvSpPr>
            <p:cNvPr id="10" name="Rectangle 9">
              <a:extLst>
                <a:ext uri="{FF2B5EF4-FFF2-40B4-BE49-F238E27FC236}">
                  <a16:creationId xmlns:a16="http://schemas.microsoft.com/office/drawing/2014/main" id="{D8CCF2F6-279F-68B7-F570-876F12079228}"/>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C4C297C7-4A3D-995C-ABD5-93DD69D2E148}"/>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 X N</a:t>
              </a:r>
            </a:p>
          </p:txBody>
        </p:sp>
        <p:sp>
          <p:nvSpPr>
            <p:cNvPr id="12" name="Document 5">
              <a:extLst>
                <a:ext uri="{FF2B5EF4-FFF2-40B4-BE49-F238E27FC236}">
                  <a16:creationId xmlns:a16="http://schemas.microsoft.com/office/drawing/2014/main" id="{58BBD735-05F7-7919-C044-C5D519B69B87}"/>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HMM Catalog</a:t>
              </a:r>
            </a:p>
          </p:txBody>
        </p:sp>
      </p:grpSp>
      <p:grpSp>
        <p:nvGrpSpPr>
          <p:cNvPr id="13" name="Group 12">
            <a:extLst>
              <a:ext uri="{FF2B5EF4-FFF2-40B4-BE49-F238E27FC236}">
                <a16:creationId xmlns:a16="http://schemas.microsoft.com/office/drawing/2014/main" id="{AAA44FAB-09CE-0EA9-2632-10BC490577FB}"/>
              </a:ext>
            </a:extLst>
          </p:cNvPr>
          <p:cNvGrpSpPr/>
          <p:nvPr/>
        </p:nvGrpSpPr>
        <p:grpSpPr>
          <a:xfrm>
            <a:off x="493679" y="2912249"/>
            <a:ext cx="4198349" cy="1505528"/>
            <a:chOff x="275020" y="652292"/>
            <a:chExt cx="4016761" cy="2005193"/>
          </a:xfrm>
        </p:grpSpPr>
        <p:sp>
          <p:nvSpPr>
            <p:cNvPr id="14" name="TextBox 13">
              <a:extLst>
                <a:ext uri="{FF2B5EF4-FFF2-40B4-BE49-F238E27FC236}">
                  <a16:creationId xmlns:a16="http://schemas.microsoft.com/office/drawing/2014/main" id="{C1AE73A0-98E5-98EA-ADBF-45BB2B3864EC}"/>
                </a:ext>
              </a:extLst>
            </p:cNvPr>
            <p:cNvSpPr txBox="1"/>
            <p:nvPr/>
          </p:nvSpPr>
          <p:spPr>
            <a:xfrm>
              <a:off x="2807135" y="652292"/>
              <a:ext cx="1484646" cy="1229771"/>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node in our hierarchy</a:t>
              </a:r>
            </a:p>
          </p:txBody>
        </p:sp>
        <p:sp>
          <p:nvSpPr>
            <p:cNvPr id="15" name="Rectangle 14">
              <a:extLst>
                <a:ext uri="{FF2B5EF4-FFF2-40B4-BE49-F238E27FC236}">
                  <a16:creationId xmlns:a16="http://schemas.microsoft.com/office/drawing/2014/main" id="{66A2E3D9-821A-C0A8-296A-A051A9E72787}"/>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6" name="TextBox 15">
              <a:extLst>
                <a:ext uri="{FF2B5EF4-FFF2-40B4-BE49-F238E27FC236}">
                  <a16:creationId xmlns:a16="http://schemas.microsoft.com/office/drawing/2014/main" id="{020250AD-610A-D067-9B42-50018284DCA2}"/>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17" name="Document 5">
              <a:extLst>
                <a:ext uri="{FF2B5EF4-FFF2-40B4-BE49-F238E27FC236}">
                  <a16:creationId xmlns:a16="http://schemas.microsoft.com/office/drawing/2014/main" id="{165364BB-1EE9-9A77-5CE9-707E7297081A}"/>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Hierarchy</a:t>
              </a:r>
            </a:p>
          </p:txBody>
        </p:sp>
      </p:grpSp>
      <p:cxnSp>
        <p:nvCxnSpPr>
          <p:cNvPr id="18" name="Straight Arrow Connector 17">
            <a:extLst>
              <a:ext uri="{FF2B5EF4-FFF2-40B4-BE49-F238E27FC236}">
                <a16:creationId xmlns:a16="http://schemas.microsoft.com/office/drawing/2014/main" id="{87F51D25-5527-B986-707F-23EB11F9047D}"/>
              </a:ext>
            </a:extLst>
          </p:cNvPr>
          <p:cNvCxnSpPr>
            <a:stCxn id="5" idx="2"/>
            <a:endCxn id="15" idx="0"/>
          </p:cNvCxnSpPr>
          <p:nvPr/>
        </p:nvCxnSpPr>
        <p:spPr>
          <a:xfrm flipH="1">
            <a:off x="2592854" y="2553474"/>
            <a:ext cx="1" cy="35986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4269AF3-9FA8-9929-577D-EC9911FBECE5}"/>
              </a:ext>
            </a:extLst>
          </p:cNvPr>
          <p:cNvCxnSpPr>
            <a:cxnSpLocks/>
            <a:stCxn id="15" idx="2"/>
            <a:endCxn id="10" idx="0"/>
          </p:cNvCxnSpPr>
          <p:nvPr/>
        </p:nvCxnSpPr>
        <p:spPr>
          <a:xfrm>
            <a:off x="2592854" y="4388578"/>
            <a:ext cx="1" cy="39015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Document 5">
            <a:extLst>
              <a:ext uri="{FF2B5EF4-FFF2-40B4-BE49-F238E27FC236}">
                <a16:creationId xmlns:a16="http://schemas.microsoft.com/office/drawing/2014/main" id="{EB816858-89E9-8A67-EF5E-FD78C6A74C57}"/>
              </a:ext>
            </a:extLst>
          </p:cNvPr>
          <p:cNvSpPr/>
          <p:nvPr/>
        </p:nvSpPr>
        <p:spPr>
          <a:xfrm>
            <a:off x="5701395" y="888660"/>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Pathogen Detection Isolate Browser</a:t>
            </a:r>
          </a:p>
        </p:txBody>
      </p:sp>
      <p:sp>
        <p:nvSpPr>
          <p:cNvPr id="21" name="TextBox 20">
            <a:extLst>
              <a:ext uri="{FF2B5EF4-FFF2-40B4-BE49-F238E27FC236}">
                <a16:creationId xmlns:a16="http://schemas.microsoft.com/office/drawing/2014/main" id="{CEAB9DAD-92D0-0674-AAF0-1D55FFFE3A8A}"/>
              </a:ext>
            </a:extLst>
          </p:cNvPr>
          <p:cNvSpPr txBox="1"/>
          <p:nvPr/>
        </p:nvSpPr>
        <p:spPr>
          <a:xfrm>
            <a:off x="9148127" y="849786"/>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assembled isolate, possibly with AMR, virulence, and/or stress response genes and AST data</a:t>
            </a:r>
          </a:p>
        </p:txBody>
      </p:sp>
      <p:sp>
        <p:nvSpPr>
          <p:cNvPr id="22" name="Rectangle 21">
            <a:extLst>
              <a:ext uri="{FF2B5EF4-FFF2-40B4-BE49-F238E27FC236}">
                <a16:creationId xmlns:a16="http://schemas.microsoft.com/office/drawing/2014/main" id="{63D6C766-DAAA-C8AB-42AA-E7456C8EF595}"/>
              </a:ext>
            </a:extLst>
          </p:cNvPr>
          <p:cNvSpPr/>
          <p:nvPr/>
        </p:nvSpPr>
        <p:spPr>
          <a:xfrm>
            <a:off x="5616044" y="791533"/>
            <a:ext cx="6474542" cy="1933385"/>
          </a:xfrm>
          <a:prstGeom prst="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23" name="TextBox 22">
            <a:extLst>
              <a:ext uri="{FF2B5EF4-FFF2-40B4-BE49-F238E27FC236}">
                <a16:creationId xmlns:a16="http://schemas.microsoft.com/office/drawing/2014/main" id="{37D37B85-4CE1-0B28-C49C-6A888C4B1C7A}"/>
              </a:ext>
            </a:extLst>
          </p:cNvPr>
          <p:cNvSpPr txBox="1"/>
          <p:nvPr/>
        </p:nvSpPr>
        <p:spPr>
          <a:xfrm>
            <a:off x="9862157" y="2248649"/>
            <a:ext cx="1757212" cy="369332"/>
          </a:xfrm>
          <a:prstGeom prst="rect">
            <a:avLst/>
          </a:prstGeom>
          <a:noFill/>
        </p:spPr>
        <p:txBody>
          <a:bodyPr wrap="non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 000,000 X N</a:t>
            </a:r>
          </a:p>
        </p:txBody>
      </p:sp>
      <p:cxnSp>
        <p:nvCxnSpPr>
          <p:cNvPr id="24" name="Straight Arrow Connector 23">
            <a:extLst>
              <a:ext uri="{FF2B5EF4-FFF2-40B4-BE49-F238E27FC236}">
                <a16:creationId xmlns:a16="http://schemas.microsoft.com/office/drawing/2014/main" id="{9FA43689-6108-0F1E-BFD7-EEDBA13505DC}"/>
              </a:ext>
            </a:extLst>
          </p:cNvPr>
          <p:cNvCxnSpPr>
            <a:cxnSpLocks/>
          </p:cNvCxnSpPr>
          <p:nvPr/>
        </p:nvCxnSpPr>
        <p:spPr>
          <a:xfrm>
            <a:off x="8514369"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6189D21-C6E2-0E29-3D33-0B89054D544B}"/>
              </a:ext>
            </a:extLst>
          </p:cNvPr>
          <p:cNvCxnSpPr>
            <a:cxnSpLocks/>
          </p:cNvCxnSpPr>
          <p:nvPr/>
        </p:nvCxnSpPr>
        <p:spPr>
          <a:xfrm flipV="1">
            <a:off x="8713473"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076DFA0-D35F-1161-178E-4BC88A2313CB}"/>
              </a:ext>
            </a:extLst>
          </p:cNvPr>
          <p:cNvSpPr txBox="1"/>
          <p:nvPr/>
        </p:nvSpPr>
        <p:spPr>
          <a:xfrm>
            <a:off x="10039640" y="2948002"/>
            <a:ext cx="222368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genomes</a:t>
            </a:r>
          </a:p>
        </p:txBody>
      </p:sp>
      <p:cxnSp>
        <p:nvCxnSpPr>
          <p:cNvPr id="27" name="Straight Arrow Connector 26">
            <a:extLst>
              <a:ext uri="{FF2B5EF4-FFF2-40B4-BE49-F238E27FC236}">
                <a16:creationId xmlns:a16="http://schemas.microsoft.com/office/drawing/2014/main" id="{BFBE9AD7-6569-4A32-B5A3-BEFD2056261A}"/>
              </a:ext>
            </a:extLst>
          </p:cNvPr>
          <p:cNvCxnSpPr>
            <a:cxnSpLocks/>
            <a:stCxn id="5" idx="3"/>
            <a:endCxn id="22" idx="1"/>
          </p:cNvCxnSpPr>
          <p:nvPr/>
        </p:nvCxnSpPr>
        <p:spPr>
          <a:xfrm flipV="1">
            <a:off x="4692029" y="1758226"/>
            <a:ext cx="924015" cy="5762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DBAC553-FC26-0E36-1EC4-249A97786A71}"/>
              </a:ext>
            </a:extLst>
          </p:cNvPr>
          <p:cNvCxnSpPr>
            <a:stCxn id="5" idx="3"/>
            <a:endCxn id="40" idx="1"/>
          </p:cNvCxnSpPr>
          <p:nvPr/>
        </p:nvCxnSpPr>
        <p:spPr>
          <a:xfrm>
            <a:off x="4692029" y="1815854"/>
            <a:ext cx="924015" cy="2821535"/>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118A91B-5CE1-0FB4-9F17-509DE150BF2E}"/>
              </a:ext>
            </a:extLst>
          </p:cNvPr>
          <p:cNvCxnSpPr>
            <a:cxnSpLocks/>
            <a:stCxn id="15" idx="3"/>
            <a:endCxn id="22" idx="1"/>
          </p:cNvCxnSpPr>
          <p:nvPr/>
        </p:nvCxnSpPr>
        <p:spPr>
          <a:xfrm flipV="1">
            <a:off x="4692028" y="1758226"/>
            <a:ext cx="924016" cy="18927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2B2D6D-A01E-53A1-9845-3245AD34D179}"/>
              </a:ext>
            </a:extLst>
          </p:cNvPr>
          <p:cNvCxnSpPr>
            <a:stCxn id="15" idx="3"/>
            <a:endCxn id="40" idx="1"/>
          </p:cNvCxnSpPr>
          <p:nvPr/>
        </p:nvCxnSpPr>
        <p:spPr>
          <a:xfrm>
            <a:off x="4692028" y="3650958"/>
            <a:ext cx="924016" cy="9864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B1F0A5-71B8-D49F-2EDB-3FEE65AD9172}"/>
              </a:ext>
            </a:extLst>
          </p:cNvPr>
          <p:cNvCxnSpPr>
            <a:cxnSpLocks/>
            <a:stCxn id="10" idx="3"/>
            <a:endCxn id="22" idx="1"/>
          </p:cNvCxnSpPr>
          <p:nvPr/>
        </p:nvCxnSpPr>
        <p:spPr>
          <a:xfrm flipV="1">
            <a:off x="4692029" y="1758226"/>
            <a:ext cx="924015" cy="37581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2AA9D296-73DC-22F7-C10F-048FD97DE39F}"/>
              </a:ext>
            </a:extLst>
          </p:cNvPr>
          <p:cNvCxnSpPr>
            <a:stCxn id="10" idx="3"/>
            <a:endCxn id="40" idx="1"/>
          </p:cNvCxnSpPr>
          <p:nvPr/>
        </p:nvCxnSpPr>
        <p:spPr>
          <a:xfrm flipV="1">
            <a:off x="4692029" y="4637389"/>
            <a:ext cx="924015" cy="8789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FD56175F-6CAD-0305-C41C-1D4A9C9C4F9D}"/>
              </a:ext>
            </a:extLst>
          </p:cNvPr>
          <p:cNvGrpSpPr/>
          <p:nvPr/>
        </p:nvGrpSpPr>
        <p:grpSpPr>
          <a:xfrm>
            <a:off x="5616044" y="3367190"/>
            <a:ext cx="6622234" cy="3258714"/>
            <a:chOff x="5614700" y="3200285"/>
            <a:chExt cx="6622234" cy="3258714"/>
          </a:xfrm>
        </p:grpSpPr>
        <p:grpSp>
          <p:nvGrpSpPr>
            <p:cNvPr id="34" name="Group 33">
              <a:extLst>
                <a:ext uri="{FF2B5EF4-FFF2-40B4-BE49-F238E27FC236}">
                  <a16:creationId xmlns:a16="http://schemas.microsoft.com/office/drawing/2014/main" id="{4F92BDD5-AB12-5053-96F6-E066B9B293BF}"/>
                </a:ext>
              </a:extLst>
            </p:cNvPr>
            <p:cNvGrpSpPr/>
            <p:nvPr/>
          </p:nvGrpSpPr>
          <p:grpSpPr>
            <a:xfrm>
              <a:off x="5614700" y="3200285"/>
              <a:ext cx="6622234" cy="2540398"/>
              <a:chOff x="5614700" y="3200285"/>
              <a:chExt cx="6622234" cy="2540398"/>
            </a:xfrm>
          </p:grpSpPr>
          <p:sp>
            <p:nvSpPr>
              <p:cNvPr id="37" name="Document 5">
                <a:extLst>
                  <a:ext uri="{FF2B5EF4-FFF2-40B4-BE49-F238E27FC236}">
                    <a16:creationId xmlns:a16="http://schemas.microsoft.com/office/drawing/2014/main" id="{2F4006E8-E0F7-A5E7-75D1-A6B7F4ED57AB}"/>
                  </a:ext>
                </a:extLst>
              </p:cNvPr>
              <p:cNvSpPr/>
              <p:nvPr/>
            </p:nvSpPr>
            <p:spPr>
              <a:xfrm>
                <a:off x="5795142" y="3327577"/>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err="1">
                    <a:solidFill>
                      <a:schemeClr val="bg1"/>
                    </a:solidFill>
                    <a:latin typeface="Arial" panose="020B0604020202020204" pitchFamily="34" charset="0"/>
                    <a:ea typeface="Cambria" panose="02040503050406030204" pitchFamily="18" charset="0"/>
                    <a:cs typeface="Arial" panose="020B0604020202020204" pitchFamily="34" charset="0"/>
                  </a:rPr>
                  <a:t>MicroBIGG</a:t>
                </a: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-E (Microbial Browser for Identification of Genetic and Genomic Elements)</a:t>
                </a:r>
              </a:p>
            </p:txBody>
          </p:sp>
          <p:sp>
            <p:nvSpPr>
              <p:cNvPr id="38" name="TextBox 37">
                <a:extLst>
                  <a:ext uri="{FF2B5EF4-FFF2-40B4-BE49-F238E27FC236}">
                    <a16:creationId xmlns:a16="http://schemas.microsoft.com/office/drawing/2014/main" id="{36EA5C50-8E61-BE3C-9D98-461FED61C319}"/>
                  </a:ext>
                </a:extLst>
              </p:cNvPr>
              <p:cNvSpPr txBox="1"/>
              <p:nvPr/>
            </p:nvSpPr>
            <p:spPr>
              <a:xfrm>
                <a:off x="9448507" y="3314747"/>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AMR, virulence, and/or stress response genes with method, type, subtype, class, subclass, and supporting evidence</a:t>
                </a:r>
              </a:p>
            </p:txBody>
          </p:sp>
          <p:sp>
            <p:nvSpPr>
              <p:cNvPr id="39" name="TextBox 38">
                <a:extLst>
                  <a:ext uri="{FF2B5EF4-FFF2-40B4-BE49-F238E27FC236}">
                    <a16:creationId xmlns:a16="http://schemas.microsoft.com/office/drawing/2014/main" id="{0E82E6C0-8DC9-BC93-424B-34813D9F3AFA}"/>
                  </a:ext>
                </a:extLst>
              </p:cNvPr>
              <p:cNvSpPr txBox="1"/>
              <p:nvPr/>
            </p:nvSpPr>
            <p:spPr>
              <a:xfrm>
                <a:off x="9749086" y="5371351"/>
                <a:ext cx="1896673" cy="369332"/>
              </a:xfrm>
              <a:prstGeom prst="rect">
                <a:avLst/>
              </a:prstGeom>
              <a:noFill/>
            </p:spPr>
            <p:txBody>
              <a:bodyPr wrap="none" rtlCol="0">
                <a:spAutoFit/>
              </a:bodyPr>
              <a:lstStyle/>
              <a:p>
                <a:r>
                  <a:rPr lang="en-US">
                    <a:latin typeface="Arial" panose="020B0604020202020204" pitchFamily="34" charset="0"/>
                    <a:ea typeface="Cambria" panose="02040503050406030204" pitchFamily="18" charset="0"/>
                    <a:cs typeface="Arial" panose="020B0604020202020204" pitchFamily="34" charset="0"/>
                  </a:rPr>
                  <a:t>10, 000,000 X N</a:t>
                </a:r>
              </a:p>
            </p:txBody>
          </p:sp>
          <p:sp>
            <p:nvSpPr>
              <p:cNvPr id="40" name="Rectangle 39">
                <a:extLst>
                  <a:ext uri="{FF2B5EF4-FFF2-40B4-BE49-F238E27FC236}">
                    <a16:creationId xmlns:a16="http://schemas.microsoft.com/office/drawing/2014/main" id="{59F6E64E-C22B-9B6C-BDCA-CDB63545040F}"/>
                  </a:ext>
                </a:extLst>
              </p:cNvPr>
              <p:cNvSpPr/>
              <p:nvPr/>
            </p:nvSpPr>
            <p:spPr>
              <a:xfrm>
                <a:off x="5614700" y="3200285"/>
                <a:ext cx="6474542" cy="254039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grpSp>
        <p:sp>
          <p:nvSpPr>
            <p:cNvPr id="35" name="TextBox 34">
              <a:extLst>
                <a:ext uri="{FF2B5EF4-FFF2-40B4-BE49-F238E27FC236}">
                  <a16:creationId xmlns:a16="http://schemas.microsoft.com/office/drawing/2014/main" id="{3D9AB937-0392-91EB-117C-0737C74E7754}"/>
                </a:ext>
              </a:extLst>
            </p:cNvPr>
            <p:cNvSpPr txBox="1"/>
            <p:nvPr/>
          </p:nvSpPr>
          <p:spPr>
            <a:xfrm>
              <a:off x="6096000" y="6089667"/>
              <a:ext cx="438453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genes, genes + flanks, contigs</a:t>
              </a:r>
            </a:p>
          </p:txBody>
        </p:sp>
        <p:cxnSp>
          <p:nvCxnSpPr>
            <p:cNvPr id="36" name="Straight Arrow Connector 35">
              <a:extLst>
                <a:ext uri="{FF2B5EF4-FFF2-40B4-BE49-F238E27FC236}">
                  <a16:creationId xmlns:a16="http://schemas.microsoft.com/office/drawing/2014/main" id="{86BE69C7-4F33-CD76-21FB-E29CF149C8D4}"/>
                </a:ext>
              </a:extLst>
            </p:cNvPr>
            <p:cNvCxnSpPr/>
            <p:nvPr/>
          </p:nvCxnSpPr>
          <p:spPr>
            <a:xfrm>
              <a:off x="8090946" y="5815795"/>
              <a:ext cx="0" cy="355479"/>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Arrow Connector 40">
            <a:extLst>
              <a:ext uri="{FF2B5EF4-FFF2-40B4-BE49-F238E27FC236}">
                <a16:creationId xmlns:a16="http://schemas.microsoft.com/office/drawing/2014/main" id="{29B2268F-9846-A022-D1F7-1870D2133EA2}"/>
              </a:ext>
            </a:extLst>
          </p:cNvPr>
          <p:cNvCxnSpPr>
            <a:cxnSpLocks/>
          </p:cNvCxnSpPr>
          <p:nvPr/>
        </p:nvCxnSpPr>
        <p:spPr>
          <a:xfrm>
            <a:off x="10893608" y="2741529"/>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9671417"/>
      </p:ext>
    </p:extLst>
  </p:cSld>
  <p:clrMapOvr>
    <a:masterClrMapping/>
  </p:clrMapOvr>
</p:sld>
</file>

<file path=ppt/theme/theme1.xml><?xml version="1.0" encoding="utf-8"?>
<a:theme xmlns:a="http://schemas.openxmlformats.org/drawingml/2006/main" name="Office Theme">
  <a:themeElements>
    <a:clrScheme name="NCBI Colors 1">
      <a:dk1>
        <a:srgbClr val="000000"/>
      </a:dk1>
      <a:lt1>
        <a:srgbClr val="FFFFFF"/>
      </a:lt1>
      <a:dk2>
        <a:srgbClr val="44546A"/>
      </a:dk2>
      <a:lt2>
        <a:srgbClr val="E7E6E6"/>
      </a:lt2>
      <a:accent1>
        <a:srgbClr val="0071BC"/>
      </a:accent1>
      <a:accent2>
        <a:srgbClr val="AEB0B5"/>
      </a:accent2>
      <a:accent3>
        <a:srgbClr val="00A6D2"/>
      </a:accent3>
      <a:accent4>
        <a:srgbClr val="981B1E"/>
      </a:accent4>
      <a:accent5>
        <a:srgbClr val="002455"/>
      </a:accent5>
      <a:accent6>
        <a:srgbClr val="2E8540"/>
      </a:accent6>
      <a:hlink>
        <a:srgbClr val="0563C1"/>
      </a:hlink>
      <a:folHlink>
        <a:srgbClr val="954F72"/>
      </a:folHlink>
    </a:clrScheme>
    <a:fontScheme name="NCBI Helvetica Font">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cbi_presentation_light_2018-final3" id="{98D4A0B7-E0BF-164B-A57A-F4BCD23BECE7}" vid="{3CA3D7C7-A90F-314B-994C-EF26FE2F6E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BBD5C7FAC17C4F9F62ED65478D417A" ma:contentTypeVersion="14" ma:contentTypeDescription="Create a new document." ma:contentTypeScope="" ma:versionID="579183c95807dbe9ca39dd31f7dee8a0">
  <xsd:schema xmlns:xsd="http://www.w3.org/2001/XMLSchema" xmlns:xs="http://www.w3.org/2001/XMLSchema" xmlns:p="http://schemas.microsoft.com/office/2006/metadata/properties" xmlns:ns1="http://schemas.microsoft.com/sharepoint/v3" xmlns:ns2="4f470479-beb7-4b11-a5df-a20cf6d784b6" xmlns:ns3="4c72124a-75fe-4ae6-88c5-ab2a950d04a8" targetNamespace="http://schemas.microsoft.com/office/2006/metadata/properties" ma:root="true" ma:fieldsID="8961dd310327d6cc48411fc2661a2ede" ns1:_="" ns2:_="" ns3:_="">
    <xsd:import namespace="http://schemas.microsoft.com/sharepoint/v3"/>
    <xsd:import namespace="4f470479-beb7-4b11-a5df-a20cf6d784b6"/>
    <xsd:import namespace="4c72124a-75fe-4ae6-88c5-ab2a950d04a8"/>
    <xsd:element name="properties">
      <xsd:complexType>
        <xsd:sequence>
          <xsd:element name="documentManagement">
            <xsd:complexType>
              <xsd:all>
                <xsd:element ref="ns2:MediaServiceEventHashCode" minOccurs="0"/>
                <xsd:element ref="ns2:MediaServiceGenerationTime" minOccurs="0"/>
                <xsd:element ref="ns2:MediaServiceLocation" minOccurs="0"/>
                <xsd:element ref="ns2:MediaServiceAutoKeyPoints" minOccurs="0"/>
                <xsd:element ref="ns2:MediaServiceKeyPoints" minOccurs="0"/>
                <xsd:element ref="ns2:Person" minOccurs="0"/>
                <xsd:element ref="ns1:_ip_UnifiedCompliancePolicyProperties" minOccurs="0"/>
                <xsd:element ref="ns1:_ip_UnifiedCompliancePolicyUIAction"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4" nillable="true" ma:displayName="Unified Compliance Policy Properties" ma:hidden="true" ma:internalName="_ip_UnifiedCompliancePolicyProperties">
      <xsd:simpleType>
        <xsd:restriction base="dms:Note"/>
      </xsd:simpleType>
    </xsd:element>
    <xsd:element name="_ip_UnifiedCompliancePolicyUIAction" ma:index="1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f470479-beb7-4b11-a5df-a20cf6d784b6" elementFormDefault="qualified">
    <xsd:import namespace="http://schemas.microsoft.com/office/2006/documentManagement/types"/>
    <xsd:import namespace="http://schemas.microsoft.com/office/infopath/2007/PartnerControls"/>
    <xsd:element name="MediaServiceEventHashCode" ma:index="8" nillable="true" ma:displayName="MediaServiceEventHashCode" ma:hidden="true" ma:internalName="MediaServiceEventHashCode" ma:readOnly="true">
      <xsd:simpleType>
        <xsd:restriction base="dms:Text"/>
      </xsd:simpleType>
    </xsd:element>
    <xsd:element name="MediaServiceGenerationTime" ma:index="9" nillable="true" ma:displayName="MediaServiceGenerationTime" ma:hidden="true" ma:internalName="MediaServiceGenerationTime" ma:readOnly="true">
      <xsd:simpleType>
        <xsd:restriction base="dms:Text"/>
      </xsd:simpleType>
    </xsd:element>
    <xsd:element name="MediaServiceLocation" ma:index="10" nillable="true" ma:displayName="Location" ma:internalName="MediaServiceLocatio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Person" ma:index="13" nillable="true" ma:displayName="Person" ma:format="Dropdown" ma:list="UserInfo" ma:SharePointGroup="0" ma:internalName="Person">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5076318-fc83-4098-b869-becb80c8aa91"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c72124a-75fe-4ae6-88c5-ab2a950d04a8"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57123358-6b54-413a-b6ef-b2f5ba7fb6f5}" ma:internalName="TaxCatchAll" ma:showField="CatchAllData" ma:web="4c72124a-75fe-4ae6-88c5-ab2a950d04a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c72124a-75fe-4ae6-88c5-ab2a950d04a8" xsi:nil="true"/>
    <lcf76f155ced4ddcb4097134ff3c332f xmlns="4f470479-beb7-4b11-a5df-a20cf6d784b6">
      <Terms xmlns="http://schemas.microsoft.com/office/infopath/2007/PartnerControls"/>
    </lcf76f155ced4ddcb4097134ff3c332f>
    <_ip_UnifiedCompliancePolicyUIAction xmlns="http://schemas.microsoft.com/sharepoint/v3" xsi:nil="true"/>
    <_ip_UnifiedCompliancePolicyProperties xmlns="http://schemas.microsoft.com/sharepoint/v3" xsi:nil="true"/>
    <Person xmlns="4f470479-beb7-4b11-a5df-a20cf6d784b6">
      <UserInfo>
        <DisplayName/>
        <AccountId xsi:nil="true"/>
        <AccountType/>
      </UserInfo>
    </Person>
  </documentManagement>
</p:properties>
</file>

<file path=customXml/itemProps1.xml><?xml version="1.0" encoding="utf-8"?>
<ds:datastoreItem xmlns:ds="http://schemas.openxmlformats.org/officeDocument/2006/customXml" ds:itemID="{5C7DF705-151F-4A5F-B75C-DF488EDE845D}">
  <ds:schemaRefs>
    <ds:schemaRef ds:uri="4c72124a-75fe-4ae6-88c5-ab2a950d04a8"/>
    <ds:schemaRef ds:uri="4f470479-beb7-4b11-a5df-a20cf6d784b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A8BAA86-98B8-4506-BF04-1D37DE5824BA}">
  <ds:schemaRefs>
    <ds:schemaRef ds:uri="http://schemas.microsoft.com/sharepoint/v3/contenttype/forms"/>
  </ds:schemaRefs>
</ds:datastoreItem>
</file>

<file path=customXml/itemProps3.xml><?xml version="1.0" encoding="utf-8"?>
<ds:datastoreItem xmlns:ds="http://schemas.openxmlformats.org/officeDocument/2006/customXml" ds:itemID="{373432C6-09C1-4655-AEB5-6BC5B71B0AF6}">
  <ds:schemaRefs>
    <ds:schemaRef ds:uri="http://purl.org/dc/elements/1.1/"/>
    <ds:schemaRef ds:uri="http://schemas.microsoft.com/office/2006/documentManagement/types"/>
    <ds:schemaRef ds:uri="http://www.w3.org/XML/1998/namespace"/>
    <ds:schemaRef ds:uri="4c72124a-75fe-4ae6-88c5-ab2a950d04a8"/>
    <ds:schemaRef ds:uri="http://schemas.openxmlformats.org/package/2006/metadata/core-properties"/>
    <ds:schemaRef ds:uri="4f470479-beb7-4b11-a5df-a20cf6d784b6"/>
    <ds:schemaRef ds:uri="http://schemas.microsoft.com/office/infopath/2007/PartnerControls"/>
    <ds:schemaRef ds:uri="http://purl.org/dc/terms/"/>
    <ds:schemaRef ds:uri="http://schemas.microsoft.com/sharepoint/v3"/>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14b77578-9773-42d5-8507-251ca2dc2b06}" enabled="0" method="" siteId="{14b77578-9773-42d5-8507-251ca2dc2b06}" removed="1"/>
</clbl:labelList>
</file>

<file path=docProps/app.xml><?xml version="1.0" encoding="utf-8"?>
<Properties xmlns="http://schemas.openxmlformats.org/officeDocument/2006/extended-properties" xmlns:vt="http://schemas.openxmlformats.org/officeDocument/2006/docPropsVTypes">
  <Template/>
  <TotalTime>59</TotalTime>
  <Words>623</Words>
  <Application>Microsoft Macintosh PowerPoint</Application>
  <PresentationFormat>Widescreen</PresentationFormat>
  <Paragraphs>80</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Abadi</vt:lpstr>
      <vt:lpstr>Arial</vt:lpstr>
      <vt:lpstr>Calibri</vt:lpstr>
      <vt:lpstr>Helvetica</vt:lpstr>
      <vt:lpstr>Office Theme</vt:lpstr>
      <vt:lpstr>ASM BIG 2026 NCBI Workshop NCBI Pathogen Detection</vt:lpstr>
      <vt:lpstr>PowerPoint Presentation</vt:lpstr>
      <vt:lpstr>NCBI Pathogen Detection</vt:lpstr>
      <vt:lpstr>Pathogen Detection Analysis Goals</vt:lpstr>
      <vt:lpstr>Pathogen Detection Analysis Goals</vt:lpstr>
      <vt:lpstr>Pathogen Detection Pipeline</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
  <dc:creator>Leubsdorf, Carl (NIH/NLM/NCBI) [C]</dc:creator>
  <cp:keywords/>
  <dc:description/>
  <cp:lastModifiedBy>Prasad, Arjun (NIH/NLM/NCBI) [E]</cp:lastModifiedBy>
  <cp:revision>4</cp:revision>
  <dcterms:created xsi:type="dcterms:W3CDTF">2019-03-19T15:16:52Z</dcterms:created>
  <dcterms:modified xsi:type="dcterms:W3CDTF">2026-10-02T15:01:29Z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0x01010041BBD5C7FAC17C4F9F62ED65478D417A</vt:lpwstr>
  </property>
  <property fmtid="{D5CDD505-2E9C-101B-9397-08002B2CF9AE}" pid="3" name="MediaServiceImageTags">
    <vt:lpwstr/>
  </property>
</Properties>
</file>