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1"/>
  </p:notesMasterIdLst>
  <p:sldIdLst>
    <p:sldId id="256" r:id="rId5"/>
    <p:sldId id="257" r:id="rId6"/>
    <p:sldId id="1094" r:id="rId7"/>
    <p:sldId id="290" r:id="rId8"/>
    <p:sldId id="362" r:id="rId9"/>
    <p:sldId id="1097" r:id="rId10"/>
    <p:sldId id="1095" r:id="rId11"/>
    <p:sldId id="2147478266" r:id="rId12"/>
    <p:sldId id="364" r:id="rId13"/>
    <p:sldId id="1096" r:id="rId14"/>
    <p:sldId id="258" r:id="rId15"/>
    <p:sldId id="2147478290" r:id="rId16"/>
    <p:sldId id="2147478288" r:id="rId17"/>
    <p:sldId id="2147478287" r:id="rId18"/>
    <p:sldId id="1250" r:id="rId19"/>
    <p:sldId id="1242" r:id="rId20"/>
    <p:sldId id="1229" r:id="rId21"/>
    <p:sldId id="1225" r:id="rId22"/>
    <p:sldId id="2147478296" r:id="rId23"/>
    <p:sldId id="2147478291" r:id="rId24"/>
    <p:sldId id="2147478292" r:id="rId25"/>
    <p:sldId id="2147478293" r:id="rId26"/>
    <p:sldId id="2147478294" r:id="rId27"/>
    <p:sldId id="2147478295" r:id="rId28"/>
    <p:sldId id="2147478297" r:id="rId29"/>
    <p:sldId id="75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AE00"/>
    <a:srgbClr val="205493"/>
    <a:srgbClr val="C5EDE9"/>
    <a:srgbClr val="E1F3F9"/>
    <a:srgbClr val="34576A"/>
    <a:srgbClr val="33CABE"/>
    <a:srgbClr val="EFEFF1"/>
    <a:srgbClr val="F2D060"/>
    <a:srgbClr val="89DFD7"/>
    <a:srgbClr val="34B5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99"/>
    <p:restoredTop sz="94658"/>
  </p:normalViewPr>
  <p:slideViewPr>
    <p:cSldViewPr snapToGrid="0">
      <p:cViewPr varScale="1">
        <p:scale>
          <a:sx n="102" d="100"/>
          <a:sy n="102" d="100"/>
        </p:scale>
        <p:origin x="1384"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A2426E-871E-6048-897D-C00DFFEC19B5}" type="datetimeFigureOut">
              <a:rPr lang="en-US" smtClean="0"/>
              <a:t>10/10/26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30F7CC-E99A-9B4E-A466-3BF0E5F4787E}" type="slidenum">
              <a:rPr lang="en-US" smtClean="0"/>
              <a:t>‹#›</a:t>
            </a:fld>
            <a:endParaRPr lang="en-US"/>
          </a:p>
        </p:txBody>
      </p:sp>
    </p:spTree>
    <p:extLst>
      <p:ext uri="{BB962C8B-B14F-4D97-AF65-F5344CB8AC3E}">
        <p14:creationId xmlns:p14="http://schemas.microsoft.com/office/powerpoint/2010/main" val="1865527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BD0B8B-4FA3-4B8D-A511-CE1E9FA2288E}" type="slidenum">
              <a:rPr lang="en-US" smtClean="0"/>
              <a:t>3</a:t>
            </a:fld>
            <a:endParaRPr lang="en-US" dirty="0"/>
          </a:p>
        </p:txBody>
      </p:sp>
    </p:spTree>
    <p:extLst>
      <p:ext uri="{BB962C8B-B14F-4D97-AF65-F5344CB8AC3E}">
        <p14:creationId xmlns:p14="http://schemas.microsoft.com/office/powerpoint/2010/main" val="2248292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30F7CC-E99A-9B4E-A466-3BF0E5F4787E}" type="slidenum">
              <a:rPr lang="en-US" smtClean="0"/>
              <a:t>4</a:t>
            </a:fld>
            <a:endParaRPr lang="en-US"/>
          </a:p>
        </p:txBody>
      </p:sp>
    </p:spTree>
    <p:extLst>
      <p:ext uri="{BB962C8B-B14F-4D97-AF65-F5344CB8AC3E}">
        <p14:creationId xmlns:p14="http://schemas.microsoft.com/office/powerpoint/2010/main" val="2045615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Pathogen Detection pipeline was initiated as part of this effort. There are effectively two main analytical goals of the pipeline: 1) the first is to identify if the isolates are clonally related to aid in the identification of food sources making people sick, and the second is to identify the genetic elements contributing to pathogenicity including antimicrobial resistance genes, stress response genes that contribute to environmental persistence, and virulence genes such as toxins. The results are presented in an easy-to-use web interface and I will give a brief demonstration in a few minutes of that for the first point.</a:t>
            </a:r>
          </a:p>
        </p:txBody>
      </p:sp>
      <p:sp>
        <p:nvSpPr>
          <p:cNvPr id="4" name="Slide Number Placeholder 3"/>
          <p:cNvSpPr>
            <a:spLocks noGrp="1"/>
          </p:cNvSpPr>
          <p:nvPr>
            <p:ph type="sldNum" sz="quarter" idx="5"/>
          </p:nvPr>
        </p:nvSpPr>
        <p:spPr/>
        <p:txBody>
          <a:bodyPr/>
          <a:lstStyle/>
          <a:p>
            <a:fld id="{30BD0B8B-4FA3-4B8D-A511-CE1E9FA2288E}" type="slidenum">
              <a:rPr lang="en-US" smtClean="0"/>
              <a:t>5</a:t>
            </a:fld>
            <a:endParaRPr lang="en-US" dirty="0"/>
          </a:p>
        </p:txBody>
      </p:sp>
    </p:spTree>
    <p:extLst>
      <p:ext uri="{BB962C8B-B14F-4D97-AF65-F5344CB8AC3E}">
        <p14:creationId xmlns:p14="http://schemas.microsoft.com/office/powerpoint/2010/main" val="1074823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859E7-E386-9B22-95A0-368AC743A5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3A820-79E8-C882-2600-58EC8EF949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37E5A-5E86-2C53-32E9-B104002E9450}"/>
              </a:ext>
            </a:extLst>
          </p:cNvPr>
          <p:cNvSpPr>
            <a:spLocks noGrp="1"/>
          </p:cNvSpPr>
          <p:nvPr>
            <p:ph type="body" idx="1"/>
          </p:nvPr>
        </p:nvSpPr>
        <p:spPr/>
        <p:txBody>
          <a:bodyPr/>
          <a:lstStyle/>
          <a:p>
            <a:r>
              <a:rPr lang="en-US" dirty="0"/>
              <a:t>The Pathogen Detection pipeline was initiated as part of this effort. There are effectively two main analytical goals of the pipeline: 1) the first is to identify if the isolates are clonally related to aid in the identification of food sources making people sick, and the second is to identify the genetic elements contributing to pathogenicity including antimicrobial resistance genes, stress response genes that contribute to environmental persistence, and virulence genes such as toxins. The results are presented in an easy-to-use web interface and I will give a brief demonstration in a few minutes of that for the first point.</a:t>
            </a:r>
          </a:p>
        </p:txBody>
      </p:sp>
      <p:sp>
        <p:nvSpPr>
          <p:cNvPr id="4" name="Slide Number Placeholder 3">
            <a:extLst>
              <a:ext uri="{FF2B5EF4-FFF2-40B4-BE49-F238E27FC236}">
                <a16:creationId xmlns:a16="http://schemas.microsoft.com/office/drawing/2014/main" id="{E971AE1C-6035-F3D6-1715-1DB891352B54}"/>
              </a:ext>
            </a:extLst>
          </p:cNvPr>
          <p:cNvSpPr>
            <a:spLocks noGrp="1"/>
          </p:cNvSpPr>
          <p:nvPr>
            <p:ph type="sldNum" sz="quarter" idx="5"/>
          </p:nvPr>
        </p:nvSpPr>
        <p:spPr/>
        <p:txBody>
          <a:bodyPr/>
          <a:lstStyle/>
          <a:p>
            <a:fld id="{30BD0B8B-4FA3-4B8D-A511-CE1E9FA2288E}" type="slidenum">
              <a:rPr lang="en-US" smtClean="0"/>
              <a:t>6</a:t>
            </a:fld>
            <a:endParaRPr lang="en-US" dirty="0"/>
          </a:p>
        </p:txBody>
      </p:sp>
    </p:spTree>
    <p:extLst>
      <p:ext uri="{BB962C8B-B14F-4D97-AF65-F5344CB8AC3E}">
        <p14:creationId xmlns:p14="http://schemas.microsoft.com/office/powerpoint/2010/main" val="3255026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30F7CC-E99A-9B4E-A466-3BF0E5F4787E}" type="slidenum">
              <a:rPr lang="en-US" smtClean="0"/>
              <a:t>7</a:t>
            </a:fld>
            <a:endParaRPr lang="en-US"/>
          </a:p>
        </p:txBody>
      </p:sp>
    </p:spTree>
    <p:extLst>
      <p:ext uri="{BB962C8B-B14F-4D97-AF65-F5344CB8AC3E}">
        <p14:creationId xmlns:p14="http://schemas.microsoft.com/office/powerpoint/2010/main" val="5725318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Min-same and min-diff shown diagrammatically. On the left the min-same is 2 and there is no opposite type, so no min-diff. On the right by replacing a clinical with an environmental, the min-same moves to 4 and min-diff is now two.</a:t>
            </a:r>
          </a:p>
        </p:txBody>
      </p:sp>
      <p:sp>
        <p:nvSpPr>
          <p:cNvPr id="4" name="Slide Number Placeholder 3"/>
          <p:cNvSpPr>
            <a:spLocks noGrp="1"/>
          </p:cNvSpPr>
          <p:nvPr>
            <p:ph type="sldNum" sz="quarter" idx="10"/>
          </p:nvPr>
        </p:nvSpPr>
        <p:spPr/>
        <p:txBody>
          <a:bodyPr/>
          <a:lstStyle/>
          <a:p>
            <a:fld id="{AE2BFFA4-4E3B-4479-8101-1B6B79049D84}" type="slidenum">
              <a:rPr lang="en-US" smtClean="0"/>
              <a:t>8</a:t>
            </a:fld>
            <a:endParaRPr lang="en-US"/>
          </a:p>
        </p:txBody>
      </p:sp>
    </p:spTree>
    <p:extLst>
      <p:ext uri="{BB962C8B-B14F-4D97-AF65-F5344CB8AC3E}">
        <p14:creationId xmlns:p14="http://schemas.microsoft.com/office/powerpoint/2010/main" val="3565624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BD0B8B-4FA3-4B8D-A511-CE1E9FA2288E}" type="slidenum">
              <a:rPr lang="en-US" smtClean="0"/>
              <a:t>9</a:t>
            </a:fld>
            <a:endParaRPr lang="en-US" dirty="0"/>
          </a:p>
        </p:txBody>
      </p:sp>
    </p:spTree>
    <p:extLst>
      <p:ext uri="{BB962C8B-B14F-4D97-AF65-F5344CB8AC3E}">
        <p14:creationId xmlns:p14="http://schemas.microsoft.com/office/powerpoint/2010/main" val="889092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008E5-378A-DC2E-201D-15B79F3CF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E011CA-D0B8-3679-2DBB-BE6D480411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259158-3BE8-51E7-7899-DBBBFB7432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E640E9-A0F4-F6F7-666B-AA521500B6CE}"/>
              </a:ext>
            </a:extLst>
          </p:cNvPr>
          <p:cNvSpPr>
            <a:spLocks noGrp="1"/>
          </p:cNvSpPr>
          <p:nvPr>
            <p:ph type="sldNum" sz="quarter" idx="5"/>
          </p:nvPr>
        </p:nvSpPr>
        <p:spPr/>
        <p:txBody>
          <a:bodyPr/>
          <a:lstStyle/>
          <a:p>
            <a:fld id="{30BD0B8B-4FA3-4B8D-A511-CE1E9FA2288E}" type="slidenum">
              <a:rPr lang="en-US" smtClean="0"/>
              <a:t>10</a:t>
            </a:fld>
            <a:endParaRPr lang="en-US" dirty="0"/>
          </a:p>
        </p:txBody>
      </p:sp>
    </p:spTree>
    <p:extLst>
      <p:ext uri="{BB962C8B-B14F-4D97-AF65-F5344CB8AC3E}">
        <p14:creationId xmlns:p14="http://schemas.microsoft.com/office/powerpoint/2010/main" val="4074603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Link target: https://</a:t>
            </a:r>
            <a:r>
              <a:rPr dirty="0" err="1"/>
              <a:t>github.com</a:t>
            </a:r>
            <a:r>
              <a:rPr dirty="0"/>
              <a:t>/</a:t>
            </a:r>
            <a:r>
              <a:rPr dirty="0" err="1"/>
              <a:t>ncbi</a:t>
            </a:r>
            <a:r>
              <a:rPr dirty="0"/>
              <a:t>/workshop-asm-big-2026/tree/main/amr#exercise-1-explore-carbapenem-resistance-in-eye-drop-isolates</a:t>
            </a:r>
          </a:p>
          <a:p>
            <a:r>
              <a:rPr dirty="0"/>
              <a:t>Image theme: Public-health outbreak investigation</a:t>
            </a:r>
          </a:p>
          <a:p>
            <a:r>
              <a:rPr dirty="0"/>
              <a:t>Generated image prompt: Top-down documentary photograph of public-health investigators reviewing a case map, specimen tubes, and sealed product samples.</a:t>
            </a:r>
          </a:p>
          <a:p>
            <a:r>
              <a:rPr dirty="0"/>
              <a:t>Generated with the built-in image generation tool.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49E11-234D-3254-D4E7-864E346FC5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9829D-ABA7-F484-87FF-3E977E126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81BCCC-E35C-0284-EB7E-53A3FF2DA02E}"/>
              </a:ext>
            </a:extLst>
          </p:cNvPr>
          <p:cNvSpPr>
            <a:spLocks noGrp="1"/>
          </p:cNvSpPr>
          <p:nvPr>
            <p:ph type="body" idx="1"/>
          </p:nvPr>
        </p:nvSpPr>
        <p:spPr/>
        <p:txBody>
          <a:bodyPr/>
          <a:lstStyle/>
          <a:p>
            <a:r>
              <a:rPr lang="en-US" dirty="0"/>
              <a:t>The Pathogen Detection pipeline was initiated as part of this effort. There are effectively two main analytical goals of the pipeline: 1) the first is to identify if the isolates are clonally related to aid in the identification of food sources making people sick, and the second is to identify the genetic elements contributing to pathogenicity including antimicrobial resistance genes, stress response genes that contribute to environmental persistence, and virulence genes such as toxins. The results are presented in an easy-to-use web interface and I will give a brief demonstration in a few minutes of that for the first point.</a:t>
            </a:r>
          </a:p>
        </p:txBody>
      </p:sp>
      <p:sp>
        <p:nvSpPr>
          <p:cNvPr id="4" name="Slide Number Placeholder 3">
            <a:extLst>
              <a:ext uri="{FF2B5EF4-FFF2-40B4-BE49-F238E27FC236}">
                <a16:creationId xmlns:a16="http://schemas.microsoft.com/office/drawing/2014/main" id="{0C3CDC81-B5F2-6738-EF48-1756B5892699}"/>
              </a:ext>
            </a:extLst>
          </p:cNvPr>
          <p:cNvSpPr>
            <a:spLocks noGrp="1"/>
          </p:cNvSpPr>
          <p:nvPr>
            <p:ph type="sldNum" sz="quarter" idx="5"/>
          </p:nvPr>
        </p:nvSpPr>
        <p:spPr/>
        <p:txBody>
          <a:bodyPr/>
          <a:lstStyle/>
          <a:p>
            <a:fld id="{30BD0B8B-4FA3-4B8D-A511-CE1E9FA2288E}" type="slidenum">
              <a:rPr lang="en-US" smtClean="0"/>
              <a:t>13</a:t>
            </a:fld>
            <a:endParaRPr lang="en-US" dirty="0"/>
          </a:p>
        </p:txBody>
      </p:sp>
    </p:spTree>
    <p:extLst>
      <p:ext uri="{BB962C8B-B14F-4D97-AF65-F5344CB8AC3E}">
        <p14:creationId xmlns:p14="http://schemas.microsoft.com/office/powerpoint/2010/main" val="1060635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prediction tool, the reference sets, and the results of the predictions are made available in various data formats including easy-to-use web </a:t>
            </a:r>
            <a:r>
              <a:rPr lang="en-US" dirty="0" err="1"/>
              <a:t>browwsers</a:t>
            </a:r>
            <a:r>
              <a:rPr lang="en-US" dirty="0"/>
              <a:t>. There are over 1 million pathogen isolates, and over 10 million predicted genes and point mutations found in these pathogens. Together these comprise the National Database of Antibiotic Resistant Organisms. (</a:t>
            </a:r>
            <a:r>
              <a:rPr lang="en-US" sz="1200" dirty="0">
                <a:effectLst/>
                <a:latin typeface="Calibri" panose="020F0502020204030204" pitchFamily="34" charset="0"/>
                <a:ea typeface="Malgun Gothic" panose="020B0503020000020004" pitchFamily="34" charset="-127"/>
              </a:rPr>
              <a:t>The NIH/NLM/NCBI NDARO is a collaborative, cross-agency, centralized hub for researchers to access AMR data to facilitate real-time surveillance of pathogenic organisms, which currently contains genomic data for nearly one million pathogen isolates collected from publicly available information. Many of these isolate entries include integrated antibiotic susceptibility phenotypic data, antibiotic resistance genotypic data, and detailed information on the sequences encoding resistance genes found in these isolates.) The NIAID funded PATRIC resource uses NDARO as one of its data sources.</a:t>
            </a:r>
            <a:endParaRPr lang="en-US" dirty="0"/>
          </a:p>
        </p:txBody>
      </p:sp>
      <p:sp>
        <p:nvSpPr>
          <p:cNvPr id="4" name="Slide Number Placeholder 3"/>
          <p:cNvSpPr>
            <a:spLocks noGrp="1"/>
          </p:cNvSpPr>
          <p:nvPr>
            <p:ph type="sldNum" sz="quarter" idx="5"/>
          </p:nvPr>
        </p:nvSpPr>
        <p:spPr/>
        <p:txBody>
          <a:bodyPr/>
          <a:lstStyle/>
          <a:p>
            <a:fld id="{30BD0B8B-4FA3-4B8D-A511-CE1E9FA2288E}" type="slidenum">
              <a:rPr lang="en-US" smtClean="0"/>
              <a:t>15</a:t>
            </a:fld>
            <a:endParaRPr lang="en-US"/>
          </a:p>
        </p:txBody>
      </p:sp>
    </p:spTree>
    <p:extLst>
      <p:ext uri="{BB962C8B-B14F-4D97-AF65-F5344CB8AC3E}">
        <p14:creationId xmlns:p14="http://schemas.microsoft.com/office/powerpoint/2010/main" val="2429285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3F177-3D57-5E40-320F-9B63B11FCA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85BE2A-9040-DC53-F81A-63394E25D4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DA5C17-BDA4-F2C4-3942-1A93C8A4F637}"/>
              </a:ext>
            </a:extLst>
          </p:cNvPr>
          <p:cNvSpPr>
            <a:spLocks noGrp="1"/>
          </p:cNvSpPr>
          <p:nvPr>
            <p:ph type="body" idx="1"/>
          </p:nvPr>
        </p:nvSpPr>
        <p:spPr/>
        <p:txBody>
          <a:bodyPr/>
          <a:lstStyle/>
          <a:p>
            <a:r>
              <a:rPr dirty="0"/>
              <a:t>Link target: https://</a:t>
            </a:r>
            <a:r>
              <a:rPr dirty="0" err="1"/>
              <a:t>github.com</a:t>
            </a:r>
            <a:r>
              <a:rPr dirty="0"/>
              <a:t>/</a:t>
            </a:r>
            <a:r>
              <a:rPr dirty="0" err="1"/>
              <a:t>ncbi</a:t>
            </a:r>
            <a:r>
              <a:rPr dirty="0"/>
              <a:t>/workshop-asm-big-2026/tree/main/amr#exercise-1-explore-carbapenem-resistance-in-eye-drop-isolates</a:t>
            </a:r>
          </a:p>
          <a:p>
            <a:r>
              <a:rPr dirty="0"/>
              <a:t>Image theme: Public-health outbreak investigation</a:t>
            </a:r>
          </a:p>
          <a:p>
            <a:r>
              <a:rPr dirty="0"/>
              <a:t>Generated image prompt: Top-down documentary photograph of public-health investigators reviewing a case map, specimen tubes, and sealed product samples.</a:t>
            </a:r>
          </a:p>
          <a:p>
            <a:r>
              <a:rPr dirty="0"/>
              <a:t>Generated with the built-in image generation tool.</a:t>
            </a:r>
          </a:p>
        </p:txBody>
      </p:sp>
      <p:sp>
        <p:nvSpPr>
          <p:cNvPr id="4" name="Slide Number Placeholder 3">
            <a:extLst>
              <a:ext uri="{FF2B5EF4-FFF2-40B4-BE49-F238E27FC236}">
                <a16:creationId xmlns:a16="http://schemas.microsoft.com/office/drawing/2014/main" id="{6849E9D7-FD8D-C8D2-B4B0-B869B62443B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665466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BD09E-4092-B3ED-CD5A-2DDFE4285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813F5-53CA-6E92-5609-1192C9AEF5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5FDC83-800B-43A0-E3FA-446389A4D1FD}"/>
              </a:ext>
            </a:extLst>
          </p:cNvPr>
          <p:cNvSpPr>
            <a:spLocks noGrp="1"/>
          </p:cNvSpPr>
          <p:nvPr>
            <p:ph type="body" idx="1"/>
          </p:nvPr>
        </p:nvSpPr>
        <p:spPr/>
        <p:txBody>
          <a:bodyPr/>
          <a:lstStyle/>
          <a:p>
            <a:r>
              <a:rPr dirty="0"/>
              <a:t>Link target: https://</a:t>
            </a:r>
            <a:r>
              <a:rPr dirty="0" err="1"/>
              <a:t>github.com</a:t>
            </a:r>
            <a:r>
              <a:rPr dirty="0"/>
              <a:t>/</a:t>
            </a:r>
            <a:r>
              <a:rPr dirty="0" err="1"/>
              <a:t>ncbi</a:t>
            </a:r>
            <a:r>
              <a:rPr dirty="0"/>
              <a:t>/workshop-asm-big-2026/tree/main/amr#exercise-1-explore-carbapenem-resistance-in-eye-drop-isolates</a:t>
            </a:r>
          </a:p>
          <a:p>
            <a:r>
              <a:rPr dirty="0"/>
              <a:t>Image theme: Public-health outbreak investigation</a:t>
            </a:r>
          </a:p>
          <a:p>
            <a:r>
              <a:rPr dirty="0"/>
              <a:t>Generated image prompt: Top-down documentary photograph of public-health investigators reviewing a case map, specimen tubes, and sealed product samples.</a:t>
            </a:r>
          </a:p>
          <a:p>
            <a:r>
              <a:rPr dirty="0"/>
              <a:t>Generated with the built-in image generation tool.</a:t>
            </a:r>
          </a:p>
        </p:txBody>
      </p:sp>
      <p:sp>
        <p:nvSpPr>
          <p:cNvPr id="4" name="Slide Number Placeholder 3">
            <a:extLst>
              <a:ext uri="{FF2B5EF4-FFF2-40B4-BE49-F238E27FC236}">
                <a16:creationId xmlns:a16="http://schemas.microsoft.com/office/drawing/2014/main" id="{F25FFFB6-8EF4-CB8B-01CA-040418C721E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452119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light">
    <p:bg>
      <p:bgPr>
        <a:solidFill>
          <a:schemeClr val="bg1"/>
        </a:solidFill>
        <a:effectLst/>
      </p:bgPr>
    </p:bg>
    <p:spTree>
      <p:nvGrpSpPr>
        <p:cNvPr id="1" name=""/>
        <p:cNvGrpSpPr/>
        <p:nvPr/>
      </p:nvGrpSpPr>
      <p:grpSpPr>
        <a:xfrm>
          <a:off x="0" y="0"/>
          <a:ext cx="0" cy="0"/>
          <a:chOff x="0" y="0"/>
          <a:chExt cx="0" cy="0"/>
        </a:xfrm>
      </p:grpSpPr>
      <p:pic>
        <p:nvPicPr>
          <p:cNvPr id="7" name="Picture 6" descr="Colorful abstract graphic of a genome sequence map with NCBI at the center">
            <a:extLst>
              <a:ext uri="{FF2B5EF4-FFF2-40B4-BE49-F238E27FC236}">
                <a16:creationId xmlns:a16="http://schemas.microsoft.com/office/drawing/2014/main" id="{4B4DA229-F445-69D4-8EB0-FEF2A3A2CD86}"/>
              </a:ext>
              <a:ext uri="{C183D7F6-B498-43B3-948B-1728B52AA6E4}">
                <adec:decorative xmlns:adec="http://schemas.microsoft.com/office/drawing/2017/decorative" val="0"/>
              </a:ext>
            </a:extLst>
          </p:cNvPr>
          <p:cNvPicPr>
            <a:picLocks noChangeAspect="1"/>
          </p:cNvPicPr>
          <p:nvPr userDrawn="1"/>
        </p:nvPicPr>
        <p:blipFill rotWithShape="1">
          <a:blip r:embed="rId2"/>
          <a:srcRect l="-1" t="-502" r="8660" b="35376"/>
          <a:stretch/>
        </p:blipFill>
        <p:spPr>
          <a:xfrm>
            <a:off x="4361020" y="2048241"/>
            <a:ext cx="7830980" cy="4809759"/>
          </a:xfrm>
          <a:prstGeom prst="rect">
            <a:avLst/>
          </a:prstGeom>
        </p:spPr>
      </p:pic>
      <p:pic>
        <p:nvPicPr>
          <p:cNvPr id="6" name="Graphic 5" descr="NCBI Logo (NIH National Library of Medicine National Center for Biotechnology information Logo)">
            <a:extLst>
              <a:ext uri="{FF2B5EF4-FFF2-40B4-BE49-F238E27FC236}">
                <a16:creationId xmlns:a16="http://schemas.microsoft.com/office/drawing/2014/main" id="{E0E7B8A8-123D-2E35-DBCA-464C55092A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75937" y="6084465"/>
            <a:ext cx="3433328" cy="408409"/>
          </a:xfrm>
          <a:prstGeom prst="rect">
            <a:avLst/>
          </a:prstGeom>
        </p:spPr>
      </p:pic>
      <p:sp>
        <p:nvSpPr>
          <p:cNvPr id="9" name="Title 1">
            <a:extLst>
              <a:ext uri="{FF2B5EF4-FFF2-40B4-BE49-F238E27FC236}">
                <a16:creationId xmlns:a16="http://schemas.microsoft.com/office/drawing/2014/main" id="{ED95474A-4FAB-A45E-E630-E8CA2D49F2FF}"/>
              </a:ext>
            </a:extLst>
          </p:cNvPr>
          <p:cNvSpPr>
            <a:spLocks noGrp="1"/>
          </p:cNvSpPr>
          <p:nvPr>
            <p:ph type="title" hasCustomPrompt="1"/>
          </p:nvPr>
        </p:nvSpPr>
        <p:spPr>
          <a:xfrm>
            <a:off x="426719" y="365125"/>
            <a:ext cx="7431011" cy="1389533"/>
          </a:xfrm>
        </p:spPr>
        <p:txBody>
          <a:bodyPr anchor="t"/>
          <a:lstStyle>
            <a:lvl1pPr>
              <a:defRPr>
                <a:solidFill>
                  <a:schemeClr val="tx1"/>
                </a:solidFill>
              </a:defRPr>
            </a:lvl1pPr>
          </a:lstStyle>
          <a:p>
            <a:r>
              <a:rPr lang="en-US"/>
              <a:t>Title of Deck or Presentation Goes Here</a:t>
            </a:r>
          </a:p>
        </p:txBody>
      </p:sp>
      <p:sp>
        <p:nvSpPr>
          <p:cNvPr id="10" name="Text Placeholder 5">
            <a:extLst>
              <a:ext uri="{FF2B5EF4-FFF2-40B4-BE49-F238E27FC236}">
                <a16:creationId xmlns:a16="http://schemas.microsoft.com/office/drawing/2014/main" id="{9F338D7E-0AFB-2F3F-808F-26398C37552A}"/>
              </a:ext>
            </a:extLst>
          </p:cNvPr>
          <p:cNvSpPr>
            <a:spLocks noGrp="1"/>
          </p:cNvSpPr>
          <p:nvPr>
            <p:ph type="body" sz="quarter" idx="16" hasCustomPrompt="1"/>
          </p:nvPr>
        </p:nvSpPr>
        <p:spPr>
          <a:xfrm>
            <a:off x="8353172" y="365195"/>
            <a:ext cx="3412107" cy="1389463"/>
          </a:xfrm>
          <a:prstGeom prst="rect">
            <a:avLst/>
          </a:prstGeom>
        </p:spPr>
        <p:txBody>
          <a:bodyPr anchor="t">
            <a:noAutofit/>
          </a:bodyPr>
          <a:lstStyle>
            <a:lvl1pPr marL="0" indent="0">
              <a:lnSpc>
                <a:spcPct val="100000"/>
              </a:lnSpc>
              <a:buNone/>
              <a:defRPr sz="2000">
                <a:solidFill>
                  <a:schemeClr val="accent1"/>
                </a:solidFill>
              </a:defRPr>
            </a:lvl1pPr>
          </a:lstStyle>
          <a:p>
            <a:pPr lvl="0"/>
            <a:r>
              <a:rPr lang="en-US"/>
              <a:t>Date or Speaker</a:t>
            </a:r>
          </a:p>
        </p:txBody>
      </p:sp>
      <p:cxnSp>
        <p:nvCxnSpPr>
          <p:cNvPr id="11" name="Straight Connector 10">
            <a:extLst>
              <a:ext uri="{FF2B5EF4-FFF2-40B4-BE49-F238E27FC236}">
                <a16:creationId xmlns:a16="http://schemas.microsoft.com/office/drawing/2014/main" id="{3DB9B40C-7A10-9817-6B59-1D955733382A}"/>
              </a:ext>
              <a:ext uri="{C183D7F6-B498-43B3-948B-1728B52AA6E4}">
                <adec:decorative xmlns:adec="http://schemas.microsoft.com/office/drawing/2017/decorative" val="1"/>
              </a:ext>
            </a:extLst>
          </p:cNvPr>
          <p:cNvCxnSpPr>
            <a:cxnSpLocks/>
          </p:cNvCxnSpPr>
          <p:nvPr userDrawn="1"/>
        </p:nvCxnSpPr>
        <p:spPr>
          <a:xfrm flipV="1">
            <a:off x="8105460" y="365126"/>
            <a:ext cx="0" cy="1389532"/>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7487831"/>
      </p:ext>
    </p:extLst>
  </p:cSld>
  <p:clrMapOvr>
    <a:masterClrMapping/>
  </p:clrMapOvr>
  <p:extLst>
    <p:ext uri="{DCECCB84-F9BA-43D5-87BE-67443E8EF086}">
      <p15:sldGuideLst xmlns:p15="http://schemas.microsoft.com/office/powerpoint/2012/main">
        <p15:guide id="1" pos="2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 Dark">
    <p:bg>
      <p:bgPr>
        <a:solidFill>
          <a:srgbClr val="205493"/>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E1AF13E-CF84-9B01-61B0-91F318F34DE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rot="16200000">
            <a:off x="3910304" y="-1511033"/>
            <a:ext cx="4371387" cy="12641584"/>
          </a:xfrm>
          <a:prstGeom prst="rect">
            <a:avLst/>
          </a:prstGeom>
        </p:spPr>
      </p:pic>
      <p:pic>
        <p:nvPicPr>
          <p:cNvPr id="41" name="Graphic 40">
            <a:extLst>
              <a:ext uri="{FF2B5EF4-FFF2-40B4-BE49-F238E27FC236}">
                <a16:creationId xmlns:a16="http://schemas.microsoft.com/office/drawing/2014/main" id="{A3C789B0-28C7-E6A4-30FD-E2ACD1B9C0E2}"/>
              </a:ext>
            </a:extLst>
          </p:cNvPr>
          <p:cNvPicPr>
            <a:picLocks/>
          </p:cNvPicPr>
          <p:nvPr userDrawn="1"/>
        </p:nvPicPr>
        <p:blipFill>
          <a:blip>
            <a:extLst>
              <a:ext uri="{96DAC541-7B7A-43D3-8B79-37D633B846F1}">
                <asvg:svgBlip xmlns:asvg="http://schemas.microsoft.com/office/drawing/2016/SVG/main" r:embed="rId3"/>
              </a:ext>
            </a:extLst>
          </a:blip>
          <a:srcRect/>
          <a:stretch/>
        </p:blipFill>
        <p:spPr>
          <a:xfrm>
            <a:off x="0" y="6746581"/>
            <a:ext cx="12192000" cy="109728"/>
          </a:xfrm>
          <a:prstGeom prst="rect">
            <a:avLst/>
          </a:prstGeom>
        </p:spPr>
      </p:pic>
      <p:pic>
        <p:nvPicPr>
          <p:cNvPr id="6" name="Graphic 5">
            <a:extLst>
              <a:ext uri="{FF2B5EF4-FFF2-40B4-BE49-F238E27FC236}">
                <a16:creationId xmlns:a16="http://schemas.microsoft.com/office/drawing/2014/main" id="{35A72BDB-8252-762D-3D7A-7A1C5657566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75933" y="6084465"/>
            <a:ext cx="3433337" cy="408409"/>
          </a:xfrm>
          <a:prstGeom prst="rect">
            <a:avLst/>
          </a:prstGeom>
        </p:spPr>
      </p:pic>
      <p:sp>
        <p:nvSpPr>
          <p:cNvPr id="15" name="Title 1">
            <a:extLst>
              <a:ext uri="{FF2B5EF4-FFF2-40B4-BE49-F238E27FC236}">
                <a16:creationId xmlns:a16="http://schemas.microsoft.com/office/drawing/2014/main" id="{D8F50DCB-327E-AA1F-2CA3-7E975EAE5100}"/>
              </a:ext>
            </a:extLst>
          </p:cNvPr>
          <p:cNvSpPr>
            <a:spLocks noGrp="1"/>
          </p:cNvSpPr>
          <p:nvPr>
            <p:ph type="title" hasCustomPrompt="1"/>
          </p:nvPr>
        </p:nvSpPr>
        <p:spPr>
          <a:xfrm>
            <a:off x="426719" y="365125"/>
            <a:ext cx="7431011" cy="1389533"/>
          </a:xfrm>
        </p:spPr>
        <p:txBody>
          <a:bodyPr anchor="t"/>
          <a:lstStyle>
            <a:lvl1pPr>
              <a:defRPr>
                <a:solidFill>
                  <a:schemeClr val="tx1"/>
                </a:solidFill>
              </a:defRPr>
            </a:lvl1pPr>
          </a:lstStyle>
          <a:p>
            <a:r>
              <a:rPr lang="en-US"/>
              <a:t>Title of Deck or Presentation Goes Here</a:t>
            </a:r>
          </a:p>
        </p:txBody>
      </p:sp>
      <p:sp>
        <p:nvSpPr>
          <p:cNvPr id="16" name="Text Placeholder 5">
            <a:extLst>
              <a:ext uri="{FF2B5EF4-FFF2-40B4-BE49-F238E27FC236}">
                <a16:creationId xmlns:a16="http://schemas.microsoft.com/office/drawing/2014/main" id="{EA344E04-A265-6047-ECA8-4D72F8C3E7F6}"/>
              </a:ext>
            </a:extLst>
          </p:cNvPr>
          <p:cNvSpPr>
            <a:spLocks noGrp="1"/>
          </p:cNvSpPr>
          <p:nvPr>
            <p:ph type="body" sz="quarter" idx="16" hasCustomPrompt="1"/>
          </p:nvPr>
        </p:nvSpPr>
        <p:spPr>
          <a:xfrm>
            <a:off x="8353172" y="365195"/>
            <a:ext cx="3412107" cy="1389463"/>
          </a:xfrm>
          <a:prstGeom prst="rect">
            <a:avLst/>
          </a:prstGeom>
        </p:spPr>
        <p:txBody>
          <a:bodyPr anchor="t">
            <a:noAutofit/>
          </a:bodyPr>
          <a:lstStyle>
            <a:lvl1pPr marL="0" indent="0">
              <a:lnSpc>
                <a:spcPct val="100000"/>
              </a:lnSpc>
              <a:buNone/>
              <a:defRPr sz="2000">
                <a:solidFill>
                  <a:schemeClr val="accent3">
                    <a:lumMod val="60000"/>
                    <a:lumOff val="40000"/>
                  </a:schemeClr>
                </a:solidFill>
              </a:defRPr>
            </a:lvl1pPr>
          </a:lstStyle>
          <a:p>
            <a:pPr lvl="0"/>
            <a:r>
              <a:rPr lang="en-US"/>
              <a:t>Date or Speaker</a:t>
            </a:r>
          </a:p>
        </p:txBody>
      </p:sp>
      <p:cxnSp>
        <p:nvCxnSpPr>
          <p:cNvPr id="17" name="Straight Connector 16">
            <a:extLst>
              <a:ext uri="{FF2B5EF4-FFF2-40B4-BE49-F238E27FC236}">
                <a16:creationId xmlns:a16="http://schemas.microsoft.com/office/drawing/2014/main" id="{6B24DF2C-35CA-035B-4988-17525EC9B84E}"/>
              </a:ext>
              <a:ext uri="{C183D7F6-B498-43B3-948B-1728B52AA6E4}">
                <adec:decorative xmlns:adec="http://schemas.microsoft.com/office/drawing/2017/decorative" val="1"/>
              </a:ext>
            </a:extLst>
          </p:cNvPr>
          <p:cNvCxnSpPr>
            <a:cxnSpLocks/>
          </p:cNvCxnSpPr>
          <p:nvPr userDrawn="1"/>
        </p:nvCxnSpPr>
        <p:spPr>
          <a:xfrm flipV="1">
            <a:off x="8105460" y="365126"/>
            <a:ext cx="0" cy="1389532"/>
          </a:xfrm>
          <a:prstGeom prst="line">
            <a:avLst/>
          </a:prstGeom>
          <a:ln w="952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1952554"/>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ntent - One Column - Light">
    <p:bg>
      <p:bgPr>
        <a:solidFill>
          <a:schemeClr val="bg1"/>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E477F52-71BD-C32A-D057-E82B0F6DCC02}"/>
              </a:ext>
            </a:extLst>
          </p:cNvPr>
          <p:cNvSpPr txBox="1"/>
          <p:nvPr userDrawn="1"/>
        </p:nvSpPr>
        <p:spPr>
          <a:xfrm>
            <a:off x="8138160" y="6949440"/>
            <a:ext cx="184731" cy="369332"/>
          </a:xfrm>
          <a:prstGeom prst="rect">
            <a:avLst/>
          </a:prstGeom>
          <a:noFill/>
        </p:spPr>
        <p:txBody>
          <a:bodyPr wrap="none" rtlCol="0">
            <a:spAutoFit/>
          </a:bodyPr>
          <a:lstStyle/>
          <a:p>
            <a:endParaRPr lang="en-US"/>
          </a:p>
        </p:txBody>
      </p:sp>
      <p:pic>
        <p:nvPicPr>
          <p:cNvPr id="3" name="Graphic 2" descr="NCBI Logo (NIH National Library of Medicine National Center for Biotechnology information Logo)">
            <a:extLst>
              <a:ext uri="{FF2B5EF4-FFF2-40B4-BE49-F238E27FC236}">
                <a16:creationId xmlns:a16="http://schemas.microsoft.com/office/drawing/2014/main" id="{5C765E0C-4CCE-2A6C-3C53-A6992ABCF3F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26721" y="6257856"/>
            <a:ext cx="2333258" cy="277551"/>
          </a:xfrm>
          <a:prstGeom prst="rect">
            <a:avLst/>
          </a:prstGeom>
        </p:spPr>
      </p:pic>
      <p:pic>
        <p:nvPicPr>
          <p:cNvPr id="5" name="Graphic 4">
            <a:extLst>
              <a:ext uri="{FF2B5EF4-FFF2-40B4-BE49-F238E27FC236}">
                <a16:creationId xmlns:a16="http://schemas.microsoft.com/office/drawing/2014/main" id="{539CBF45-5F88-8F9B-F1A2-A72CBF248C7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16200000">
            <a:off x="11138019" y="5944720"/>
            <a:ext cx="303547" cy="877826"/>
          </a:xfrm>
          <a:prstGeom prst="rect">
            <a:avLst/>
          </a:prstGeom>
        </p:spPr>
      </p:pic>
      <p:cxnSp>
        <p:nvCxnSpPr>
          <p:cNvPr id="6" name="Straight Connector 5">
            <a:extLst>
              <a:ext uri="{FF2B5EF4-FFF2-40B4-BE49-F238E27FC236}">
                <a16:creationId xmlns:a16="http://schemas.microsoft.com/office/drawing/2014/main" id="{1D7082A7-7DBC-D739-9973-D1980AF7D4F1}"/>
              </a:ext>
              <a:ext uri="{C183D7F6-B498-43B3-948B-1728B52AA6E4}">
                <adec:decorative xmlns:adec="http://schemas.microsoft.com/office/drawing/2017/decorative" val="1"/>
              </a:ext>
            </a:extLst>
          </p:cNvPr>
          <p:cNvCxnSpPr/>
          <p:nvPr userDrawn="1"/>
        </p:nvCxnSpPr>
        <p:spPr>
          <a:xfrm>
            <a:off x="426720" y="6123963"/>
            <a:ext cx="1130198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1882C78F-43B9-988C-B568-8C520B8EA2AD}"/>
              </a:ext>
            </a:extLst>
          </p:cNvPr>
          <p:cNvSpPr>
            <a:spLocks noGrp="1"/>
          </p:cNvSpPr>
          <p:nvPr>
            <p:ph type="title" hasCustomPrompt="1"/>
          </p:nvPr>
        </p:nvSpPr>
        <p:spPr>
          <a:xfrm>
            <a:off x="426720" y="365125"/>
            <a:ext cx="10515600" cy="1325563"/>
          </a:xfrm>
        </p:spPr>
        <p:txBody>
          <a:bodyPr anchor="t"/>
          <a:lstStyle/>
          <a:p>
            <a:r>
              <a:rPr lang="en-US"/>
              <a:t>Headline</a:t>
            </a:r>
          </a:p>
        </p:txBody>
      </p:sp>
      <p:sp>
        <p:nvSpPr>
          <p:cNvPr id="2" name="Text Placeholder 3">
            <a:extLst>
              <a:ext uri="{FF2B5EF4-FFF2-40B4-BE49-F238E27FC236}">
                <a16:creationId xmlns:a16="http://schemas.microsoft.com/office/drawing/2014/main" id="{D560A234-533D-15AA-9C9D-BB6B3512A373}"/>
              </a:ext>
            </a:extLst>
          </p:cNvPr>
          <p:cNvSpPr>
            <a:spLocks noGrp="1"/>
          </p:cNvSpPr>
          <p:nvPr>
            <p:ph type="body" sz="quarter" idx="11" hasCustomPrompt="1"/>
          </p:nvPr>
        </p:nvSpPr>
        <p:spPr>
          <a:xfrm>
            <a:off x="427038" y="1924050"/>
            <a:ext cx="9144345" cy="3712475"/>
          </a:xfrm>
          <a:prstGeom prst="rect">
            <a:avLst/>
          </a:prstGeom>
        </p:spPr>
        <p:txBody>
          <a:bodyPr lIns="0" tIns="0" rIns="0" bIns="0">
            <a:noAutofit/>
          </a:bodyPr>
          <a:lstStyle>
            <a:lvl1pPr marL="0" indent="0">
              <a:buFont typeface="Arial" panose="020B0604020202020204" pitchFamily="34" charset="0"/>
              <a:buNone/>
              <a:defRPr sz="3000" b="0">
                <a:solidFill>
                  <a:schemeClr val="tx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One Column</a:t>
            </a:r>
          </a:p>
        </p:txBody>
      </p:sp>
    </p:spTree>
    <p:extLst>
      <p:ext uri="{BB962C8B-B14F-4D97-AF65-F5344CB8AC3E}">
        <p14:creationId xmlns:p14="http://schemas.microsoft.com/office/powerpoint/2010/main" val="3917805753"/>
      </p:ext>
    </p:extLst>
  </p:cSld>
  <p:clrMapOvr>
    <a:masterClrMapping/>
  </p:clrMapOvr>
  <p:extLst>
    <p:ext uri="{DCECCB84-F9BA-43D5-87BE-67443E8EF086}">
      <p15:sldGuideLst xmlns:p15="http://schemas.microsoft.com/office/powerpoint/2012/main">
        <p15:guide id="1" orient="horz" pos="216">
          <p15:clr>
            <a:srgbClr val="FBAE40"/>
          </p15:clr>
        </p15:guide>
        <p15:guide id="2" pos="264">
          <p15:clr>
            <a:srgbClr val="FBAE40"/>
          </p15:clr>
        </p15:guide>
        <p15:guide id="3" orient="horz" pos="3696">
          <p15:clr>
            <a:srgbClr val="FBAE40"/>
          </p15:clr>
        </p15:guide>
        <p15:guide id="4" pos="6936">
          <p15:clr>
            <a:srgbClr val="FBAE40"/>
          </p15:clr>
        </p15:guide>
        <p15:guide id="5" pos="739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ntent - Two Column - Light">
    <p:bg>
      <p:bgPr>
        <a:solidFill>
          <a:schemeClr val="bg1"/>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E477F52-71BD-C32A-D057-E82B0F6DCC02}"/>
              </a:ext>
            </a:extLst>
          </p:cNvPr>
          <p:cNvSpPr txBox="1"/>
          <p:nvPr userDrawn="1"/>
        </p:nvSpPr>
        <p:spPr>
          <a:xfrm>
            <a:off x="8138160" y="6949440"/>
            <a:ext cx="184731" cy="369332"/>
          </a:xfrm>
          <a:prstGeom prst="rect">
            <a:avLst/>
          </a:prstGeom>
          <a:noFill/>
        </p:spPr>
        <p:txBody>
          <a:bodyPr wrap="none" rtlCol="0">
            <a:spAutoFit/>
          </a:bodyPr>
          <a:lstStyle/>
          <a:p>
            <a:endParaRPr lang="en-US"/>
          </a:p>
        </p:txBody>
      </p:sp>
      <p:pic>
        <p:nvPicPr>
          <p:cNvPr id="3" name="Graphic 2" descr="NCBI Logo (NIH National Library of Medicine National Center for Biotechnology information Logo)">
            <a:extLst>
              <a:ext uri="{FF2B5EF4-FFF2-40B4-BE49-F238E27FC236}">
                <a16:creationId xmlns:a16="http://schemas.microsoft.com/office/drawing/2014/main" id="{5C765E0C-4CCE-2A6C-3C53-A6992ABCF3F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26721" y="6257856"/>
            <a:ext cx="2333258" cy="277551"/>
          </a:xfrm>
          <a:prstGeom prst="rect">
            <a:avLst/>
          </a:prstGeom>
        </p:spPr>
      </p:pic>
      <p:pic>
        <p:nvPicPr>
          <p:cNvPr id="5" name="Graphic 4">
            <a:extLst>
              <a:ext uri="{FF2B5EF4-FFF2-40B4-BE49-F238E27FC236}">
                <a16:creationId xmlns:a16="http://schemas.microsoft.com/office/drawing/2014/main" id="{539CBF45-5F88-8F9B-F1A2-A72CBF248C7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16200000">
            <a:off x="11138019" y="5944720"/>
            <a:ext cx="303547" cy="877826"/>
          </a:xfrm>
          <a:prstGeom prst="rect">
            <a:avLst/>
          </a:prstGeom>
        </p:spPr>
      </p:pic>
      <p:cxnSp>
        <p:nvCxnSpPr>
          <p:cNvPr id="6" name="Straight Connector 5">
            <a:extLst>
              <a:ext uri="{FF2B5EF4-FFF2-40B4-BE49-F238E27FC236}">
                <a16:creationId xmlns:a16="http://schemas.microsoft.com/office/drawing/2014/main" id="{1D7082A7-7DBC-D739-9973-D1980AF7D4F1}"/>
              </a:ext>
              <a:ext uri="{C183D7F6-B498-43B3-948B-1728B52AA6E4}">
                <adec:decorative xmlns:adec="http://schemas.microsoft.com/office/drawing/2017/decorative" val="1"/>
              </a:ext>
            </a:extLst>
          </p:cNvPr>
          <p:cNvCxnSpPr/>
          <p:nvPr userDrawn="1"/>
        </p:nvCxnSpPr>
        <p:spPr>
          <a:xfrm>
            <a:off x="426720" y="6123963"/>
            <a:ext cx="1130198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3613F54F-A2F7-F2F6-62E6-62B006D8B096}"/>
              </a:ext>
            </a:extLst>
          </p:cNvPr>
          <p:cNvSpPr>
            <a:spLocks noGrp="1"/>
          </p:cNvSpPr>
          <p:nvPr>
            <p:ph type="body" sz="quarter" idx="10" hasCustomPrompt="1"/>
          </p:nvPr>
        </p:nvSpPr>
        <p:spPr>
          <a:xfrm>
            <a:off x="427038" y="1924050"/>
            <a:ext cx="5348634" cy="3712475"/>
          </a:xfrm>
          <a:prstGeom prst="rect">
            <a:avLst/>
          </a:prstGeom>
        </p:spPr>
        <p:txBody>
          <a:bodyPr/>
          <a:lstStyle>
            <a:lvl1pPr marL="0" indent="0">
              <a:buFont typeface="Arial" panose="020B0604020202020204" pitchFamily="34" charset="0"/>
              <a:buNone/>
              <a:defRPr sz="2600" b="0">
                <a:solidFill>
                  <a:schemeClr val="tx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Two Column</a:t>
            </a:r>
          </a:p>
        </p:txBody>
      </p:sp>
      <p:sp>
        <p:nvSpPr>
          <p:cNvPr id="9" name="Title 1">
            <a:extLst>
              <a:ext uri="{FF2B5EF4-FFF2-40B4-BE49-F238E27FC236}">
                <a16:creationId xmlns:a16="http://schemas.microsoft.com/office/drawing/2014/main" id="{1882C78F-43B9-988C-B568-8C520B8EA2AD}"/>
              </a:ext>
            </a:extLst>
          </p:cNvPr>
          <p:cNvSpPr>
            <a:spLocks noGrp="1"/>
          </p:cNvSpPr>
          <p:nvPr>
            <p:ph type="title" hasCustomPrompt="1"/>
          </p:nvPr>
        </p:nvSpPr>
        <p:spPr>
          <a:xfrm>
            <a:off x="426720" y="365125"/>
            <a:ext cx="10515600" cy="1325563"/>
          </a:xfrm>
        </p:spPr>
        <p:txBody>
          <a:bodyPr anchor="t"/>
          <a:lstStyle/>
          <a:p>
            <a:r>
              <a:rPr lang="en-US"/>
              <a:t>Headline</a:t>
            </a:r>
          </a:p>
        </p:txBody>
      </p:sp>
      <p:sp>
        <p:nvSpPr>
          <p:cNvPr id="11" name="Text Placeholder 3">
            <a:extLst>
              <a:ext uri="{FF2B5EF4-FFF2-40B4-BE49-F238E27FC236}">
                <a16:creationId xmlns:a16="http://schemas.microsoft.com/office/drawing/2014/main" id="{49EB669C-81D5-BB60-4F7F-B94B0A16FEB9}"/>
              </a:ext>
            </a:extLst>
          </p:cNvPr>
          <p:cNvSpPr>
            <a:spLocks noGrp="1"/>
          </p:cNvSpPr>
          <p:nvPr>
            <p:ph type="body" sz="quarter" idx="11" hasCustomPrompt="1"/>
          </p:nvPr>
        </p:nvSpPr>
        <p:spPr>
          <a:xfrm>
            <a:off x="6390517" y="1924050"/>
            <a:ext cx="5348634" cy="3712475"/>
          </a:xfrm>
          <a:prstGeom prst="rect">
            <a:avLst/>
          </a:prstGeom>
        </p:spPr>
        <p:txBody>
          <a:bodyPr/>
          <a:lstStyle>
            <a:lvl1pPr marL="0" indent="0">
              <a:buFont typeface="Arial" panose="020B0604020202020204" pitchFamily="34" charset="0"/>
              <a:buNone/>
              <a:defRPr sz="2600" b="0">
                <a:solidFill>
                  <a:schemeClr val="tx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Two Column</a:t>
            </a:r>
          </a:p>
        </p:txBody>
      </p:sp>
    </p:spTree>
    <p:extLst>
      <p:ext uri="{BB962C8B-B14F-4D97-AF65-F5344CB8AC3E}">
        <p14:creationId xmlns:p14="http://schemas.microsoft.com/office/powerpoint/2010/main" val="1874704758"/>
      </p:ext>
    </p:extLst>
  </p:cSld>
  <p:clrMapOvr>
    <a:masterClrMapping/>
  </p:clrMapOvr>
  <p:extLst>
    <p:ext uri="{DCECCB84-F9BA-43D5-87BE-67443E8EF086}">
      <p15:sldGuideLst xmlns:p15="http://schemas.microsoft.com/office/powerpoint/2012/main">
        <p15:guide id="1" orient="horz" pos="216">
          <p15:clr>
            <a:srgbClr val="FBAE40"/>
          </p15:clr>
        </p15:guide>
        <p15:guide id="2" pos="264">
          <p15:clr>
            <a:srgbClr val="FBAE40"/>
          </p15:clr>
        </p15:guide>
        <p15:guide id="3" orient="horz" pos="3696">
          <p15:clr>
            <a:srgbClr val="FBAE40"/>
          </p15:clr>
        </p15:guide>
        <p15:guide id="4" pos="6936">
          <p15:clr>
            <a:srgbClr val="FBAE40"/>
          </p15:clr>
        </p15:guide>
        <p15:guide id="5" pos="73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ntent - One Column - Dark">
    <p:bg>
      <p:bgPr>
        <a:solidFill>
          <a:schemeClr val="accent5"/>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E477F52-71BD-C32A-D057-E82B0F6DCC02}"/>
              </a:ext>
            </a:extLst>
          </p:cNvPr>
          <p:cNvSpPr txBox="1"/>
          <p:nvPr userDrawn="1"/>
        </p:nvSpPr>
        <p:spPr>
          <a:xfrm>
            <a:off x="8138160" y="6949440"/>
            <a:ext cx="184731" cy="369332"/>
          </a:xfrm>
          <a:prstGeom prst="rect">
            <a:avLst/>
          </a:prstGeom>
          <a:noFill/>
        </p:spPr>
        <p:txBody>
          <a:bodyPr wrap="none" rtlCol="0">
            <a:spAutoFit/>
          </a:bodyPr>
          <a:lstStyle/>
          <a:p>
            <a:endParaRPr lang="en-US"/>
          </a:p>
        </p:txBody>
      </p:sp>
      <p:pic>
        <p:nvPicPr>
          <p:cNvPr id="3" name="Graphic 2" descr="NCBI Logo (NIH National Library of Medicine National Center for Biotechnology information Logo)">
            <a:extLst>
              <a:ext uri="{FF2B5EF4-FFF2-40B4-BE49-F238E27FC236}">
                <a16:creationId xmlns:a16="http://schemas.microsoft.com/office/drawing/2014/main" id="{5C765E0C-4CCE-2A6C-3C53-A6992ABCF3F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26721" y="6257856"/>
            <a:ext cx="2333258" cy="277550"/>
          </a:xfrm>
          <a:prstGeom prst="rect">
            <a:avLst/>
          </a:prstGeom>
        </p:spPr>
      </p:pic>
      <p:pic>
        <p:nvPicPr>
          <p:cNvPr id="5" name="Graphic 4">
            <a:extLst>
              <a:ext uri="{FF2B5EF4-FFF2-40B4-BE49-F238E27FC236}">
                <a16:creationId xmlns:a16="http://schemas.microsoft.com/office/drawing/2014/main" id="{539CBF45-5F88-8F9B-F1A2-A72CBF248C7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16200000">
            <a:off x="11138019" y="5944720"/>
            <a:ext cx="303547" cy="877826"/>
          </a:xfrm>
          <a:prstGeom prst="rect">
            <a:avLst/>
          </a:prstGeom>
        </p:spPr>
      </p:pic>
      <p:cxnSp>
        <p:nvCxnSpPr>
          <p:cNvPr id="6" name="Straight Connector 5">
            <a:extLst>
              <a:ext uri="{FF2B5EF4-FFF2-40B4-BE49-F238E27FC236}">
                <a16:creationId xmlns:a16="http://schemas.microsoft.com/office/drawing/2014/main" id="{1D7082A7-7DBC-D739-9973-D1980AF7D4F1}"/>
              </a:ext>
              <a:ext uri="{C183D7F6-B498-43B3-948B-1728B52AA6E4}">
                <adec:decorative xmlns:adec="http://schemas.microsoft.com/office/drawing/2017/decorative" val="1"/>
              </a:ext>
            </a:extLst>
          </p:cNvPr>
          <p:cNvCxnSpPr/>
          <p:nvPr userDrawn="1"/>
        </p:nvCxnSpPr>
        <p:spPr>
          <a:xfrm>
            <a:off x="426720" y="6123963"/>
            <a:ext cx="11301985"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3613F54F-A2F7-F2F6-62E6-62B006D8B096}"/>
              </a:ext>
            </a:extLst>
          </p:cNvPr>
          <p:cNvSpPr>
            <a:spLocks noGrp="1"/>
          </p:cNvSpPr>
          <p:nvPr>
            <p:ph type="body" sz="quarter" idx="10" hasCustomPrompt="1"/>
          </p:nvPr>
        </p:nvSpPr>
        <p:spPr>
          <a:xfrm>
            <a:off x="427038" y="1924050"/>
            <a:ext cx="9144345" cy="3712475"/>
          </a:xfrm>
          <a:prstGeom prst="rect">
            <a:avLst/>
          </a:prstGeom>
        </p:spPr>
        <p:txBody>
          <a:bodyPr/>
          <a:lstStyle>
            <a:lvl1pPr marL="0" indent="0">
              <a:buClr>
                <a:schemeClr val="accent3"/>
              </a:buClr>
              <a:buFont typeface="Arial" panose="020B0604020202020204" pitchFamily="34" charset="0"/>
              <a:buNone/>
              <a:defRPr sz="30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One Column</a:t>
            </a:r>
          </a:p>
        </p:txBody>
      </p:sp>
      <p:sp>
        <p:nvSpPr>
          <p:cNvPr id="9" name="Title 1">
            <a:extLst>
              <a:ext uri="{FF2B5EF4-FFF2-40B4-BE49-F238E27FC236}">
                <a16:creationId xmlns:a16="http://schemas.microsoft.com/office/drawing/2014/main" id="{1882C78F-43B9-988C-B568-8C520B8EA2AD}"/>
              </a:ext>
            </a:extLst>
          </p:cNvPr>
          <p:cNvSpPr>
            <a:spLocks noGrp="1"/>
          </p:cNvSpPr>
          <p:nvPr>
            <p:ph type="title" hasCustomPrompt="1"/>
          </p:nvPr>
        </p:nvSpPr>
        <p:spPr>
          <a:xfrm>
            <a:off x="426720" y="365125"/>
            <a:ext cx="10515600" cy="1325563"/>
          </a:xfrm>
        </p:spPr>
        <p:txBody>
          <a:bodyPr anchor="t"/>
          <a:lstStyle>
            <a:lvl1pPr>
              <a:defRPr>
                <a:solidFill>
                  <a:schemeClr val="bg1"/>
                </a:solidFill>
              </a:defRPr>
            </a:lvl1pPr>
          </a:lstStyle>
          <a:p>
            <a:r>
              <a:rPr lang="en-US"/>
              <a:t>Headline</a:t>
            </a:r>
          </a:p>
        </p:txBody>
      </p:sp>
    </p:spTree>
    <p:extLst>
      <p:ext uri="{BB962C8B-B14F-4D97-AF65-F5344CB8AC3E}">
        <p14:creationId xmlns:p14="http://schemas.microsoft.com/office/powerpoint/2010/main" val="2528345295"/>
      </p:ext>
    </p:extLst>
  </p:cSld>
  <p:clrMapOvr>
    <a:masterClrMapping/>
  </p:clrMapOvr>
  <p:extLst>
    <p:ext uri="{DCECCB84-F9BA-43D5-87BE-67443E8EF086}">
      <p15:sldGuideLst xmlns:p15="http://schemas.microsoft.com/office/powerpoint/2012/main">
        <p15:guide id="1" orient="horz" pos="216">
          <p15:clr>
            <a:srgbClr val="FBAE40"/>
          </p15:clr>
        </p15:guide>
        <p15:guide id="2" pos="264">
          <p15:clr>
            <a:srgbClr val="FBAE40"/>
          </p15:clr>
        </p15:guide>
        <p15:guide id="3" orient="horz" pos="3696">
          <p15:clr>
            <a:srgbClr val="FBAE40"/>
          </p15:clr>
        </p15:guide>
        <p15:guide id="4" pos="6936">
          <p15:clr>
            <a:srgbClr val="FBAE40"/>
          </p15:clr>
        </p15:guide>
        <p15:guide id="5" pos="73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ntent - Two Column - Dark">
    <p:bg>
      <p:bgPr>
        <a:solidFill>
          <a:schemeClr val="accent5"/>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E477F52-71BD-C32A-D057-E82B0F6DCC02}"/>
              </a:ext>
            </a:extLst>
          </p:cNvPr>
          <p:cNvSpPr txBox="1"/>
          <p:nvPr userDrawn="1"/>
        </p:nvSpPr>
        <p:spPr>
          <a:xfrm>
            <a:off x="8138160" y="6949440"/>
            <a:ext cx="184731" cy="369332"/>
          </a:xfrm>
          <a:prstGeom prst="rect">
            <a:avLst/>
          </a:prstGeom>
          <a:noFill/>
        </p:spPr>
        <p:txBody>
          <a:bodyPr wrap="none" rtlCol="0">
            <a:spAutoFit/>
          </a:bodyPr>
          <a:lstStyle/>
          <a:p>
            <a:endParaRPr lang="en-US"/>
          </a:p>
        </p:txBody>
      </p:sp>
      <p:sp>
        <p:nvSpPr>
          <p:cNvPr id="9" name="Title 1">
            <a:extLst>
              <a:ext uri="{FF2B5EF4-FFF2-40B4-BE49-F238E27FC236}">
                <a16:creationId xmlns:a16="http://schemas.microsoft.com/office/drawing/2014/main" id="{1882C78F-43B9-988C-B568-8C520B8EA2AD}"/>
              </a:ext>
            </a:extLst>
          </p:cNvPr>
          <p:cNvSpPr>
            <a:spLocks noGrp="1"/>
          </p:cNvSpPr>
          <p:nvPr>
            <p:ph type="title" hasCustomPrompt="1"/>
          </p:nvPr>
        </p:nvSpPr>
        <p:spPr>
          <a:xfrm>
            <a:off x="426720" y="365125"/>
            <a:ext cx="10515600" cy="1325563"/>
          </a:xfrm>
        </p:spPr>
        <p:txBody>
          <a:bodyPr anchor="t"/>
          <a:lstStyle>
            <a:lvl1pPr>
              <a:defRPr>
                <a:solidFill>
                  <a:schemeClr val="bg1"/>
                </a:solidFill>
              </a:defRPr>
            </a:lvl1pPr>
          </a:lstStyle>
          <a:p>
            <a:r>
              <a:rPr lang="en-US"/>
              <a:t>Headline</a:t>
            </a:r>
          </a:p>
        </p:txBody>
      </p:sp>
      <p:sp>
        <p:nvSpPr>
          <p:cNvPr id="17" name="Text Placeholder 3">
            <a:extLst>
              <a:ext uri="{FF2B5EF4-FFF2-40B4-BE49-F238E27FC236}">
                <a16:creationId xmlns:a16="http://schemas.microsoft.com/office/drawing/2014/main" id="{23B09C06-FF86-016C-DA5F-BA1CB7EF9F46}"/>
              </a:ext>
            </a:extLst>
          </p:cNvPr>
          <p:cNvSpPr>
            <a:spLocks noGrp="1"/>
          </p:cNvSpPr>
          <p:nvPr>
            <p:ph type="body" sz="quarter" idx="10" hasCustomPrompt="1"/>
          </p:nvPr>
        </p:nvSpPr>
        <p:spPr>
          <a:xfrm>
            <a:off x="427038" y="1924050"/>
            <a:ext cx="5348634" cy="3712475"/>
          </a:xfrm>
          <a:prstGeom prst="rect">
            <a:avLst/>
          </a:prstGeom>
        </p:spPr>
        <p:txBody>
          <a:bodyPr/>
          <a:lstStyle>
            <a:lvl1pPr marL="0" indent="0">
              <a:buClr>
                <a:schemeClr val="accent3"/>
              </a:buClr>
              <a:buFont typeface="Arial" panose="020B0604020202020204" pitchFamily="34" charset="0"/>
              <a:buNone/>
              <a:defRPr sz="24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Two Column</a:t>
            </a:r>
          </a:p>
        </p:txBody>
      </p:sp>
      <p:sp>
        <p:nvSpPr>
          <p:cNvPr id="19" name="Text Placeholder 3">
            <a:extLst>
              <a:ext uri="{FF2B5EF4-FFF2-40B4-BE49-F238E27FC236}">
                <a16:creationId xmlns:a16="http://schemas.microsoft.com/office/drawing/2014/main" id="{AFA4C56E-9AA0-CC5A-564F-E319DA0B0A90}"/>
              </a:ext>
            </a:extLst>
          </p:cNvPr>
          <p:cNvSpPr>
            <a:spLocks noGrp="1"/>
          </p:cNvSpPr>
          <p:nvPr>
            <p:ph type="body" sz="quarter" idx="11" hasCustomPrompt="1"/>
          </p:nvPr>
        </p:nvSpPr>
        <p:spPr>
          <a:xfrm>
            <a:off x="6390517" y="1924050"/>
            <a:ext cx="5348634" cy="3712475"/>
          </a:xfrm>
          <a:prstGeom prst="rect">
            <a:avLst/>
          </a:prstGeom>
        </p:spPr>
        <p:txBody>
          <a:bodyPr/>
          <a:lstStyle>
            <a:lvl1pPr marL="0" indent="0">
              <a:buClr>
                <a:schemeClr val="accent3"/>
              </a:buClr>
              <a:buFont typeface="Arial" panose="020B0604020202020204" pitchFamily="34" charset="0"/>
              <a:buNone/>
              <a:defRPr sz="24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Two Column</a:t>
            </a:r>
          </a:p>
        </p:txBody>
      </p:sp>
      <p:pic>
        <p:nvPicPr>
          <p:cNvPr id="20" name="Graphic 19" descr="NCBI Logo (NIH National Library of Medicine National Center for Biotechnology information Logo)">
            <a:extLst>
              <a:ext uri="{FF2B5EF4-FFF2-40B4-BE49-F238E27FC236}">
                <a16:creationId xmlns:a16="http://schemas.microsoft.com/office/drawing/2014/main" id="{01CD569F-E79E-AD8C-2A53-154024EBD9F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26721" y="6257856"/>
            <a:ext cx="2333258" cy="277550"/>
          </a:xfrm>
          <a:prstGeom prst="rect">
            <a:avLst/>
          </a:prstGeom>
        </p:spPr>
      </p:pic>
      <p:pic>
        <p:nvPicPr>
          <p:cNvPr id="21" name="Graphic 20">
            <a:extLst>
              <a:ext uri="{FF2B5EF4-FFF2-40B4-BE49-F238E27FC236}">
                <a16:creationId xmlns:a16="http://schemas.microsoft.com/office/drawing/2014/main" id="{798A832D-81DC-9A3B-CCB9-B10AC507A19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16200000">
            <a:off x="11138019" y="5944720"/>
            <a:ext cx="303547" cy="877826"/>
          </a:xfrm>
          <a:prstGeom prst="rect">
            <a:avLst/>
          </a:prstGeom>
        </p:spPr>
      </p:pic>
      <p:cxnSp>
        <p:nvCxnSpPr>
          <p:cNvPr id="22" name="Straight Connector 21">
            <a:extLst>
              <a:ext uri="{FF2B5EF4-FFF2-40B4-BE49-F238E27FC236}">
                <a16:creationId xmlns:a16="http://schemas.microsoft.com/office/drawing/2014/main" id="{5C91C8E7-B319-3185-6F93-8CEBB0BBC09D}"/>
              </a:ext>
              <a:ext uri="{C183D7F6-B498-43B3-948B-1728B52AA6E4}">
                <adec:decorative xmlns:adec="http://schemas.microsoft.com/office/drawing/2017/decorative" val="1"/>
              </a:ext>
            </a:extLst>
          </p:cNvPr>
          <p:cNvCxnSpPr/>
          <p:nvPr userDrawn="1"/>
        </p:nvCxnSpPr>
        <p:spPr>
          <a:xfrm>
            <a:off x="426720" y="6123963"/>
            <a:ext cx="11301985"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0301561"/>
      </p:ext>
    </p:extLst>
  </p:cSld>
  <p:clrMapOvr>
    <a:masterClrMapping/>
  </p:clrMapOvr>
  <p:extLst>
    <p:ext uri="{DCECCB84-F9BA-43D5-87BE-67443E8EF086}">
      <p15:sldGuideLst xmlns:p15="http://schemas.microsoft.com/office/powerpoint/2012/main">
        <p15:guide id="1" orient="horz" pos="216" userDrawn="1">
          <p15:clr>
            <a:srgbClr val="FBAE40"/>
          </p15:clr>
        </p15:guide>
        <p15:guide id="2" pos="264" userDrawn="1">
          <p15:clr>
            <a:srgbClr val="FBAE40"/>
          </p15:clr>
        </p15:guide>
        <p15:guide id="3" orient="horz" pos="3696" userDrawn="1">
          <p15:clr>
            <a:srgbClr val="FBAE40"/>
          </p15:clr>
        </p15:guide>
        <p15:guide id="4" pos="6936" userDrawn="1">
          <p15:clr>
            <a:srgbClr val="FBAE40"/>
          </p15:clr>
        </p15:guide>
        <p15:guide id="5" pos="739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Break Slide">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0A49955-8888-A5BB-538C-72E2E7947C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rot="16200000">
            <a:off x="3911069" y="-1429026"/>
            <a:ext cx="4371387" cy="12641578"/>
          </a:xfrm>
          <a:prstGeom prst="rect">
            <a:avLst/>
          </a:prstGeom>
        </p:spPr>
      </p:pic>
      <p:sp>
        <p:nvSpPr>
          <p:cNvPr id="12" name="Title 1">
            <a:extLst>
              <a:ext uri="{FF2B5EF4-FFF2-40B4-BE49-F238E27FC236}">
                <a16:creationId xmlns:a16="http://schemas.microsoft.com/office/drawing/2014/main" id="{759966C1-7063-9414-2DAD-CC52B1A8D7E8}"/>
              </a:ext>
            </a:extLst>
          </p:cNvPr>
          <p:cNvSpPr>
            <a:spLocks noGrp="1"/>
          </p:cNvSpPr>
          <p:nvPr>
            <p:ph type="title" hasCustomPrompt="1"/>
          </p:nvPr>
        </p:nvSpPr>
        <p:spPr>
          <a:xfrm>
            <a:off x="426720" y="365125"/>
            <a:ext cx="10515600" cy="1325563"/>
          </a:xfrm>
        </p:spPr>
        <p:txBody>
          <a:bodyPr anchor="t"/>
          <a:lstStyle/>
          <a:p>
            <a:r>
              <a:rPr lang="en-US"/>
              <a:t>Break Slide Title</a:t>
            </a:r>
          </a:p>
        </p:txBody>
      </p:sp>
    </p:spTree>
    <p:extLst>
      <p:ext uri="{BB962C8B-B14F-4D97-AF65-F5344CB8AC3E}">
        <p14:creationId xmlns:p14="http://schemas.microsoft.com/office/powerpoint/2010/main" val="3400487676"/>
      </p:ext>
    </p:extLst>
  </p:cSld>
  <p:clrMapOvr>
    <a:masterClrMapping/>
  </p:clrMapOvr>
  <p:extLst>
    <p:ext uri="{DCECCB84-F9BA-43D5-87BE-67443E8EF086}">
      <p15:sldGuideLst xmlns:p15="http://schemas.microsoft.com/office/powerpoint/2012/main">
        <p15:guide id="1" pos="28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ntent - Two Column - Dark">
    <p:bg>
      <p:bgPr>
        <a:solidFill>
          <a:schemeClr val="accent5"/>
        </a:solidFill>
        <a:effectLst/>
      </p:bgPr>
    </p:bg>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A3233956-5BB5-F1FF-6027-5EE904958676}"/>
              </a:ext>
            </a:extLst>
          </p:cNvPr>
          <p:cNvSpPr>
            <a:spLocks noGrp="1"/>
          </p:cNvSpPr>
          <p:nvPr>
            <p:ph type="body" sz="quarter" idx="10" hasCustomPrompt="1"/>
          </p:nvPr>
        </p:nvSpPr>
        <p:spPr>
          <a:xfrm>
            <a:off x="7478199" y="4427093"/>
            <a:ext cx="3169923" cy="494204"/>
          </a:xfrm>
          <a:prstGeom prst="rect">
            <a:avLst/>
          </a:prstGeom>
        </p:spPr>
        <p:txBody>
          <a:bodyPr/>
          <a:lstStyle>
            <a:lvl1pPr marL="0" indent="0" algn="ctr">
              <a:buClr>
                <a:schemeClr val="accent3"/>
              </a:buClr>
              <a:buFont typeface="Arial" panose="020B0604020202020204" pitchFamily="34" charset="0"/>
              <a:buNone/>
              <a:defRPr sz="26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Name</a:t>
            </a:r>
          </a:p>
        </p:txBody>
      </p:sp>
      <p:sp>
        <p:nvSpPr>
          <p:cNvPr id="39" name="Picture Placeholder 38">
            <a:extLst>
              <a:ext uri="{FF2B5EF4-FFF2-40B4-BE49-F238E27FC236}">
                <a16:creationId xmlns:a16="http://schemas.microsoft.com/office/drawing/2014/main" id="{56124F57-707B-ABCC-315E-A81C2315137A}"/>
              </a:ext>
            </a:extLst>
          </p:cNvPr>
          <p:cNvSpPr>
            <a:spLocks noGrp="1"/>
          </p:cNvSpPr>
          <p:nvPr>
            <p:ph type="pic" sz="quarter" idx="11" hasCustomPrompt="1"/>
          </p:nvPr>
        </p:nvSpPr>
        <p:spPr>
          <a:xfrm>
            <a:off x="7492450" y="1075781"/>
            <a:ext cx="3141376" cy="3141376"/>
          </a:xfrm>
          <a:custGeom>
            <a:avLst/>
            <a:gdLst>
              <a:gd name="connsiteX0" fmla="*/ 1570688 w 3141376"/>
              <a:gd name="connsiteY0" fmla="*/ 0 h 3141376"/>
              <a:gd name="connsiteX1" fmla="*/ 3141376 w 3141376"/>
              <a:gd name="connsiteY1" fmla="*/ 1570688 h 3141376"/>
              <a:gd name="connsiteX2" fmla="*/ 1570688 w 3141376"/>
              <a:gd name="connsiteY2" fmla="*/ 3141376 h 3141376"/>
              <a:gd name="connsiteX3" fmla="*/ 0 w 3141376"/>
              <a:gd name="connsiteY3" fmla="*/ 1570688 h 3141376"/>
              <a:gd name="connsiteX4" fmla="*/ 1570688 w 3141376"/>
              <a:gd name="connsiteY4" fmla="*/ 0 h 3141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1376" h="3141376">
                <a:moveTo>
                  <a:pt x="1570688" y="0"/>
                </a:moveTo>
                <a:cubicBezTo>
                  <a:pt x="2438155" y="0"/>
                  <a:pt x="3141376" y="703221"/>
                  <a:pt x="3141376" y="1570688"/>
                </a:cubicBezTo>
                <a:cubicBezTo>
                  <a:pt x="3141376" y="2438155"/>
                  <a:pt x="2438155" y="3141376"/>
                  <a:pt x="1570688" y="3141376"/>
                </a:cubicBezTo>
                <a:cubicBezTo>
                  <a:pt x="703221" y="3141376"/>
                  <a:pt x="0" y="2438155"/>
                  <a:pt x="0" y="1570688"/>
                </a:cubicBezTo>
                <a:cubicBezTo>
                  <a:pt x="0" y="703221"/>
                  <a:pt x="703221" y="0"/>
                  <a:pt x="1570688" y="0"/>
                </a:cubicBezTo>
                <a:close/>
              </a:path>
            </a:pathLst>
          </a:custGeom>
          <a:solidFill>
            <a:schemeClr val="bg2"/>
          </a:solidFill>
        </p:spPr>
        <p:txBody>
          <a:bodyPr wrap="square" anchor="ctr">
            <a:noAutofit/>
          </a:bodyPr>
          <a:lstStyle>
            <a:lvl1pPr algn="ctr">
              <a:defRPr sz="1600"/>
            </a:lvl1pPr>
          </a:lstStyle>
          <a:p>
            <a:r>
              <a:rPr lang="en-US"/>
              <a:t>Insert Headshot</a:t>
            </a:r>
          </a:p>
        </p:txBody>
      </p:sp>
      <p:sp>
        <p:nvSpPr>
          <p:cNvPr id="15" name="Text Placeholder 3">
            <a:extLst>
              <a:ext uri="{FF2B5EF4-FFF2-40B4-BE49-F238E27FC236}">
                <a16:creationId xmlns:a16="http://schemas.microsoft.com/office/drawing/2014/main" id="{0E287621-561F-D068-D1A6-C1BAD35B4A79}"/>
              </a:ext>
            </a:extLst>
          </p:cNvPr>
          <p:cNvSpPr>
            <a:spLocks noGrp="1"/>
          </p:cNvSpPr>
          <p:nvPr>
            <p:ph type="body" sz="quarter" idx="12" hasCustomPrompt="1"/>
          </p:nvPr>
        </p:nvSpPr>
        <p:spPr>
          <a:xfrm>
            <a:off x="7478199" y="4941643"/>
            <a:ext cx="3169922" cy="494204"/>
          </a:xfrm>
          <a:prstGeom prst="rect">
            <a:avLst/>
          </a:prstGeom>
        </p:spPr>
        <p:txBody>
          <a:bodyPr/>
          <a:lstStyle>
            <a:lvl1pPr marL="0" indent="0" algn="ctr">
              <a:buClr>
                <a:schemeClr val="accent3"/>
              </a:buClr>
              <a:buFont typeface="Arial" panose="020B0604020202020204" pitchFamily="34" charset="0"/>
              <a:buNone/>
              <a:defRPr sz="16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Title</a:t>
            </a:r>
          </a:p>
        </p:txBody>
      </p:sp>
      <p:sp>
        <p:nvSpPr>
          <p:cNvPr id="12" name="TextBox 11">
            <a:extLst>
              <a:ext uri="{FF2B5EF4-FFF2-40B4-BE49-F238E27FC236}">
                <a16:creationId xmlns:a16="http://schemas.microsoft.com/office/drawing/2014/main" id="{8E477F52-71BD-C32A-D057-E82B0F6DCC02}"/>
              </a:ext>
            </a:extLst>
          </p:cNvPr>
          <p:cNvSpPr txBox="1"/>
          <p:nvPr userDrawn="1"/>
        </p:nvSpPr>
        <p:spPr>
          <a:xfrm>
            <a:off x="8138160" y="6949440"/>
            <a:ext cx="184731" cy="369332"/>
          </a:xfrm>
          <a:prstGeom prst="rect">
            <a:avLst/>
          </a:prstGeom>
          <a:noFill/>
        </p:spPr>
        <p:txBody>
          <a:bodyPr wrap="none" rtlCol="0">
            <a:spAutoFit/>
          </a:bodyPr>
          <a:lstStyle/>
          <a:p>
            <a:endParaRPr lang="en-US"/>
          </a:p>
        </p:txBody>
      </p:sp>
      <p:sp>
        <p:nvSpPr>
          <p:cNvPr id="9" name="Title 1">
            <a:extLst>
              <a:ext uri="{FF2B5EF4-FFF2-40B4-BE49-F238E27FC236}">
                <a16:creationId xmlns:a16="http://schemas.microsoft.com/office/drawing/2014/main" id="{1882C78F-43B9-988C-B568-8C520B8EA2AD}"/>
              </a:ext>
            </a:extLst>
          </p:cNvPr>
          <p:cNvSpPr>
            <a:spLocks noGrp="1"/>
          </p:cNvSpPr>
          <p:nvPr>
            <p:ph type="title" hasCustomPrompt="1"/>
          </p:nvPr>
        </p:nvSpPr>
        <p:spPr>
          <a:xfrm>
            <a:off x="428377" y="1693274"/>
            <a:ext cx="4604799" cy="3052860"/>
          </a:xfrm>
        </p:spPr>
        <p:txBody>
          <a:bodyPr anchor="ctr"/>
          <a:lstStyle>
            <a:lvl1pPr>
              <a:defRPr>
                <a:solidFill>
                  <a:schemeClr val="bg1"/>
                </a:solidFill>
              </a:defRPr>
            </a:lvl1pPr>
          </a:lstStyle>
          <a:p>
            <a:r>
              <a:rPr lang="en-US"/>
              <a:t>Section Title for Single Speaker</a:t>
            </a:r>
          </a:p>
        </p:txBody>
      </p:sp>
      <p:cxnSp>
        <p:nvCxnSpPr>
          <p:cNvPr id="5" name="Straight Connector 4">
            <a:extLst>
              <a:ext uri="{FF2B5EF4-FFF2-40B4-BE49-F238E27FC236}">
                <a16:creationId xmlns:a16="http://schemas.microsoft.com/office/drawing/2014/main" id="{9A83F0ED-62F8-7C70-8C36-98A0F9757DFB}"/>
              </a:ext>
              <a:ext uri="{C183D7F6-B498-43B3-948B-1728B52AA6E4}">
                <adec:decorative xmlns:adec="http://schemas.microsoft.com/office/drawing/2017/decorative" val="1"/>
              </a:ext>
            </a:extLst>
          </p:cNvPr>
          <p:cNvCxnSpPr>
            <a:cxnSpLocks/>
          </p:cNvCxnSpPr>
          <p:nvPr userDrawn="1"/>
        </p:nvCxnSpPr>
        <p:spPr>
          <a:xfrm flipV="1">
            <a:off x="6063531" y="1168842"/>
            <a:ext cx="0" cy="4261899"/>
          </a:xfrm>
          <a:prstGeom prst="line">
            <a:avLst/>
          </a:prstGeom>
          <a:ln w="12700">
            <a:solidFill>
              <a:srgbClr val="00A6D2"/>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9ED2706D-CCF2-D1CE-C7F1-F708D78C5098}"/>
              </a:ext>
            </a:extLst>
          </p:cNvPr>
          <p:cNvPicPr>
            <a:picLocks/>
          </p:cNvPicPr>
          <p:nvPr userDrawn="1"/>
        </p:nvPicPr>
        <p:blipFill>
          <a:blip>
            <a:extLst>
              <a:ext uri="{96DAC541-7B7A-43D3-8B79-37D633B846F1}">
                <asvg:svgBlip xmlns:asvg="http://schemas.microsoft.com/office/drawing/2016/SVG/main" r:embed="rId2"/>
              </a:ext>
            </a:extLst>
          </a:blip>
          <a:srcRect/>
          <a:stretch/>
        </p:blipFill>
        <p:spPr>
          <a:xfrm>
            <a:off x="0" y="6746581"/>
            <a:ext cx="12192000" cy="109728"/>
          </a:xfrm>
          <a:prstGeom prst="rect">
            <a:avLst/>
          </a:prstGeom>
        </p:spPr>
      </p:pic>
    </p:spTree>
    <p:extLst>
      <p:ext uri="{BB962C8B-B14F-4D97-AF65-F5344CB8AC3E}">
        <p14:creationId xmlns:p14="http://schemas.microsoft.com/office/powerpoint/2010/main" val="1304215997"/>
      </p:ext>
    </p:extLst>
  </p:cSld>
  <p:clrMapOvr>
    <a:masterClrMapping/>
  </p:clrMapOvr>
  <p:extLst>
    <p:ext uri="{DCECCB84-F9BA-43D5-87BE-67443E8EF086}">
      <p15:sldGuideLst xmlns:p15="http://schemas.microsoft.com/office/powerpoint/2012/main">
        <p15:guide id="1" orient="horz" pos="216">
          <p15:clr>
            <a:srgbClr val="FBAE40"/>
          </p15:clr>
        </p15:guide>
        <p15:guide id="2" pos="264">
          <p15:clr>
            <a:srgbClr val="FBAE40"/>
          </p15:clr>
        </p15:guide>
        <p15:guide id="3" orient="horz" pos="3696">
          <p15:clr>
            <a:srgbClr val="FBAE40"/>
          </p15:clr>
        </p15:guide>
        <p15:guide id="4" pos="6936">
          <p15:clr>
            <a:srgbClr val="FBAE40"/>
          </p15:clr>
        </p15:guide>
        <p15:guide id="5" pos="73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Content - Two Column - Dark">
    <p:bg>
      <p:bgPr>
        <a:solidFill>
          <a:schemeClr val="accent5"/>
        </a:solidFill>
        <a:effectLst/>
      </p:bgPr>
    </p:bg>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A3233956-5BB5-F1FF-6027-5EE904958676}"/>
              </a:ext>
            </a:extLst>
          </p:cNvPr>
          <p:cNvSpPr>
            <a:spLocks noGrp="1"/>
          </p:cNvSpPr>
          <p:nvPr>
            <p:ph type="body" sz="quarter" idx="10" hasCustomPrompt="1"/>
          </p:nvPr>
        </p:nvSpPr>
        <p:spPr>
          <a:xfrm>
            <a:off x="5307821" y="4114613"/>
            <a:ext cx="3169923" cy="494204"/>
          </a:xfrm>
          <a:prstGeom prst="rect">
            <a:avLst/>
          </a:prstGeom>
        </p:spPr>
        <p:txBody>
          <a:bodyPr/>
          <a:lstStyle>
            <a:lvl1pPr marL="0" indent="0" algn="ctr">
              <a:buClr>
                <a:schemeClr val="accent3"/>
              </a:buClr>
              <a:buFont typeface="Arial" panose="020B0604020202020204" pitchFamily="34" charset="0"/>
              <a:buNone/>
              <a:defRPr sz="26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Name</a:t>
            </a:r>
          </a:p>
        </p:txBody>
      </p:sp>
      <p:sp>
        <p:nvSpPr>
          <p:cNvPr id="39" name="Picture Placeholder 38">
            <a:extLst>
              <a:ext uri="{FF2B5EF4-FFF2-40B4-BE49-F238E27FC236}">
                <a16:creationId xmlns:a16="http://schemas.microsoft.com/office/drawing/2014/main" id="{56124F57-707B-ABCC-315E-A81C2315137A}"/>
              </a:ext>
            </a:extLst>
          </p:cNvPr>
          <p:cNvSpPr>
            <a:spLocks noGrp="1"/>
          </p:cNvSpPr>
          <p:nvPr>
            <p:ph type="pic" sz="quarter" idx="11" hasCustomPrompt="1"/>
          </p:nvPr>
        </p:nvSpPr>
        <p:spPr>
          <a:xfrm>
            <a:off x="5846895" y="1703175"/>
            <a:ext cx="2091774" cy="2091774"/>
          </a:xfrm>
          <a:custGeom>
            <a:avLst/>
            <a:gdLst>
              <a:gd name="connsiteX0" fmla="*/ 1570688 w 3141376"/>
              <a:gd name="connsiteY0" fmla="*/ 0 h 3141376"/>
              <a:gd name="connsiteX1" fmla="*/ 3141376 w 3141376"/>
              <a:gd name="connsiteY1" fmla="*/ 1570688 h 3141376"/>
              <a:gd name="connsiteX2" fmla="*/ 1570688 w 3141376"/>
              <a:gd name="connsiteY2" fmla="*/ 3141376 h 3141376"/>
              <a:gd name="connsiteX3" fmla="*/ 0 w 3141376"/>
              <a:gd name="connsiteY3" fmla="*/ 1570688 h 3141376"/>
              <a:gd name="connsiteX4" fmla="*/ 1570688 w 3141376"/>
              <a:gd name="connsiteY4" fmla="*/ 0 h 3141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1376" h="3141376">
                <a:moveTo>
                  <a:pt x="1570688" y="0"/>
                </a:moveTo>
                <a:cubicBezTo>
                  <a:pt x="2438155" y="0"/>
                  <a:pt x="3141376" y="703221"/>
                  <a:pt x="3141376" y="1570688"/>
                </a:cubicBezTo>
                <a:cubicBezTo>
                  <a:pt x="3141376" y="2438155"/>
                  <a:pt x="2438155" y="3141376"/>
                  <a:pt x="1570688" y="3141376"/>
                </a:cubicBezTo>
                <a:cubicBezTo>
                  <a:pt x="703221" y="3141376"/>
                  <a:pt x="0" y="2438155"/>
                  <a:pt x="0" y="1570688"/>
                </a:cubicBezTo>
                <a:cubicBezTo>
                  <a:pt x="0" y="703221"/>
                  <a:pt x="703221" y="0"/>
                  <a:pt x="1570688" y="0"/>
                </a:cubicBezTo>
                <a:close/>
              </a:path>
            </a:pathLst>
          </a:custGeom>
          <a:solidFill>
            <a:schemeClr val="bg2"/>
          </a:solidFill>
        </p:spPr>
        <p:txBody>
          <a:bodyPr wrap="square" anchor="ctr">
            <a:noAutofit/>
          </a:bodyPr>
          <a:lstStyle>
            <a:lvl1pPr algn="ctr">
              <a:defRPr sz="1600"/>
            </a:lvl1pPr>
          </a:lstStyle>
          <a:p>
            <a:r>
              <a:rPr lang="en-US"/>
              <a:t>Insert Headshot</a:t>
            </a:r>
          </a:p>
        </p:txBody>
      </p:sp>
      <p:sp>
        <p:nvSpPr>
          <p:cNvPr id="15" name="Text Placeholder 3">
            <a:extLst>
              <a:ext uri="{FF2B5EF4-FFF2-40B4-BE49-F238E27FC236}">
                <a16:creationId xmlns:a16="http://schemas.microsoft.com/office/drawing/2014/main" id="{0E287621-561F-D068-D1A6-C1BAD35B4A79}"/>
              </a:ext>
            </a:extLst>
          </p:cNvPr>
          <p:cNvSpPr>
            <a:spLocks noGrp="1"/>
          </p:cNvSpPr>
          <p:nvPr>
            <p:ph type="body" sz="quarter" idx="12" hasCustomPrompt="1"/>
          </p:nvPr>
        </p:nvSpPr>
        <p:spPr>
          <a:xfrm>
            <a:off x="5307821" y="4629163"/>
            <a:ext cx="3169922" cy="494204"/>
          </a:xfrm>
          <a:prstGeom prst="rect">
            <a:avLst/>
          </a:prstGeom>
        </p:spPr>
        <p:txBody>
          <a:bodyPr/>
          <a:lstStyle>
            <a:lvl1pPr marL="0" indent="0" algn="ctr">
              <a:buClr>
                <a:schemeClr val="accent3"/>
              </a:buClr>
              <a:buFont typeface="Arial" panose="020B0604020202020204" pitchFamily="34" charset="0"/>
              <a:buNone/>
              <a:defRPr sz="16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Title</a:t>
            </a:r>
          </a:p>
        </p:txBody>
      </p:sp>
      <p:sp>
        <p:nvSpPr>
          <p:cNvPr id="12" name="TextBox 11">
            <a:extLst>
              <a:ext uri="{FF2B5EF4-FFF2-40B4-BE49-F238E27FC236}">
                <a16:creationId xmlns:a16="http://schemas.microsoft.com/office/drawing/2014/main" id="{8E477F52-71BD-C32A-D057-E82B0F6DCC02}"/>
              </a:ext>
            </a:extLst>
          </p:cNvPr>
          <p:cNvSpPr txBox="1"/>
          <p:nvPr userDrawn="1"/>
        </p:nvSpPr>
        <p:spPr>
          <a:xfrm>
            <a:off x="8138160" y="6949440"/>
            <a:ext cx="184731" cy="369332"/>
          </a:xfrm>
          <a:prstGeom prst="rect">
            <a:avLst/>
          </a:prstGeom>
          <a:noFill/>
        </p:spPr>
        <p:txBody>
          <a:bodyPr wrap="none" rtlCol="0">
            <a:spAutoFit/>
          </a:bodyPr>
          <a:lstStyle/>
          <a:p>
            <a:endParaRPr lang="en-US"/>
          </a:p>
        </p:txBody>
      </p:sp>
      <p:sp>
        <p:nvSpPr>
          <p:cNvPr id="9" name="Title 1">
            <a:extLst>
              <a:ext uri="{FF2B5EF4-FFF2-40B4-BE49-F238E27FC236}">
                <a16:creationId xmlns:a16="http://schemas.microsoft.com/office/drawing/2014/main" id="{1882C78F-43B9-988C-B568-8C520B8EA2AD}"/>
              </a:ext>
            </a:extLst>
          </p:cNvPr>
          <p:cNvSpPr>
            <a:spLocks noGrp="1"/>
          </p:cNvSpPr>
          <p:nvPr>
            <p:ph type="title" hasCustomPrompt="1"/>
          </p:nvPr>
        </p:nvSpPr>
        <p:spPr>
          <a:xfrm>
            <a:off x="496628" y="1693274"/>
            <a:ext cx="4217504" cy="3052860"/>
          </a:xfrm>
        </p:spPr>
        <p:txBody>
          <a:bodyPr anchor="ctr"/>
          <a:lstStyle>
            <a:lvl1pPr>
              <a:defRPr>
                <a:solidFill>
                  <a:schemeClr val="bg1"/>
                </a:solidFill>
              </a:defRPr>
            </a:lvl1pPr>
          </a:lstStyle>
          <a:p>
            <a:r>
              <a:rPr lang="en-US"/>
              <a:t>Section Title for Two Speakers</a:t>
            </a:r>
          </a:p>
        </p:txBody>
      </p:sp>
      <p:cxnSp>
        <p:nvCxnSpPr>
          <p:cNvPr id="5" name="Straight Connector 4">
            <a:extLst>
              <a:ext uri="{FF2B5EF4-FFF2-40B4-BE49-F238E27FC236}">
                <a16:creationId xmlns:a16="http://schemas.microsoft.com/office/drawing/2014/main" id="{9A83F0ED-62F8-7C70-8C36-98A0F9757DFB}"/>
              </a:ext>
              <a:ext uri="{C183D7F6-B498-43B3-948B-1728B52AA6E4}">
                <adec:decorative xmlns:adec="http://schemas.microsoft.com/office/drawing/2017/decorative" val="1"/>
              </a:ext>
            </a:extLst>
          </p:cNvPr>
          <p:cNvCxnSpPr>
            <a:cxnSpLocks/>
          </p:cNvCxnSpPr>
          <p:nvPr userDrawn="1"/>
        </p:nvCxnSpPr>
        <p:spPr>
          <a:xfrm flipV="1">
            <a:off x="5010976" y="1168842"/>
            <a:ext cx="0" cy="4261899"/>
          </a:xfrm>
          <a:prstGeom prst="line">
            <a:avLst/>
          </a:prstGeom>
          <a:ln w="12700">
            <a:solidFill>
              <a:srgbClr val="00A6D2"/>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9ED2706D-CCF2-D1CE-C7F1-F708D78C5098}"/>
              </a:ext>
            </a:extLst>
          </p:cNvPr>
          <p:cNvPicPr>
            <a:picLocks/>
          </p:cNvPicPr>
          <p:nvPr userDrawn="1"/>
        </p:nvPicPr>
        <p:blipFill>
          <a:blip>
            <a:extLst>
              <a:ext uri="{96DAC541-7B7A-43D3-8B79-37D633B846F1}">
                <asvg:svgBlip xmlns:asvg="http://schemas.microsoft.com/office/drawing/2016/SVG/main" r:embed="rId2"/>
              </a:ext>
            </a:extLst>
          </a:blip>
          <a:srcRect/>
          <a:stretch/>
        </p:blipFill>
        <p:spPr>
          <a:xfrm>
            <a:off x="0" y="6746581"/>
            <a:ext cx="12192000" cy="109728"/>
          </a:xfrm>
          <a:prstGeom prst="rect">
            <a:avLst/>
          </a:prstGeom>
        </p:spPr>
      </p:pic>
      <p:sp>
        <p:nvSpPr>
          <p:cNvPr id="43" name="Text Placeholder 3">
            <a:extLst>
              <a:ext uri="{FF2B5EF4-FFF2-40B4-BE49-F238E27FC236}">
                <a16:creationId xmlns:a16="http://schemas.microsoft.com/office/drawing/2014/main" id="{36FF6C8F-0D57-7187-7A87-DC67726A180B}"/>
              </a:ext>
            </a:extLst>
          </p:cNvPr>
          <p:cNvSpPr>
            <a:spLocks noGrp="1"/>
          </p:cNvSpPr>
          <p:nvPr>
            <p:ph type="body" sz="quarter" idx="13" hasCustomPrompt="1"/>
          </p:nvPr>
        </p:nvSpPr>
        <p:spPr>
          <a:xfrm>
            <a:off x="8647369" y="4114613"/>
            <a:ext cx="3169923" cy="494204"/>
          </a:xfrm>
          <a:prstGeom prst="rect">
            <a:avLst/>
          </a:prstGeom>
        </p:spPr>
        <p:txBody>
          <a:bodyPr/>
          <a:lstStyle>
            <a:lvl1pPr marL="0" indent="0" algn="ctr">
              <a:buClr>
                <a:schemeClr val="accent3"/>
              </a:buClr>
              <a:buFont typeface="Arial" panose="020B0604020202020204" pitchFamily="34" charset="0"/>
              <a:buNone/>
              <a:defRPr sz="26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Name</a:t>
            </a:r>
          </a:p>
        </p:txBody>
      </p:sp>
      <p:sp>
        <p:nvSpPr>
          <p:cNvPr id="44" name="Picture Placeholder 43">
            <a:extLst>
              <a:ext uri="{FF2B5EF4-FFF2-40B4-BE49-F238E27FC236}">
                <a16:creationId xmlns:a16="http://schemas.microsoft.com/office/drawing/2014/main" id="{D0A16C9A-427D-3AF9-BDCB-DFC85A9F8E1F}"/>
              </a:ext>
            </a:extLst>
          </p:cNvPr>
          <p:cNvSpPr>
            <a:spLocks noGrp="1"/>
          </p:cNvSpPr>
          <p:nvPr>
            <p:ph type="pic" sz="quarter" idx="14" hasCustomPrompt="1"/>
          </p:nvPr>
        </p:nvSpPr>
        <p:spPr>
          <a:xfrm>
            <a:off x="9186443" y="1703175"/>
            <a:ext cx="2091774" cy="2091774"/>
          </a:xfrm>
          <a:custGeom>
            <a:avLst/>
            <a:gdLst>
              <a:gd name="connsiteX0" fmla="*/ 1570688 w 3141376"/>
              <a:gd name="connsiteY0" fmla="*/ 0 h 3141376"/>
              <a:gd name="connsiteX1" fmla="*/ 3141376 w 3141376"/>
              <a:gd name="connsiteY1" fmla="*/ 1570688 h 3141376"/>
              <a:gd name="connsiteX2" fmla="*/ 1570688 w 3141376"/>
              <a:gd name="connsiteY2" fmla="*/ 3141376 h 3141376"/>
              <a:gd name="connsiteX3" fmla="*/ 0 w 3141376"/>
              <a:gd name="connsiteY3" fmla="*/ 1570688 h 3141376"/>
              <a:gd name="connsiteX4" fmla="*/ 1570688 w 3141376"/>
              <a:gd name="connsiteY4" fmla="*/ 0 h 3141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1376" h="3141376">
                <a:moveTo>
                  <a:pt x="1570688" y="0"/>
                </a:moveTo>
                <a:cubicBezTo>
                  <a:pt x="2438155" y="0"/>
                  <a:pt x="3141376" y="703221"/>
                  <a:pt x="3141376" y="1570688"/>
                </a:cubicBezTo>
                <a:cubicBezTo>
                  <a:pt x="3141376" y="2438155"/>
                  <a:pt x="2438155" y="3141376"/>
                  <a:pt x="1570688" y="3141376"/>
                </a:cubicBezTo>
                <a:cubicBezTo>
                  <a:pt x="703221" y="3141376"/>
                  <a:pt x="0" y="2438155"/>
                  <a:pt x="0" y="1570688"/>
                </a:cubicBezTo>
                <a:cubicBezTo>
                  <a:pt x="0" y="703221"/>
                  <a:pt x="703221" y="0"/>
                  <a:pt x="1570688" y="0"/>
                </a:cubicBezTo>
                <a:close/>
              </a:path>
            </a:pathLst>
          </a:custGeom>
          <a:solidFill>
            <a:schemeClr val="bg2"/>
          </a:solidFill>
        </p:spPr>
        <p:txBody>
          <a:bodyPr wrap="square" anchor="ctr">
            <a:noAutofit/>
          </a:bodyPr>
          <a:lstStyle>
            <a:lvl1pPr algn="ctr">
              <a:defRPr sz="1600"/>
            </a:lvl1pPr>
          </a:lstStyle>
          <a:p>
            <a:r>
              <a:rPr lang="en-US"/>
              <a:t>Insert Headshot</a:t>
            </a:r>
          </a:p>
        </p:txBody>
      </p:sp>
      <p:sp>
        <p:nvSpPr>
          <p:cNvPr id="45" name="Text Placeholder 3">
            <a:extLst>
              <a:ext uri="{FF2B5EF4-FFF2-40B4-BE49-F238E27FC236}">
                <a16:creationId xmlns:a16="http://schemas.microsoft.com/office/drawing/2014/main" id="{0A424ECA-115F-E23D-270D-9B961F2153D7}"/>
              </a:ext>
            </a:extLst>
          </p:cNvPr>
          <p:cNvSpPr>
            <a:spLocks noGrp="1"/>
          </p:cNvSpPr>
          <p:nvPr>
            <p:ph type="body" sz="quarter" idx="15" hasCustomPrompt="1"/>
          </p:nvPr>
        </p:nvSpPr>
        <p:spPr>
          <a:xfrm>
            <a:off x="8647369" y="4629163"/>
            <a:ext cx="3169922" cy="494204"/>
          </a:xfrm>
          <a:prstGeom prst="rect">
            <a:avLst/>
          </a:prstGeom>
        </p:spPr>
        <p:txBody>
          <a:bodyPr/>
          <a:lstStyle>
            <a:lvl1pPr marL="0" indent="0" algn="ctr">
              <a:buClr>
                <a:schemeClr val="accent3"/>
              </a:buClr>
              <a:buFont typeface="Arial" panose="020B0604020202020204" pitchFamily="34" charset="0"/>
              <a:buNone/>
              <a:defRPr sz="16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Title</a:t>
            </a:r>
          </a:p>
        </p:txBody>
      </p:sp>
    </p:spTree>
    <p:extLst>
      <p:ext uri="{BB962C8B-B14F-4D97-AF65-F5344CB8AC3E}">
        <p14:creationId xmlns:p14="http://schemas.microsoft.com/office/powerpoint/2010/main" val="2333582684"/>
      </p:ext>
    </p:extLst>
  </p:cSld>
  <p:clrMapOvr>
    <a:masterClrMapping/>
  </p:clrMapOvr>
  <p:extLst>
    <p:ext uri="{DCECCB84-F9BA-43D5-87BE-67443E8EF086}">
      <p15:sldGuideLst xmlns:p15="http://schemas.microsoft.com/office/powerpoint/2012/main">
        <p15:guide id="1" orient="horz" pos="216">
          <p15:clr>
            <a:srgbClr val="FBAE40"/>
          </p15:clr>
        </p15:guide>
        <p15:guide id="2" pos="264">
          <p15:clr>
            <a:srgbClr val="FBAE40"/>
          </p15:clr>
        </p15:guide>
        <p15:guide id="3" orient="horz" pos="3696">
          <p15:clr>
            <a:srgbClr val="FBAE40"/>
          </p15:clr>
        </p15:guide>
        <p15:guide id="4" pos="6936">
          <p15:clr>
            <a:srgbClr val="FBAE40"/>
          </p15:clr>
        </p15:guide>
        <p15:guide id="5" pos="73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Acknowledgements - light">
    <p:spTree>
      <p:nvGrpSpPr>
        <p:cNvPr id="1" name=""/>
        <p:cNvGrpSpPr/>
        <p:nvPr/>
      </p:nvGrpSpPr>
      <p:grpSpPr>
        <a:xfrm>
          <a:off x="0" y="0"/>
          <a:ext cx="0" cy="0"/>
          <a:chOff x="0" y="0"/>
          <a:chExt cx="0" cy="0"/>
        </a:xfrm>
      </p:grpSpPr>
      <p:sp>
        <p:nvSpPr>
          <p:cNvPr id="8" name="Text Placeholder 7"/>
          <p:cNvSpPr>
            <a:spLocks noGrp="1"/>
          </p:cNvSpPr>
          <p:nvPr>
            <p:ph type="body" sz="quarter" idx="11" hasCustomPrompt="1"/>
          </p:nvPr>
        </p:nvSpPr>
        <p:spPr>
          <a:xfrm>
            <a:off x="426722" y="2004851"/>
            <a:ext cx="2682207" cy="420308"/>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7" name="Text Placeholder 7">
            <a:extLst>
              <a:ext uri="{FF2B5EF4-FFF2-40B4-BE49-F238E27FC236}">
                <a16:creationId xmlns:a16="http://schemas.microsoft.com/office/drawing/2014/main" id="{3EA5A18F-B4F6-7A58-7B8A-0DF3AED3E4A4}"/>
              </a:ext>
            </a:extLst>
          </p:cNvPr>
          <p:cNvSpPr>
            <a:spLocks noGrp="1"/>
          </p:cNvSpPr>
          <p:nvPr>
            <p:ph type="body" sz="quarter" idx="17" hasCustomPrompt="1"/>
          </p:nvPr>
        </p:nvSpPr>
        <p:spPr>
          <a:xfrm>
            <a:off x="3312172" y="2004852"/>
            <a:ext cx="2682207" cy="420300"/>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9" name="Text Placeholder 7">
            <a:extLst>
              <a:ext uri="{FF2B5EF4-FFF2-40B4-BE49-F238E27FC236}">
                <a16:creationId xmlns:a16="http://schemas.microsoft.com/office/drawing/2014/main" id="{004A4F03-377D-EA31-A279-79CA405A975C}"/>
              </a:ext>
            </a:extLst>
          </p:cNvPr>
          <p:cNvSpPr>
            <a:spLocks noGrp="1"/>
          </p:cNvSpPr>
          <p:nvPr>
            <p:ph type="body" sz="quarter" idx="18" hasCustomPrompt="1"/>
          </p:nvPr>
        </p:nvSpPr>
        <p:spPr>
          <a:xfrm>
            <a:off x="6197622" y="2004852"/>
            <a:ext cx="2682207" cy="420296"/>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10" name="Text Placeholder 7">
            <a:extLst>
              <a:ext uri="{FF2B5EF4-FFF2-40B4-BE49-F238E27FC236}">
                <a16:creationId xmlns:a16="http://schemas.microsoft.com/office/drawing/2014/main" id="{EB0E9297-CD85-8E60-84ED-BCE1E1F3F3E2}"/>
              </a:ext>
            </a:extLst>
          </p:cNvPr>
          <p:cNvSpPr>
            <a:spLocks noGrp="1"/>
          </p:cNvSpPr>
          <p:nvPr>
            <p:ph type="body" sz="quarter" idx="19" hasCustomPrompt="1"/>
          </p:nvPr>
        </p:nvSpPr>
        <p:spPr>
          <a:xfrm>
            <a:off x="9083071" y="2004851"/>
            <a:ext cx="2682207" cy="420289"/>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15" name="Title 1">
            <a:extLst>
              <a:ext uri="{FF2B5EF4-FFF2-40B4-BE49-F238E27FC236}">
                <a16:creationId xmlns:a16="http://schemas.microsoft.com/office/drawing/2014/main" id="{50855269-269E-C365-8FFF-68BD62FC2A1B}"/>
              </a:ext>
            </a:extLst>
          </p:cNvPr>
          <p:cNvSpPr>
            <a:spLocks noGrp="1"/>
          </p:cNvSpPr>
          <p:nvPr>
            <p:ph type="title" hasCustomPrompt="1"/>
          </p:nvPr>
        </p:nvSpPr>
        <p:spPr>
          <a:xfrm>
            <a:off x="426720" y="365126"/>
            <a:ext cx="5513710" cy="1017108"/>
          </a:xfrm>
        </p:spPr>
        <p:txBody>
          <a:bodyPr anchor="t"/>
          <a:lstStyle>
            <a:lvl1pPr>
              <a:defRPr>
                <a:solidFill>
                  <a:schemeClr val="accent5"/>
                </a:solidFill>
              </a:defRPr>
            </a:lvl1pPr>
          </a:lstStyle>
          <a:p>
            <a:r>
              <a:rPr lang="en-US"/>
              <a:t>Headline</a:t>
            </a:r>
          </a:p>
        </p:txBody>
      </p:sp>
      <p:pic>
        <p:nvPicPr>
          <p:cNvPr id="17" name="Graphic 16" descr="NCBI Logo (NIH National Library of Medicine National Center for Biotechnology information Logo)">
            <a:extLst>
              <a:ext uri="{FF2B5EF4-FFF2-40B4-BE49-F238E27FC236}">
                <a16:creationId xmlns:a16="http://schemas.microsoft.com/office/drawing/2014/main" id="{BD8255F4-9318-F636-EE6B-6F66FD1E0C8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26721" y="6257856"/>
            <a:ext cx="2333258" cy="277551"/>
          </a:xfrm>
          <a:prstGeom prst="rect">
            <a:avLst/>
          </a:prstGeom>
        </p:spPr>
      </p:pic>
      <p:pic>
        <p:nvPicPr>
          <p:cNvPr id="18" name="Graphic 17">
            <a:extLst>
              <a:ext uri="{FF2B5EF4-FFF2-40B4-BE49-F238E27FC236}">
                <a16:creationId xmlns:a16="http://schemas.microsoft.com/office/drawing/2014/main" id="{1CE75B8A-B9AF-56D4-C647-F34BB09803E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16200000">
            <a:off x="11138019" y="5944720"/>
            <a:ext cx="303547" cy="877826"/>
          </a:xfrm>
          <a:prstGeom prst="rect">
            <a:avLst/>
          </a:prstGeom>
        </p:spPr>
      </p:pic>
      <p:cxnSp>
        <p:nvCxnSpPr>
          <p:cNvPr id="19" name="Straight Connector 18">
            <a:extLst>
              <a:ext uri="{FF2B5EF4-FFF2-40B4-BE49-F238E27FC236}">
                <a16:creationId xmlns:a16="http://schemas.microsoft.com/office/drawing/2014/main" id="{16715067-F616-7D4C-3384-B3D5C0A2132E}"/>
              </a:ext>
              <a:ext uri="{C183D7F6-B498-43B3-948B-1728B52AA6E4}">
                <adec:decorative xmlns:adec="http://schemas.microsoft.com/office/drawing/2017/decorative" val="1"/>
              </a:ext>
            </a:extLst>
          </p:cNvPr>
          <p:cNvCxnSpPr/>
          <p:nvPr userDrawn="1"/>
        </p:nvCxnSpPr>
        <p:spPr>
          <a:xfrm>
            <a:off x="426720" y="6123963"/>
            <a:ext cx="1130198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20" name="Text Placeholder 5">
            <a:extLst>
              <a:ext uri="{FF2B5EF4-FFF2-40B4-BE49-F238E27FC236}">
                <a16:creationId xmlns:a16="http://schemas.microsoft.com/office/drawing/2014/main" id="{9B569A67-58CE-931A-17BF-9F3646A4C2DF}"/>
              </a:ext>
            </a:extLst>
          </p:cNvPr>
          <p:cNvSpPr>
            <a:spLocks noGrp="1"/>
          </p:cNvSpPr>
          <p:nvPr>
            <p:ph type="body" sz="quarter" idx="16" hasCustomPrompt="1"/>
          </p:nvPr>
        </p:nvSpPr>
        <p:spPr>
          <a:xfrm>
            <a:off x="6283376" y="365195"/>
            <a:ext cx="5481903" cy="1017039"/>
          </a:xfrm>
          <a:prstGeom prst="rect">
            <a:avLst/>
          </a:prstGeom>
        </p:spPr>
        <p:txBody>
          <a:bodyPr anchor="ctr">
            <a:noAutofit/>
          </a:bodyPr>
          <a:lstStyle>
            <a:lvl1pPr marL="0" indent="0">
              <a:lnSpc>
                <a:spcPct val="100000"/>
              </a:lnSpc>
              <a:buNone/>
              <a:defRPr sz="2000">
                <a:solidFill>
                  <a:schemeClr val="accent1"/>
                </a:solidFill>
              </a:defRPr>
            </a:lvl1pPr>
          </a:lstStyle>
          <a:p>
            <a:pPr lvl="0"/>
            <a:r>
              <a:rPr lang="en-US"/>
              <a:t>This research was supported by the Intramural Research Program of the NIH, National Library of Medicine.</a:t>
            </a:r>
          </a:p>
        </p:txBody>
      </p:sp>
      <p:pic>
        <p:nvPicPr>
          <p:cNvPr id="2" name="Graphic 1">
            <a:extLst>
              <a:ext uri="{FF2B5EF4-FFF2-40B4-BE49-F238E27FC236}">
                <a16:creationId xmlns:a16="http://schemas.microsoft.com/office/drawing/2014/main" id="{4B1D9A10-CD33-63B9-08C9-0837536A5429}"/>
              </a:ext>
            </a:extLst>
          </p:cNvPr>
          <p:cNvPicPr>
            <a:picLocks/>
          </p:cNvPicPr>
          <p:nvPr userDrawn="1"/>
        </p:nvPicPr>
        <p:blipFill>
          <a:blip>
            <a:extLst>
              <a:ext uri="{96DAC541-7B7A-43D3-8B79-37D633B846F1}">
                <asvg:svgBlip xmlns:asvg="http://schemas.microsoft.com/office/drawing/2016/SVG/main" r:embed="rId4"/>
              </a:ext>
            </a:extLst>
          </a:blip>
          <a:srcRect/>
          <a:stretch/>
        </p:blipFill>
        <p:spPr>
          <a:xfrm>
            <a:off x="0" y="6746581"/>
            <a:ext cx="12192000" cy="109728"/>
          </a:xfrm>
          <a:prstGeom prst="rect">
            <a:avLst/>
          </a:prstGeom>
        </p:spPr>
      </p:pic>
      <p:cxnSp>
        <p:nvCxnSpPr>
          <p:cNvPr id="4" name="Straight Connector 3">
            <a:extLst>
              <a:ext uri="{FF2B5EF4-FFF2-40B4-BE49-F238E27FC236}">
                <a16:creationId xmlns:a16="http://schemas.microsoft.com/office/drawing/2014/main" id="{29C8390E-78B4-C871-D0B5-8CC48CB63FC7}"/>
              </a:ext>
              <a:ext uri="{C183D7F6-B498-43B3-948B-1728B52AA6E4}">
                <adec:decorative xmlns:adec="http://schemas.microsoft.com/office/drawing/2017/decorative" val="1"/>
              </a:ext>
            </a:extLst>
          </p:cNvPr>
          <p:cNvCxnSpPr>
            <a:cxnSpLocks/>
          </p:cNvCxnSpPr>
          <p:nvPr userDrawn="1"/>
        </p:nvCxnSpPr>
        <p:spPr>
          <a:xfrm flipH="1">
            <a:off x="426720" y="1929688"/>
            <a:ext cx="2682209"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C7637F4-2CD1-BD22-4254-469373E33709}"/>
              </a:ext>
              <a:ext uri="{C183D7F6-B498-43B3-948B-1728B52AA6E4}">
                <adec:decorative xmlns:adec="http://schemas.microsoft.com/office/drawing/2017/decorative" val="1"/>
              </a:ext>
            </a:extLst>
          </p:cNvPr>
          <p:cNvCxnSpPr>
            <a:cxnSpLocks/>
          </p:cNvCxnSpPr>
          <p:nvPr userDrawn="1"/>
        </p:nvCxnSpPr>
        <p:spPr>
          <a:xfrm flipH="1">
            <a:off x="3295816" y="1929688"/>
            <a:ext cx="2682209"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F8A5649-581E-CE2A-5A77-129D2C29A297}"/>
              </a:ext>
              <a:ext uri="{C183D7F6-B498-43B3-948B-1728B52AA6E4}">
                <adec:decorative xmlns:adec="http://schemas.microsoft.com/office/drawing/2017/decorative" val="1"/>
              </a:ext>
            </a:extLst>
          </p:cNvPr>
          <p:cNvCxnSpPr>
            <a:cxnSpLocks/>
          </p:cNvCxnSpPr>
          <p:nvPr userDrawn="1"/>
        </p:nvCxnSpPr>
        <p:spPr>
          <a:xfrm flipH="1">
            <a:off x="6184790" y="1929688"/>
            <a:ext cx="2682209"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B67580C-B3D5-84C1-1B7F-7FA4C025E4E8}"/>
              </a:ext>
              <a:ext uri="{C183D7F6-B498-43B3-948B-1728B52AA6E4}">
                <adec:decorative xmlns:adec="http://schemas.microsoft.com/office/drawing/2017/decorative" val="1"/>
              </a:ext>
            </a:extLst>
          </p:cNvPr>
          <p:cNvCxnSpPr>
            <a:cxnSpLocks/>
          </p:cNvCxnSpPr>
          <p:nvPr userDrawn="1"/>
        </p:nvCxnSpPr>
        <p:spPr>
          <a:xfrm flipH="1">
            <a:off x="9067138" y="1929688"/>
            <a:ext cx="2682209"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C0E7C7F-964F-996B-DDD4-3221E6042858}"/>
              </a:ext>
              <a:ext uri="{C183D7F6-B498-43B3-948B-1728B52AA6E4}">
                <adec:decorative xmlns:adec="http://schemas.microsoft.com/office/drawing/2017/decorative" val="1"/>
              </a:ext>
            </a:extLst>
          </p:cNvPr>
          <p:cNvCxnSpPr>
            <a:cxnSpLocks/>
          </p:cNvCxnSpPr>
          <p:nvPr userDrawn="1"/>
        </p:nvCxnSpPr>
        <p:spPr>
          <a:xfrm flipV="1">
            <a:off x="6111903" y="365126"/>
            <a:ext cx="0" cy="1017108"/>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Text Placeholder 7">
            <a:extLst>
              <a:ext uri="{FF2B5EF4-FFF2-40B4-BE49-F238E27FC236}">
                <a16:creationId xmlns:a16="http://schemas.microsoft.com/office/drawing/2014/main" id="{FDC96597-7132-F127-BF5F-E7359E1641DB}"/>
              </a:ext>
            </a:extLst>
          </p:cNvPr>
          <p:cNvSpPr>
            <a:spLocks noGrp="1"/>
          </p:cNvSpPr>
          <p:nvPr>
            <p:ph type="body" sz="quarter" idx="20" hasCustomPrompt="1"/>
          </p:nvPr>
        </p:nvSpPr>
        <p:spPr>
          <a:xfrm>
            <a:off x="426722" y="2501808"/>
            <a:ext cx="2682207" cy="420308"/>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28" name="Text Placeholder 7">
            <a:extLst>
              <a:ext uri="{FF2B5EF4-FFF2-40B4-BE49-F238E27FC236}">
                <a16:creationId xmlns:a16="http://schemas.microsoft.com/office/drawing/2014/main" id="{848EB98F-E93D-70C7-01CC-B1FA54A4EEE5}"/>
              </a:ext>
            </a:extLst>
          </p:cNvPr>
          <p:cNvSpPr>
            <a:spLocks noGrp="1"/>
          </p:cNvSpPr>
          <p:nvPr>
            <p:ph type="body" sz="quarter" idx="21" hasCustomPrompt="1"/>
          </p:nvPr>
        </p:nvSpPr>
        <p:spPr>
          <a:xfrm>
            <a:off x="3312172" y="2501809"/>
            <a:ext cx="2682207" cy="420300"/>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29" name="Text Placeholder 7">
            <a:extLst>
              <a:ext uri="{FF2B5EF4-FFF2-40B4-BE49-F238E27FC236}">
                <a16:creationId xmlns:a16="http://schemas.microsoft.com/office/drawing/2014/main" id="{9C6D97E6-9ECF-10B0-B326-FB1CECD0575C}"/>
              </a:ext>
            </a:extLst>
          </p:cNvPr>
          <p:cNvSpPr>
            <a:spLocks noGrp="1"/>
          </p:cNvSpPr>
          <p:nvPr>
            <p:ph type="body" sz="quarter" idx="22" hasCustomPrompt="1"/>
          </p:nvPr>
        </p:nvSpPr>
        <p:spPr>
          <a:xfrm>
            <a:off x="6197622" y="2501809"/>
            <a:ext cx="2682207" cy="420296"/>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0" name="Text Placeholder 7">
            <a:extLst>
              <a:ext uri="{FF2B5EF4-FFF2-40B4-BE49-F238E27FC236}">
                <a16:creationId xmlns:a16="http://schemas.microsoft.com/office/drawing/2014/main" id="{9966DFA8-18B2-5C07-FBA1-4B9DA840BA1A}"/>
              </a:ext>
            </a:extLst>
          </p:cNvPr>
          <p:cNvSpPr>
            <a:spLocks noGrp="1"/>
          </p:cNvSpPr>
          <p:nvPr>
            <p:ph type="body" sz="quarter" idx="23" hasCustomPrompt="1"/>
          </p:nvPr>
        </p:nvSpPr>
        <p:spPr>
          <a:xfrm>
            <a:off x="9083071" y="2501808"/>
            <a:ext cx="2682207" cy="420289"/>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1" name="Text Placeholder 7">
            <a:extLst>
              <a:ext uri="{FF2B5EF4-FFF2-40B4-BE49-F238E27FC236}">
                <a16:creationId xmlns:a16="http://schemas.microsoft.com/office/drawing/2014/main" id="{8B697692-05D4-3420-9B34-A31E80016BAF}"/>
              </a:ext>
            </a:extLst>
          </p:cNvPr>
          <p:cNvSpPr>
            <a:spLocks noGrp="1"/>
          </p:cNvSpPr>
          <p:nvPr>
            <p:ph type="body" sz="quarter" idx="24" hasCustomPrompt="1"/>
          </p:nvPr>
        </p:nvSpPr>
        <p:spPr>
          <a:xfrm>
            <a:off x="426722" y="2998764"/>
            <a:ext cx="2682207" cy="420308"/>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2" name="Text Placeholder 7">
            <a:extLst>
              <a:ext uri="{FF2B5EF4-FFF2-40B4-BE49-F238E27FC236}">
                <a16:creationId xmlns:a16="http://schemas.microsoft.com/office/drawing/2014/main" id="{6A8FF00C-C95C-27DD-C658-7C3A864B0D87}"/>
              </a:ext>
            </a:extLst>
          </p:cNvPr>
          <p:cNvSpPr>
            <a:spLocks noGrp="1"/>
          </p:cNvSpPr>
          <p:nvPr>
            <p:ph type="body" sz="quarter" idx="25" hasCustomPrompt="1"/>
          </p:nvPr>
        </p:nvSpPr>
        <p:spPr>
          <a:xfrm>
            <a:off x="3312172" y="2998765"/>
            <a:ext cx="2682207" cy="420300"/>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3" name="Text Placeholder 7">
            <a:extLst>
              <a:ext uri="{FF2B5EF4-FFF2-40B4-BE49-F238E27FC236}">
                <a16:creationId xmlns:a16="http://schemas.microsoft.com/office/drawing/2014/main" id="{3678510A-0452-22FE-841A-228DA0883BCF}"/>
              </a:ext>
            </a:extLst>
          </p:cNvPr>
          <p:cNvSpPr>
            <a:spLocks noGrp="1"/>
          </p:cNvSpPr>
          <p:nvPr>
            <p:ph type="body" sz="quarter" idx="26" hasCustomPrompt="1"/>
          </p:nvPr>
        </p:nvSpPr>
        <p:spPr>
          <a:xfrm>
            <a:off x="6197622" y="2998765"/>
            <a:ext cx="2682207" cy="420296"/>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4" name="Text Placeholder 7">
            <a:extLst>
              <a:ext uri="{FF2B5EF4-FFF2-40B4-BE49-F238E27FC236}">
                <a16:creationId xmlns:a16="http://schemas.microsoft.com/office/drawing/2014/main" id="{1D8B2479-BCD0-D03E-F66F-004D1793FFAF}"/>
              </a:ext>
            </a:extLst>
          </p:cNvPr>
          <p:cNvSpPr>
            <a:spLocks noGrp="1"/>
          </p:cNvSpPr>
          <p:nvPr>
            <p:ph type="body" sz="quarter" idx="27" hasCustomPrompt="1"/>
          </p:nvPr>
        </p:nvSpPr>
        <p:spPr>
          <a:xfrm>
            <a:off x="9083071" y="2998764"/>
            <a:ext cx="2682207" cy="420289"/>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5" name="Text Placeholder 7">
            <a:extLst>
              <a:ext uri="{FF2B5EF4-FFF2-40B4-BE49-F238E27FC236}">
                <a16:creationId xmlns:a16="http://schemas.microsoft.com/office/drawing/2014/main" id="{C7FB240F-23C3-CF13-09DC-4D1A6D299EFE}"/>
              </a:ext>
            </a:extLst>
          </p:cNvPr>
          <p:cNvSpPr>
            <a:spLocks noGrp="1"/>
          </p:cNvSpPr>
          <p:nvPr>
            <p:ph type="body" sz="quarter" idx="28" hasCustomPrompt="1"/>
          </p:nvPr>
        </p:nvSpPr>
        <p:spPr>
          <a:xfrm>
            <a:off x="426722" y="3502347"/>
            <a:ext cx="2682207" cy="420308"/>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6" name="Text Placeholder 7">
            <a:extLst>
              <a:ext uri="{FF2B5EF4-FFF2-40B4-BE49-F238E27FC236}">
                <a16:creationId xmlns:a16="http://schemas.microsoft.com/office/drawing/2014/main" id="{902D1EFB-55C9-C80E-DDE3-818DE3141D45}"/>
              </a:ext>
            </a:extLst>
          </p:cNvPr>
          <p:cNvSpPr>
            <a:spLocks noGrp="1"/>
          </p:cNvSpPr>
          <p:nvPr>
            <p:ph type="body" sz="quarter" idx="29" hasCustomPrompt="1"/>
          </p:nvPr>
        </p:nvSpPr>
        <p:spPr>
          <a:xfrm>
            <a:off x="3312172" y="3502348"/>
            <a:ext cx="2682207" cy="420300"/>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7" name="Text Placeholder 7">
            <a:extLst>
              <a:ext uri="{FF2B5EF4-FFF2-40B4-BE49-F238E27FC236}">
                <a16:creationId xmlns:a16="http://schemas.microsoft.com/office/drawing/2014/main" id="{276B1096-76A0-DF4D-8EC1-C7838BEB2D3C}"/>
              </a:ext>
            </a:extLst>
          </p:cNvPr>
          <p:cNvSpPr>
            <a:spLocks noGrp="1"/>
          </p:cNvSpPr>
          <p:nvPr>
            <p:ph type="body" sz="quarter" idx="30" hasCustomPrompt="1"/>
          </p:nvPr>
        </p:nvSpPr>
        <p:spPr>
          <a:xfrm>
            <a:off x="6197622" y="3502348"/>
            <a:ext cx="2682207" cy="420296"/>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8" name="Text Placeholder 7">
            <a:extLst>
              <a:ext uri="{FF2B5EF4-FFF2-40B4-BE49-F238E27FC236}">
                <a16:creationId xmlns:a16="http://schemas.microsoft.com/office/drawing/2014/main" id="{1561E42B-6B9D-D59C-80FD-F785DF01E4C3}"/>
              </a:ext>
            </a:extLst>
          </p:cNvPr>
          <p:cNvSpPr>
            <a:spLocks noGrp="1"/>
          </p:cNvSpPr>
          <p:nvPr>
            <p:ph type="body" sz="quarter" idx="31" hasCustomPrompt="1"/>
          </p:nvPr>
        </p:nvSpPr>
        <p:spPr>
          <a:xfrm>
            <a:off x="9083071" y="3502347"/>
            <a:ext cx="2682207" cy="420289"/>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9" name="Text Placeholder 7">
            <a:extLst>
              <a:ext uri="{FF2B5EF4-FFF2-40B4-BE49-F238E27FC236}">
                <a16:creationId xmlns:a16="http://schemas.microsoft.com/office/drawing/2014/main" id="{E6A5224B-5734-8647-E0F7-5DA1B8CB8727}"/>
              </a:ext>
            </a:extLst>
          </p:cNvPr>
          <p:cNvSpPr>
            <a:spLocks noGrp="1"/>
          </p:cNvSpPr>
          <p:nvPr>
            <p:ph type="body" sz="quarter" idx="32" hasCustomPrompt="1"/>
          </p:nvPr>
        </p:nvSpPr>
        <p:spPr>
          <a:xfrm>
            <a:off x="426722" y="4005930"/>
            <a:ext cx="2682207" cy="420308"/>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0" name="Text Placeholder 7">
            <a:extLst>
              <a:ext uri="{FF2B5EF4-FFF2-40B4-BE49-F238E27FC236}">
                <a16:creationId xmlns:a16="http://schemas.microsoft.com/office/drawing/2014/main" id="{1F12970B-1355-2E6B-E65D-83E2789A3BCF}"/>
              </a:ext>
            </a:extLst>
          </p:cNvPr>
          <p:cNvSpPr>
            <a:spLocks noGrp="1"/>
          </p:cNvSpPr>
          <p:nvPr>
            <p:ph type="body" sz="quarter" idx="33" hasCustomPrompt="1"/>
          </p:nvPr>
        </p:nvSpPr>
        <p:spPr>
          <a:xfrm>
            <a:off x="3312172" y="4005931"/>
            <a:ext cx="2682207" cy="420300"/>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1" name="Text Placeholder 7">
            <a:extLst>
              <a:ext uri="{FF2B5EF4-FFF2-40B4-BE49-F238E27FC236}">
                <a16:creationId xmlns:a16="http://schemas.microsoft.com/office/drawing/2014/main" id="{026B318F-836E-B4C7-CD1F-9724D6608F71}"/>
              </a:ext>
            </a:extLst>
          </p:cNvPr>
          <p:cNvSpPr>
            <a:spLocks noGrp="1"/>
          </p:cNvSpPr>
          <p:nvPr>
            <p:ph type="body" sz="quarter" idx="34" hasCustomPrompt="1"/>
          </p:nvPr>
        </p:nvSpPr>
        <p:spPr>
          <a:xfrm>
            <a:off x="6197622" y="4005931"/>
            <a:ext cx="2682207" cy="420296"/>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2" name="Text Placeholder 7">
            <a:extLst>
              <a:ext uri="{FF2B5EF4-FFF2-40B4-BE49-F238E27FC236}">
                <a16:creationId xmlns:a16="http://schemas.microsoft.com/office/drawing/2014/main" id="{336A4646-574D-9944-BB7B-D9DEA0248B93}"/>
              </a:ext>
            </a:extLst>
          </p:cNvPr>
          <p:cNvSpPr>
            <a:spLocks noGrp="1"/>
          </p:cNvSpPr>
          <p:nvPr>
            <p:ph type="body" sz="quarter" idx="35" hasCustomPrompt="1"/>
          </p:nvPr>
        </p:nvSpPr>
        <p:spPr>
          <a:xfrm>
            <a:off x="9083071" y="4005930"/>
            <a:ext cx="2682207" cy="420289"/>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3" name="Text Placeholder 7">
            <a:extLst>
              <a:ext uri="{FF2B5EF4-FFF2-40B4-BE49-F238E27FC236}">
                <a16:creationId xmlns:a16="http://schemas.microsoft.com/office/drawing/2014/main" id="{F5C7786A-06AF-2A71-32C3-4CB5D4D21607}"/>
              </a:ext>
            </a:extLst>
          </p:cNvPr>
          <p:cNvSpPr>
            <a:spLocks noGrp="1"/>
          </p:cNvSpPr>
          <p:nvPr>
            <p:ph type="body" sz="quarter" idx="36" hasCustomPrompt="1"/>
          </p:nvPr>
        </p:nvSpPr>
        <p:spPr>
          <a:xfrm>
            <a:off x="426722" y="4502887"/>
            <a:ext cx="2682207" cy="420308"/>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4" name="Text Placeholder 7">
            <a:extLst>
              <a:ext uri="{FF2B5EF4-FFF2-40B4-BE49-F238E27FC236}">
                <a16:creationId xmlns:a16="http://schemas.microsoft.com/office/drawing/2014/main" id="{0CD909F0-E7D0-FA0F-700C-39BCF2817B1E}"/>
              </a:ext>
            </a:extLst>
          </p:cNvPr>
          <p:cNvSpPr>
            <a:spLocks noGrp="1"/>
          </p:cNvSpPr>
          <p:nvPr>
            <p:ph type="body" sz="quarter" idx="37" hasCustomPrompt="1"/>
          </p:nvPr>
        </p:nvSpPr>
        <p:spPr>
          <a:xfrm>
            <a:off x="3312172" y="4502888"/>
            <a:ext cx="2682207" cy="420300"/>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5" name="Text Placeholder 7">
            <a:extLst>
              <a:ext uri="{FF2B5EF4-FFF2-40B4-BE49-F238E27FC236}">
                <a16:creationId xmlns:a16="http://schemas.microsoft.com/office/drawing/2014/main" id="{A17786FC-4B35-946C-E12C-2872CFD76DAD}"/>
              </a:ext>
            </a:extLst>
          </p:cNvPr>
          <p:cNvSpPr>
            <a:spLocks noGrp="1"/>
          </p:cNvSpPr>
          <p:nvPr>
            <p:ph type="body" sz="quarter" idx="38" hasCustomPrompt="1"/>
          </p:nvPr>
        </p:nvSpPr>
        <p:spPr>
          <a:xfrm>
            <a:off x="6197622" y="4502888"/>
            <a:ext cx="2682207" cy="420296"/>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6" name="Text Placeholder 7">
            <a:extLst>
              <a:ext uri="{FF2B5EF4-FFF2-40B4-BE49-F238E27FC236}">
                <a16:creationId xmlns:a16="http://schemas.microsoft.com/office/drawing/2014/main" id="{C0440156-864C-AF80-BBAF-30FDA4D3492E}"/>
              </a:ext>
            </a:extLst>
          </p:cNvPr>
          <p:cNvSpPr>
            <a:spLocks noGrp="1"/>
          </p:cNvSpPr>
          <p:nvPr>
            <p:ph type="body" sz="quarter" idx="39" hasCustomPrompt="1"/>
          </p:nvPr>
        </p:nvSpPr>
        <p:spPr>
          <a:xfrm>
            <a:off x="9083071" y="4502887"/>
            <a:ext cx="2682207" cy="420289"/>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7" name="Text Placeholder 7">
            <a:extLst>
              <a:ext uri="{FF2B5EF4-FFF2-40B4-BE49-F238E27FC236}">
                <a16:creationId xmlns:a16="http://schemas.microsoft.com/office/drawing/2014/main" id="{16FCE203-C9DB-5FE6-320B-A7551E14D956}"/>
              </a:ext>
            </a:extLst>
          </p:cNvPr>
          <p:cNvSpPr>
            <a:spLocks noGrp="1"/>
          </p:cNvSpPr>
          <p:nvPr>
            <p:ph type="body" sz="quarter" idx="40" hasCustomPrompt="1"/>
          </p:nvPr>
        </p:nvSpPr>
        <p:spPr>
          <a:xfrm>
            <a:off x="426722" y="5006469"/>
            <a:ext cx="2682207" cy="420308"/>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8" name="Text Placeholder 7">
            <a:extLst>
              <a:ext uri="{FF2B5EF4-FFF2-40B4-BE49-F238E27FC236}">
                <a16:creationId xmlns:a16="http://schemas.microsoft.com/office/drawing/2014/main" id="{FBAF6309-16D1-EDCB-5965-3BB9242F753A}"/>
              </a:ext>
            </a:extLst>
          </p:cNvPr>
          <p:cNvSpPr>
            <a:spLocks noGrp="1"/>
          </p:cNvSpPr>
          <p:nvPr>
            <p:ph type="body" sz="quarter" idx="41" hasCustomPrompt="1"/>
          </p:nvPr>
        </p:nvSpPr>
        <p:spPr>
          <a:xfrm>
            <a:off x="3312172" y="5006470"/>
            <a:ext cx="2682207" cy="420300"/>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9" name="Text Placeholder 7">
            <a:extLst>
              <a:ext uri="{FF2B5EF4-FFF2-40B4-BE49-F238E27FC236}">
                <a16:creationId xmlns:a16="http://schemas.microsoft.com/office/drawing/2014/main" id="{757E977F-79E6-3D6A-AA9A-1CB72A909843}"/>
              </a:ext>
            </a:extLst>
          </p:cNvPr>
          <p:cNvSpPr>
            <a:spLocks noGrp="1"/>
          </p:cNvSpPr>
          <p:nvPr>
            <p:ph type="body" sz="quarter" idx="42" hasCustomPrompt="1"/>
          </p:nvPr>
        </p:nvSpPr>
        <p:spPr>
          <a:xfrm>
            <a:off x="6197622" y="5006470"/>
            <a:ext cx="2682207" cy="420296"/>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50" name="Text Placeholder 7">
            <a:extLst>
              <a:ext uri="{FF2B5EF4-FFF2-40B4-BE49-F238E27FC236}">
                <a16:creationId xmlns:a16="http://schemas.microsoft.com/office/drawing/2014/main" id="{7042089B-EC38-D0CD-725F-0A65A897D766}"/>
              </a:ext>
            </a:extLst>
          </p:cNvPr>
          <p:cNvSpPr>
            <a:spLocks noGrp="1"/>
          </p:cNvSpPr>
          <p:nvPr>
            <p:ph type="body" sz="quarter" idx="43" hasCustomPrompt="1"/>
          </p:nvPr>
        </p:nvSpPr>
        <p:spPr>
          <a:xfrm>
            <a:off x="9083071" y="5006469"/>
            <a:ext cx="2682207" cy="420289"/>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51" name="Text Placeholder 7">
            <a:extLst>
              <a:ext uri="{FF2B5EF4-FFF2-40B4-BE49-F238E27FC236}">
                <a16:creationId xmlns:a16="http://schemas.microsoft.com/office/drawing/2014/main" id="{BFFE2A36-04E7-C57B-4862-3E55F06410D5}"/>
              </a:ext>
            </a:extLst>
          </p:cNvPr>
          <p:cNvSpPr>
            <a:spLocks noGrp="1"/>
          </p:cNvSpPr>
          <p:nvPr>
            <p:ph type="body" sz="quarter" idx="44" hasCustomPrompt="1"/>
          </p:nvPr>
        </p:nvSpPr>
        <p:spPr>
          <a:xfrm>
            <a:off x="426722" y="5510051"/>
            <a:ext cx="2682207" cy="420308"/>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52" name="Text Placeholder 7">
            <a:extLst>
              <a:ext uri="{FF2B5EF4-FFF2-40B4-BE49-F238E27FC236}">
                <a16:creationId xmlns:a16="http://schemas.microsoft.com/office/drawing/2014/main" id="{45E3A8CF-7348-C9AB-72C7-62A0C0AA9A5A}"/>
              </a:ext>
            </a:extLst>
          </p:cNvPr>
          <p:cNvSpPr>
            <a:spLocks noGrp="1"/>
          </p:cNvSpPr>
          <p:nvPr>
            <p:ph type="body" sz="quarter" idx="45" hasCustomPrompt="1"/>
          </p:nvPr>
        </p:nvSpPr>
        <p:spPr>
          <a:xfrm>
            <a:off x="3312172" y="5510052"/>
            <a:ext cx="2682207" cy="420300"/>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53" name="Text Placeholder 7">
            <a:extLst>
              <a:ext uri="{FF2B5EF4-FFF2-40B4-BE49-F238E27FC236}">
                <a16:creationId xmlns:a16="http://schemas.microsoft.com/office/drawing/2014/main" id="{0F7B8E3F-F073-A7F4-61F2-7DDF85C706FF}"/>
              </a:ext>
            </a:extLst>
          </p:cNvPr>
          <p:cNvSpPr>
            <a:spLocks noGrp="1"/>
          </p:cNvSpPr>
          <p:nvPr>
            <p:ph type="body" sz="quarter" idx="46" hasCustomPrompt="1"/>
          </p:nvPr>
        </p:nvSpPr>
        <p:spPr>
          <a:xfrm>
            <a:off x="6197622" y="5510052"/>
            <a:ext cx="2682207" cy="420296"/>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54" name="Text Placeholder 7">
            <a:extLst>
              <a:ext uri="{FF2B5EF4-FFF2-40B4-BE49-F238E27FC236}">
                <a16:creationId xmlns:a16="http://schemas.microsoft.com/office/drawing/2014/main" id="{543D65C9-244C-31CF-1816-0ADDE9EE2C3A}"/>
              </a:ext>
            </a:extLst>
          </p:cNvPr>
          <p:cNvSpPr>
            <a:spLocks noGrp="1"/>
          </p:cNvSpPr>
          <p:nvPr>
            <p:ph type="body" sz="quarter" idx="47" hasCustomPrompt="1"/>
          </p:nvPr>
        </p:nvSpPr>
        <p:spPr>
          <a:xfrm>
            <a:off x="9083071" y="5510051"/>
            <a:ext cx="2682207" cy="420289"/>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Tree>
    <p:extLst>
      <p:ext uri="{BB962C8B-B14F-4D97-AF65-F5344CB8AC3E}">
        <p14:creationId xmlns:p14="http://schemas.microsoft.com/office/powerpoint/2010/main" val="588253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Acknowledgements - dark">
    <p:bg>
      <p:bgPr>
        <a:solidFill>
          <a:srgbClr val="112E5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49551E1-2B60-1B3A-6490-862DCFE22157}"/>
              </a:ext>
            </a:extLst>
          </p:cNvPr>
          <p:cNvPicPr>
            <a:picLocks/>
          </p:cNvPicPr>
          <p:nvPr userDrawn="1"/>
        </p:nvPicPr>
        <p:blipFill>
          <a:blip>
            <a:extLst>
              <a:ext uri="{96DAC541-7B7A-43D3-8B79-37D633B846F1}">
                <asvg:svgBlip xmlns:asvg="http://schemas.microsoft.com/office/drawing/2016/SVG/main" r:embed="rId2"/>
              </a:ext>
            </a:extLst>
          </a:blip>
          <a:srcRect/>
          <a:stretch/>
        </p:blipFill>
        <p:spPr>
          <a:xfrm>
            <a:off x="0" y="6746581"/>
            <a:ext cx="12192000" cy="109728"/>
          </a:xfrm>
          <a:prstGeom prst="rect">
            <a:avLst/>
          </a:prstGeom>
        </p:spPr>
      </p:pic>
      <p:pic>
        <p:nvPicPr>
          <p:cNvPr id="3" name="Graphic 2">
            <a:extLst>
              <a:ext uri="{FF2B5EF4-FFF2-40B4-BE49-F238E27FC236}">
                <a16:creationId xmlns:a16="http://schemas.microsoft.com/office/drawing/2014/main" id="{C6DA7EB7-1085-4D51-B404-831285C2D30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5933" y="6084465"/>
            <a:ext cx="3433337" cy="408409"/>
          </a:xfrm>
          <a:prstGeom prst="rect">
            <a:avLst/>
          </a:prstGeom>
        </p:spPr>
      </p:pic>
      <p:sp>
        <p:nvSpPr>
          <p:cNvPr id="12" name="Text Placeholder 7">
            <a:extLst>
              <a:ext uri="{FF2B5EF4-FFF2-40B4-BE49-F238E27FC236}">
                <a16:creationId xmlns:a16="http://schemas.microsoft.com/office/drawing/2014/main" id="{06A66A67-8AA1-B29D-CB63-5BA7A96642AF}"/>
              </a:ext>
            </a:extLst>
          </p:cNvPr>
          <p:cNvSpPr>
            <a:spLocks noGrp="1"/>
          </p:cNvSpPr>
          <p:nvPr>
            <p:ph type="body" sz="quarter" idx="11" hasCustomPrompt="1"/>
          </p:nvPr>
        </p:nvSpPr>
        <p:spPr>
          <a:xfrm>
            <a:off x="426722" y="2004851"/>
            <a:ext cx="2682207" cy="420308"/>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13" name="Text Placeholder 7">
            <a:extLst>
              <a:ext uri="{FF2B5EF4-FFF2-40B4-BE49-F238E27FC236}">
                <a16:creationId xmlns:a16="http://schemas.microsoft.com/office/drawing/2014/main" id="{78BFD8E0-8AC9-D341-0EB4-D9BC4CFA91B4}"/>
              </a:ext>
            </a:extLst>
          </p:cNvPr>
          <p:cNvSpPr>
            <a:spLocks noGrp="1"/>
          </p:cNvSpPr>
          <p:nvPr>
            <p:ph type="body" sz="quarter" idx="17" hasCustomPrompt="1"/>
          </p:nvPr>
        </p:nvSpPr>
        <p:spPr>
          <a:xfrm>
            <a:off x="3312172" y="2004852"/>
            <a:ext cx="2682207" cy="420300"/>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14" name="Text Placeholder 7">
            <a:extLst>
              <a:ext uri="{FF2B5EF4-FFF2-40B4-BE49-F238E27FC236}">
                <a16:creationId xmlns:a16="http://schemas.microsoft.com/office/drawing/2014/main" id="{B78DAB82-4A89-8F55-4A57-31153C2D0B96}"/>
              </a:ext>
            </a:extLst>
          </p:cNvPr>
          <p:cNvSpPr>
            <a:spLocks noGrp="1"/>
          </p:cNvSpPr>
          <p:nvPr>
            <p:ph type="body" sz="quarter" idx="18" hasCustomPrompt="1"/>
          </p:nvPr>
        </p:nvSpPr>
        <p:spPr>
          <a:xfrm>
            <a:off x="6197622" y="2004852"/>
            <a:ext cx="2682207" cy="420296"/>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15" name="Text Placeholder 7">
            <a:extLst>
              <a:ext uri="{FF2B5EF4-FFF2-40B4-BE49-F238E27FC236}">
                <a16:creationId xmlns:a16="http://schemas.microsoft.com/office/drawing/2014/main" id="{46B3D5C8-5300-F151-7C17-58914A918A6B}"/>
              </a:ext>
            </a:extLst>
          </p:cNvPr>
          <p:cNvSpPr>
            <a:spLocks noGrp="1"/>
          </p:cNvSpPr>
          <p:nvPr>
            <p:ph type="body" sz="quarter" idx="19" hasCustomPrompt="1"/>
          </p:nvPr>
        </p:nvSpPr>
        <p:spPr>
          <a:xfrm>
            <a:off x="9083071" y="2004851"/>
            <a:ext cx="2682207" cy="420289"/>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16" name="Title 1">
            <a:extLst>
              <a:ext uri="{FF2B5EF4-FFF2-40B4-BE49-F238E27FC236}">
                <a16:creationId xmlns:a16="http://schemas.microsoft.com/office/drawing/2014/main" id="{3274ED7C-5EF7-AABE-7C28-9E139B442E19}"/>
              </a:ext>
            </a:extLst>
          </p:cNvPr>
          <p:cNvSpPr>
            <a:spLocks noGrp="1"/>
          </p:cNvSpPr>
          <p:nvPr>
            <p:ph type="title" hasCustomPrompt="1"/>
          </p:nvPr>
        </p:nvSpPr>
        <p:spPr>
          <a:xfrm>
            <a:off x="426720" y="365126"/>
            <a:ext cx="5513710" cy="1017108"/>
          </a:xfrm>
        </p:spPr>
        <p:txBody>
          <a:bodyPr anchor="t"/>
          <a:lstStyle>
            <a:lvl1pPr>
              <a:defRPr>
                <a:solidFill>
                  <a:schemeClr val="bg1"/>
                </a:solidFill>
              </a:defRPr>
            </a:lvl1pPr>
          </a:lstStyle>
          <a:p>
            <a:r>
              <a:rPr lang="en-US"/>
              <a:t>Headline</a:t>
            </a:r>
          </a:p>
        </p:txBody>
      </p:sp>
      <p:sp>
        <p:nvSpPr>
          <p:cNvPr id="17" name="Text Placeholder 5">
            <a:extLst>
              <a:ext uri="{FF2B5EF4-FFF2-40B4-BE49-F238E27FC236}">
                <a16:creationId xmlns:a16="http://schemas.microsoft.com/office/drawing/2014/main" id="{83BD6A4D-C5E3-5AC9-0766-76995C034D44}"/>
              </a:ext>
            </a:extLst>
          </p:cNvPr>
          <p:cNvSpPr>
            <a:spLocks noGrp="1"/>
          </p:cNvSpPr>
          <p:nvPr>
            <p:ph type="body" sz="quarter" idx="16" hasCustomPrompt="1"/>
          </p:nvPr>
        </p:nvSpPr>
        <p:spPr>
          <a:xfrm>
            <a:off x="6283376" y="365195"/>
            <a:ext cx="5481903" cy="1017039"/>
          </a:xfrm>
          <a:prstGeom prst="rect">
            <a:avLst/>
          </a:prstGeom>
        </p:spPr>
        <p:txBody>
          <a:bodyPr anchor="ctr">
            <a:noAutofit/>
          </a:bodyPr>
          <a:lstStyle>
            <a:lvl1pPr marL="0" indent="0">
              <a:lnSpc>
                <a:spcPct val="100000"/>
              </a:lnSpc>
              <a:buNone/>
              <a:defRPr sz="2000">
                <a:solidFill>
                  <a:schemeClr val="accent3">
                    <a:lumMod val="60000"/>
                    <a:lumOff val="40000"/>
                  </a:schemeClr>
                </a:solidFill>
              </a:defRPr>
            </a:lvl1pPr>
          </a:lstStyle>
          <a:p>
            <a:pPr lvl="0"/>
            <a:r>
              <a:rPr lang="en-US"/>
              <a:t>This research was supported by the Intramural Research Program of the NIH, National Library of Medicine.</a:t>
            </a:r>
          </a:p>
        </p:txBody>
      </p:sp>
      <p:cxnSp>
        <p:nvCxnSpPr>
          <p:cNvPr id="18" name="Straight Connector 17">
            <a:extLst>
              <a:ext uri="{FF2B5EF4-FFF2-40B4-BE49-F238E27FC236}">
                <a16:creationId xmlns:a16="http://schemas.microsoft.com/office/drawing/2014/main" id="{3655BACE-D303-C4BD-C718-BBD432438493}"/>
              </a:ext>
              <a:ext uri="{C183D7F6-B498-43B3-948B-1728B52AA6E4}">
                <adec:decorative xmlns:adec="http://schemas.microsoft.com/office/drawing/2017/decorative" val="1"/>
              </a:ext>
            </a:extLst>
          </p:cNvPr>
          <p:cNvCxnSpPr>
            <a:cxnSpLocks/>
          </p:cNvCxnSpPr>
          <p:nvPr userDrawn="1"/>
        </p:nvCxnSpPr>
        <p:spPr>
          <a:xfrm flipH="1">
            <a:off x="426720" y="1929688"/>
            <a:ext cx="2682209" cy="0"/>
          </a:xfrm>
          <a:prstGeom prst="line">
            <a:avLst/>
          </a:prstGeom>
          <a:ln w="952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5B420F-B57E-4E9C-F541-04613B14070D}"/>
              </a:ext>
              <a:ext uri="{C183D7F6-B498-43B3-948B-1728B52AA6E4}">
                <adec:decorative xmlns:adec="http://schemas.microsoft.com/office/drawing/2017/decorative" val="1"/>
              </a:ext>
            </a:extLst>
          </p:cNvPr>
          <p:cNvCxnSpPr>
            <a:cxnSpLocks/>
          </p:cNvCxnSpPr>
          <p:nvPr userDrawn="1"/>
        </p:nvCxnSpPr>
        <p:spPr>
          <a:xfrm flipH="1">
            <a:off x="3295816" y="1929688"/>
            <a:ext cx="2682209" cy="0"/>
          </a:xfrm>
          <a:prstGeom prst="line">
            <a:avLst/>
          </a:prstGeom>
          <a:ln w="952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C3C409A-4322-1DA2-0A92-91F62DF76FA6}"/>
              </a:ext>
              <a:ext uri="{C183D7F6-B498-43B3-948B-1728B52AA6E4}">
                <adec:decorative xmlns:adec="http://schemas.microsoft.com/office/drawing/2017/decorative" val="1"/>
              </a:ext>
            </a:extLst>
          </p:cNvPr>
          <p:cNvCxnSpPr>
            <a:cxnSpLocks/>
          </p:cNvCxnSpPr>
          <p:nvPr userDrawn="1"/>
        </p:nvCxnSpPr>
        <p:spPr>
          <a:xfrm flipH="1">
            <a:off x="6184790" y="1929688"/>
            <a:ext cx="2682209" cy="0"/>
          </a:xfrm>
          <a:prstGeom prst="line">
            <a:avLst/>
          </a:prstGeom>
          <a:ln w="952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7433C17-6E55-6729-4B71-90C1C5D0AACB}"/>
              </a:ext>
              <a:ext uri="{C183D7F6-B498-43B3-948B-1728B52AA6E4}">
                <adec:decorative xmlns:adec="http://schemas.microsoft.com/office/drawing/2017/decorative" val="1"/>
              </a:ext>
            </a:extLst>
          </p:cNvPr>
          <p:cNvCxnSpPr>
            <a:cxnSpLocks/>
          </p:cNvCxnSpPr>
          <p:nvPr userDrawn="1"/>
        </p:nvCxnSpPr>
        <p:spPr>
          <a:xfrm flipH="1">
            <a:off x="9067138" y="1929688"/>
            <a:ext cx="2682209" cy="0"/>
          </a:xfrm>
          <a:prstGeom prst="line">
            <a:avLst/>
          </a:prstGeom>
          <a:ln w="952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920AA62-E612-D965-1F88-E6F1009AE41D}"/>
              </a:ext>
              <a:ext uri="{C183D7F6-B498-43B3-948B-1728B52AA6E4}">
                <adec:decorative xmlns:adec="http://schemas.microsoft.com/office/drawing/2017/decorative" val="1"/>
              </a:ext>
            </a:extLst>
          </p:cNvPr>
          <p:cNvCxnSpPr>
            <a:cxnSpLocks/>
          </p:cNvCxnSpPr>
          <p:nvPr userDrawn="1"/>
        </p:nvCxnSpPr>
        <p:spPr>
          <a:xfrm flipV="1">
            <a:off x="6111903" y="365126"/>
            <a:ext cx="0" cy="1017108"/>
          </a:xfrm>
          <a:prstGeom prst="line">
            <a:avLst/>
          </a:prstGeom>
          <a:ln w="952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3" name="Text Placeholder 7">
            <a:extLst>
              <a:ext uri="{FF2B5EF4-FFF2-40B4-BE49-F238E27FC236}">
                <a16:creationId xmlns:a16="http://schemas.microsoft.com/office/drawing/2014/main" id="{F4678C97-353D-718B-C7D3-856CA7BA54EA}"/>
              </a:ext>
            </a:extLst>
          </p:cNvPr>
          <p:cNvSpPr>
            <a:spLocks noGrp="1"/>
          </p:cNvSpPr>
          <p:nvPr>
            <p:ph type="body" sz="quarter" idx="20" hasCustomPrompt="1"/>
          </p:nvPr>
        </p:nvSpPr>
        <p:spPr>
          <a:xfrm>
            <a:off x="426722" y="2501808"/>
            <a:ext cx="2682207" cy="420308"/>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24" name="Text Placeholder 7">
            <a:extLst>
              <a:ext uri="{FF2B5EF4-FFF2-40B4-BE49-F238E27FC236}">
                <a16:creationId xmlns:a16="http://schemas.microsoft.com/office/drawing/2014/main" id="{C99EDFFC-C024-9A76-8088-04C8F0CEE0CD}"/>
              </a:ext>
            </a:extLst>
          </p:cNvPr>
          <p:cNvSpPr>
            <a:spLocks noGrp="1"/>
          </p:cNvSpPr>
          <p:nvPr>
            <p:ph type="body" sz="quarter" idx="21" hasCustomPrompt="1"/>
          </p:nvPr>
        </p:nvSpPr>
        <p:spPr>
          <a:xfrm>
            <a:off x="3312172" y="2501809"/>
            <a:ext cx="2682207" cy="420300"/>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25" name="Text Placeholder 7">
            <a:extLst>
              <a:ext uri="{FF2B5EF4-FFF2-40B4-BE49-F238E27FC236}">
                <a16:creationId xmlns:a16="http://schemas.microsoft.com/office/drawing/2014/main" id="{FBD657C7-13F8-FC36-8BA4-397DFD2DD2AD}"/>
              </a:ext>
            </a:extLst>
          </p:cNvPr>
          <p:cNvSpPr>
            <a:spLocks noGrp="1"/>
          </p:cNvSpPr>
          <p:nvPr>
            <p:ph type="body" sz="quarter" idx="22" hasCustomPrompt="1"/>
          </p:nvPr>
        </p:nvSpPr>
        <p:spPr>
          <a:xfrm>
            <a:off x="6197622" y="2501809"/>
            <a:ext cx="2682207" cy="420296"/>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26" name="Text Placeholder 7">
            <a:extLst>
              <a:ext uri="{FF2B5EF4-FFF2-40B4-BE49-F238E27FC236}">
                <a16:creationId xmlns:a16="http://schemas.microsoft.com/office/drawing/2014/main" id="{E1CE904B-65D6-92E0-B60A-5E063D731713}"/>
              </a:ext>
            </a:extLst>
          </p:cNvPr>
          <p:cNvSpPr>
            <a:spLocks noGrp="1"/>
          </p:cNvSpPr>
          <p:nvPr>
            <p:ph type="body" sz="quarter" idx="23" hasCustomPrompt="1"/>
          </p:nvPr>
        </p:nvSpPr>
        <p:spPr>
          <a:xfrm>
            <a:off x="9083071" y="2501808"/>
            <a:ext cx="2682207" cy="420289"/>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27" name="Text Placeholder 7">
            <a:extLst>
              <a:ext uri="{FF2B5EF4-FFF2-40B4-BE49-F238E27FC236}">
                <a16:creationId xmlns:a16="http://schemas.microsoft.com/office/drawing/2014/main" id="{68DBB60D-4611-5A0D-13D2-B86C33F46EA8}"/>
              </a:ext>
            </a:extLst>
          </p:cNvPr>
          <p:cNvSpPr>
            <a:spLocks noGrp="1"/>
          </p:cNvSpPr>
          <p:nvPr>
            <p:ph type="body" sz="quarter" idx="24" hasCustomPrompt="1"/>
          </p:nvPr>
        </p:nvSpPr>
        <p:spPr>
          <a:xfrm>
            <a:off x="426722" y="2998764"/>
            <a:ext cx="2682207" cy="420308"/>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28" name="Text Placeholder 7">
            <a:extLst>
              <a:ext uri="{FF2B5EF4-FFF2-40B4-BE49-F238E27FC236}">
                <a16:creationId xmlns:a16="http://schemas.microsoft.com/office/drawing/2014/main" id="{83CA0F78-A225-8EA3-0535-300EBAE61FC0}"/>
              </a:ext>
            </a:extLst>
          </p:cNvPr>
          <p:cNvSpPr>
            <a:spLocks noGrp="1"/>
          </p:cNvSpPr>
          <p:nvPr>
            <p:ph type="body" sz="quarter" idx="25" hasCustomPrompt="1"/>
          </p:nvPr>
        </p:nvSpPr>
        <p:spPr>
          <a:xfrm>
            <a:off x="3312172" y="2998765"/>
            <a:ext cx="2682207" cy="420300"/>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29" name="Text Placeholder 7">
            <a:extLst>
              <a:ext uri="{FF2B5EF4-FFF2-40B4-BE49-F238E27FC236}">
                <a16:creationId xmlns:a16="http://schemas.microsoft.com/office/drawing/2014/main" id="{7C9AAB5D-ACC6-119E-353F-6A2A094BBFA9}"/>
              </a:ext>
            </a:extLst>
          </p:cNvPr>
          <p:cNvSpPr>
            <a:spLocks noGrp="1"/>
          </p:cNvSpPr>
          <p:nvPr>
            <p:ph type="body" sz="quarter" idx="26" hasCustomPrompt="1"/>
          </p:nvPr>
        </p:nvSpPr>
        <p:spPr>
          <a:xfrm>
            <a:off x="6197622" y="2998765"/>
            <a:ext cx="2682207" cy="420296"/>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0" name="Text Placeholder 7">
            <a:extLst>
              <a:ext uri="{FF2B5EF4-FFF2-40B4-BE49-F238E27FC236}">
                <a16:creationId xmlns:a16="http://schemas.microsoft.com/office/drawing/2014/main" id="{B62407F9-3AF4-DD41-FF99-47FC0E23D3A3}"/>
              </a:ext>
            </a:extLst>
          </p:cNvPr>
          <p:cNvSpPr>
            <a:spLocks noGrp="1"/>
          </p:cNvSpPr>
          <p:nvPr>
            <p:ph type="body" sz="quarter" idx="27" hasCustomPrompt="1"/>
          </p:nvPr>
        </p:nvSpPr>
        <p:spPr>
          <a:xfrm>
            <a:off x="9083071" y="2998764"/>
            <a:ext cx="2682207" cy="420289"/>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1" name="Text Placeholder 7">
            <a:extLst>
              <a:ext uri="{FF2B5EF4-FFF2-40B4-BE49-F238E27FC236}">
                <a16:creationId xmlns:a16="http://schemas.microsoft.com/office/drawing/2014/main" id="{85057305-3D0F-D202-D22B-D80A017A0F94}"/>
              </a:ext>
            </a:extLst>
          </p:cNvPr>
          <p:cNvSpPr>
            <a:spLocks noGrp="1"/>
          </p:cNvSpPr>
          <p:nvPr>
            <p:ph type="body" sz="quarter" idx="28" hasCustomPrompt="1"/>
          </p:nvPr>
        </p:nvSpPr>
        <p:spPr>
          <a:xfrm>
            <a:off x="426722" y="3502347"/>
            <a:ext cx="2682207" cy="420308"/>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2" name="Text Placeholder 7">
            <a:extLst>
              <a:ext uri="{FF2B5EF4-FFF2-40B4-BE49-F238E27FC236}">
                <a16:creationId xmlns:a16="http://schemas.microsoft.com/office/drawing/2014/main" id="{C1B28C04-42FA-A1C1-9C6C-E797BB9D9D8C}"/>
              </a:ext>
            </a:extLst>
          </p:cNvPr>
          <p:cNvSpPr>
            <a:spLocks noGrp="1"/>
          </p:cNvSpPr>
          <p:nvPr>
            <p:ph type="body" sz="quarter" idx="29" hasCustomPrompt="1"/>
          </p:nvPr>
        </p:nvSpPr>
        <p:spPr>
          <a:xfrm>
            <a:off x="3312172" y="3502348"/>
            <a:ext cx="2682207" cy="420300"/>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3" name="Text Placeholder 7">
            <a:extLst>
              <a:ext uri="{FF2B5EF4-FFF2-40B4-BE49-F238E27FC236}">
                <a16:creationId xmlns:a16="http://schemas.microsoft.com/office/drawing/2014/main" id="{C3733A55-F3E7-80E9-94AF-625760AA4570}"/>
              </a:ext>
            </a:extLst>
          </p:cNvPr>
          <p:cNvSpPr>
            <a:spLocks noGrp="1"/>
          </p:cNvSpPr>
          <p:nvPr>
            <p:ph type="body" sz="quarter" idx="30" hasCustomPrompt="1"/>
          </p:nvPr>
        </p:nvSpPr>
        <p:spPr>
          <a:xfrm>
            <a:off x="6197622" y="3502348"/>
            <a:ext cx="2682207" cy="420296"/>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4" name="Text Placeholder 7">
            <a:extLst>
              <a:ext uri="{FF2B5EF4-FFF2-40B4-BE49-F238E27FC236}">
                <a16:creationId xmlns:a16="http://schemas.microsoft.com/office/drawing/2014/main" id="{B0E519D3-28E2-3F77-434F-A3087568F80E}"/>
              </a:ext>
            </a:extLst>
          </p:cNvPr>
          <p:cNvSpPr>
            <a:spLocks noGrp="1"/>
          </p:cNvSpPr>
          <p:nvPr>
            <p:ph type="body" sz="quarter" idx="31" hasCustomPrompt="1"/>
          </p:nvPr>
        </p:nvSpPr>
        <p:spPr>
          <a:xfrm>
            <a:off x="9083071" y="3502347"/>
            <a:ext cx="2682207" cy="420289"/>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5" name="Text Placeholder 7">
            <a:extLst>
              <a:ext uri="{FF2B5EF4-FFF2-40B4-BE49-F238E27FC236}">
                <a16:creationId xmlns:a16="http://schemas.microsoft.com/office/drawing/2014/main" id="{C0E24C90-88CF-EB17-8AAB-B7120FFF4BC3}"/>
              </a:ext>
            </a:extLst>
          </p:cNvPr>
          <p:cNvSpPr>
            <a:spLocks noGrp="1"/>
          </p:cNvSpPr>
          <p:nvPr>
            <p:ph type="body" sz="quarter" idx="32" hasCustomPrompt="1"/>
          </p:nvPr>
        </p:nvSpPr>
        <p:spPr>
          <a:xfrm>
            <a:off x="426722" y="4005930"/>
            <a:ext cx="2682207" cy="420308"/>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6" name="Text Placeholder 7">
            <a:extLst>
              <a:ext uri="{FF2B5EF4-FFF2-40B4-BE49-F238E27FC236}">
                <a16:creationId xmlns:a16="http://schemas.microsoft.com/office/drawing/2014/main" id="{3A192949-79BB-46CD-819D-B5D70F422FF6}"/>
              </a:ext>
            </a:extLst>
          </p:cNvPr>
          <p:cNvSpPr>
            <a:spLocks noGrp="1"/>
          </p:cNvSpPr>
          <p:nvPr>
            <p:ph type="body" sz="quarter" idx="33" hasCustomPrompt="1"/>
          </p:nvPr>
        </p:nvSpPr>
        <p:spPr>
          <a:xfrm>
            <a:off x="3312172" y="4005931"/>
            <a:ext cx="2682207" cy="420300"/>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7" name="Text Placeholder 7">
            <a:extLst>
              <a:ext uri="{FF2B5EF4-FFF2-40B4-BE49-F238E27FC236}">
                <a16:creationId xmlns:a16="http://schemas.microsoft.com/office/drawing/2014/main" id="{D2F40E89-11CC-5188-46E9-0FCA9DEBB5ED}"/>
              </a:ext>
            </a:extLst>
          </p:cNvPr>
          <p:cNvSpPr>
            <a:spLocks noGrp="1"/>
          </p:cNvSpPr>
          <p:nvPr>
            <p:ph type="body" sz="quarter" idx="34" hasCustomPrompt="1"/>
          </p:nvPr>
        </p:nvSpPr>
        <p:spPr>
          <a:xfrm>
            <a:off x="6197622" y="4005931"/>
            <a:ext cx="2682207" cy="420296"/>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8" name="Text Placeholder 7">
            <a:extLst>
              <a:ext uri="{FF2B5EF4-FFF2-40B4-BE49-F238E27FC236}">
                <a16:creationId xmlns:a16="http://schemas.microsoft.com/office/drawing/2014/main" id="{38553D0E-ECAA-7779-0726-5B46E2E210A9}"/>
              </a:ext>
            </a:extLst>
          </p:cNvPr>
          <p:cNvSpPr>
            <a:spLocks noGrp="1"/>
          </p:cNvSpPr>
          <p:nvPr>
            <p:ph type="body" sz="quarter" idx="35" hasCustomPrompt="1"/>
          </p:nvPr>
        </p:nvSpPr>
        <p:spPr>
          <a:xfrm>
            <a:off x="9083071" y="4005930"/>
            <a:ext cx="2682207" cy="420289"/>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9" name="Text Placeholder 7">
            <a:extLst>
              <a:ext uri="{FF2B5EF4-FFF2-40B4-BE49-F238E27FC236}">
                <a16:creationId xmlns:a16="http://schemas.microsoft.com/office/drawing/2014/main" id="{E10BFC44-5DF8-E9F8-4806-FE74E33FCF64}"/>
              </a:ext>
            </a:extLst>
          </p:cNvPr>
          <p:cNvSpPr>
            <a:spLocks noGrp="1"/>
          </p:cNvSpPr>
          <p:nvPr>
            <p:ph type="body" sz="quarter" idx="36" hasCustomPrompt="1"/>
          </p:nvPr>
        </p:nvSpPr>
        <p:spPr>
          <a:xfrm>
            <a:off x="426722" y="4502887"/>
            <a:ext cx="2682207" cy="420308"/>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0" name="Text Placeholder 7">
            <a:extLst>
              <a:ext uri="{FF2B5EF4-FFF2-40B4-BE49-F238E27FC236}">
                <a16:creationId xmlns:a16="http://schemas.microsoft.com/office/drawing/2014/main" id="{38CC61CB-15EA-1797-5C21-9B04B65AD69F}"/>
              </a:ext>
            </a:extLst>
          </p:cNvPr>
          <p:cNvSpPr>
            <a:spLocks noGrp="1"/>
          </p:cNvSpPr>
          <p:nvPr>
            <p:ph type="body" sz="quarter" idx="37" hasCustomPrompt="1"/>
          </p:nvPr>
        </p:nvSpPr>
        <p:spPr>
          <a:xfrm>
            <a:off x="3312172" y="4502888"/>
            <a:ext cx="2682207" cy="420300"/>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1" name="Text Placeholder 7">
            <a:extLst>
              <a:ext uri="{FF2B5EF4-FFF2-40B4-BE49-F238E27FC236}">
                <a16:creationId xmlns:a16="http://schemas.microsoft.com/office/drawing/2014/main" id="{9E24C476-CF53-24E8-07C6-79594848E6B1}"/>
              </a:ext>
            </a:extLst>
          </p:cNvPr>
          <p:cNvSpPr>
            <a:spLocks noGrp="1"/>
          </p:cNvSpPr>
          <p:nvPr>
            <p:ph type="body" sz="quarter" idx="38" hasCustomPrompt="1"/>
          </p:nvPr>
        </p:nvSpPr>
        <p:spPr>
          <a:xfrm>
            <a:off x="6197622" y="4502888"/>
            <a:ext cx="2682207" cy="420296"/>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2" name="Text Placeholder 7">
            <a:extLst>
              <a:ext uri="{FF2B5EF4-FFF2-40B4-BE49-F238E27FC236}">
                <a16:creationId xmlns:a16="http://schemas.microsoft.com/office/drawing/2014/main" id="{DF114B07-7304-2BC1-F426-7330700A77D6}"/>
              </a:ext>
            </a:extLst>
          </p:cNvPr>
          <p:cNvSpPr>
            <a:spLocks noGrp="1"/>
          </p:cNvSpPr>
          <p:nvPr>
            <p:ph type="body" sz="quarter" idx="39" hasCustomPrompt="1"/>
          </p:nvPr>
        </p:nvSpPr>
        <p:spPr>
          <a:xfrm>
            <a:off x="9083071" y="4502887"/>
            <a:ext cx="2682207" cy="420289"/>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3" name="Text Placeholder 7">
            <a:extLst>
              <a:ext uri="{FF2B5EF4-FFF2-40B4-BE49-F238E27FC236}">
                <a16:creationId xmlns:a16="http://schemas.microsoft.com/office/drawing/2014/main" id="{DAA65E89-D8A0-EB74-8BD0-7033A76044B7}"/>
              </a:ext>
            </a:extLst>
          </p:cNvPr>
          <p:cNvSpPr>
            <a:spLocks noGrp="1"/>
          </p:cNvSpPr>
          <p:nvPr>
            <p:ph type="body" sz="quarter" idx="40" hasCustomPrompt="1"/>
          </p:nvPr>
        </p:nvSpPr>
        <p:spPr>
          <a:xfrm>
            <a:off x="426722" y="5006469"/>
            <a:ext cx="2682207" cy="420308"/>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4" name="Text Placeholder 7">
            <a:extLst>
              <a:ext uri="{FF2B5EF4-FFF2-40B4-BE49-F238E27FC236}">
                <a16:creationId xmlns:a16="http://schemas.microsoft.com/office/drawing/2014/main" id="{BDA97849-F569-4596-938F-949E42DDC7D7}"/>
              </a:ext>
            </a:extLst>
          </p:cNvPr>
          <p:cNvSpPr>
            <a:spLocks noGrp="1"/>
          </p:cNvSpPr>
          <p:nvPr>
            <p:ph type="body" sz="quarter" idx="41" hasCustomPrompt="1"/>
          </p:nvPr>
        </p:nvSpPr>
        <p:spPr>
          <a:xfrm>
            <a:off x="3312172" y="5006470"/>
            <a:ext cx="2682207" cy="420300"/>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5" name="Text Placeholder 7">
            <a:extLst>
              <a:ext uri="{FF2B5EF4-FFF2-40B4-BE49-F238E27FC236}">
                <a16:creationId xmlns:a16="http://schemas.microsoft.com/office/drawing/2014/main" id="{39316284-D361-4BD3-06F5-014434E7BFDF}"/>
              </a:ext>
            </a:extLst>
          </p:cNvPr>
          <p:cNvSpPr>
            <a:spLocks noGrp="1"/>
          </p:cNvSpPr>
          <p:nvPr>
            <p:ph type="body" sz="quarter" idx="42" hasCustomPrompt="1"/>
          </p:nvPr>
        </p:nvSpPr>
        <p:spPr>
          <a:xfrm>
            <a:off x="6197622" y="5006470"/>
            <a:ext cx="2682207" cy="420296"/>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6" name="Text Placeholder 7">
            <a:extLst>
              <a:ext uri="{FF2B5EF4-FFF2-40B4-BE49-F238E27FC236}">
                <a16:creationId xmlns:a16="http://schemas.microsoft.com/office/drawing/2014/main" id="{866D0BCA-F29E-BF8E-834B-1A97D47133F8}"/>
              </a:ext>
            </a:extLst>
          </p:cNvPr>
          <p:cNvSpPr>
            <a:spLocks noGrp="1"/>
          </p:cNvSpPr>
          <p:nvPr>
            <p:ph type="body" sz="quarter" idx="43" hasCustomPrompt="1"/>
          </p:nvPr>
        </p:nvSpPr>
        <p:spPr>
          <a:xfrm>
            <a:off x="9083071" y="5006469"/>
            <a:ext cx="2682207" cy="420289"/>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7" name="Text Placeholder 7">
            <a:extLst>
              <a:ext uri="{FF2B5EF4-FFF2-40B4-BE49-F238E27FC236}">
                <a16:creationId xmlns:a16="http://schemas.microsoft.com/office/drawing/2014/main" id="{83F0760B-AC42-E821-2B23-C0967D135521}"/>
              </a:ext>
            </a:extLst>
          </p:cNvPr>
          <p:cNvSpPr>
            <a:spLocks noGrp="1"/>
          </p:cNvSpPr>
          <p:nvPr>
            <p:ph type="body" sz="quarter" idx="44" hasCustomPrompt="1"/>
          </p:nvPr>
        </p:nvSpPr>
        <p:spPr>
          <a:xfrm>
            <a:off x="426722" y="5510051"/>
            <a:ext cx="2682207" cy="420308"/>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8" name="Text Placeholder 7">
            <a:extLst>
              <a:ext uri="{FF2B5EF4-FFF2-40B4-BE49-F238E27FC236}">
                <a16:creationId xmlns:a16="http://schemas.microsoft.com/office/drawing/2014/main" id="{E08E5CE3-75FD-AE88-3435-4FE5EC12EF31}"/>
              </a:ext>
            </a:extLst>
          </p:cNvPr>
          <p:cNvSpPr>
            <a:spLocks noGrp="1"/>
          </p:cNvSpPr>
          <p:nvPr>
            <p:ph type="body" sz="quarter" idx="45" hasCustomPrompt="1"/>
          </p:nvPr>
        </p:nvSpPr>
        <p:spPr>
          <a:xfrm>
            <a:off x="3312172" y="5510052"/>
            <a:ext cx="2682207" cy="420300"/>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9" name="Text Placeholder 7">
            <a:extLst>
              <a:ext uri="{FF2B5EF4-FFF2-40B4-BE49-F238E27FC236}">
                <a16:creationId xmlns:a16="http://schemas.microsoft.com/office/drawing/2014/main" id="{11856361-AE81-C274-15D4-B25A8DD24A1C}"/>
              </a:ext>
            </a:extLst>
          </p:cNvPr>
          <p:cNvSpPr>
            <a:spLocks noGrp="1"/>
          </p:cNvSpPr>
          <p:nvPr>
            <p:ph type="body" sz="quarter" idx="46" hasCustomPrompt="1"/>
          </p:nvPr>
        </p:nvSpPr>
        <p:spPr>
          <a:xfrm>
            <a:off x="6197622" y="5510052"/>
            <a:ext cx="2682207" cy="420296"/>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50" name="Text Placeholder 7">
            <a:extLst>
              <a:ext uri="{FF2B5EF4-FFF2-40B4-BE49-F238E27FC236}">
                <a16:creationId xmlns:a16="http://schemas.microsoft.com/office/drawing/2014/main" id="{8914E580-8B3F-886B-BD8B-E81A59F35F02}"/>
              </a:ext>
            </a:extLst>
          </p:cNvPr>
          <p:cNvSpPr>
            <a:spLocks noGrp="1"/>
          </p:cNvSpPr>
          <p:nvPr>
            <p:ph type="body" sz="quarter" idx="47" hasCustomPrompt="1"/>
          </p:nvPr>
        </p:nvSpPr>
        <p:spPr>
          <a:xfrm>
            <a:off x="9083071" y="5510051"/>
            <a:ext cx="2682207" cy="420289"/>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Tree>
    <p:extLst>
      <p:ext uri="{BB962C8B-B14F-4D97-AF65-F5344CB8AC3E}">
        <p14:creationId xmlns:p14="http://schemas.microsoft.com/office/powerpoint/2010/main" val="8214641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 Dark">
    <p:bg>
      <p:bgPr>
        <a:solidFill>
          <a:srgbClr val="205493"/>
        </a:solidFill>
        <a:effectLst/>
      </p:bgPr>
    </p:bg>
    <p:spTree>
      <p:nvGrpSpPr>
        <p:cNvPr id="1" name=""/>
        <p:cNvGrpSpPr/>
        <p:nvPr/>
      </p:nvGrpSpPr>
      <p:grpSpPr>
        <a:xfrm>
          <a:off x="0" y="0"/>
          <a:ext cx="0" cy="0"/>
          <a:chOff x="0" y="0"/>
          <a:chExt cx="0" cy="0"/>
        </a:xfrm>
      </p:grpSpPr>
      <p:pic>
        <p:nvPicPr>
          <p:cNvPr id="41" name="Graphic 40">
            <a:extLst>
              <a:ext uri="{FF2B5EF4-FFF2-40B4-BE49-F238E27FC236}">
                <a16:creationId xmlns:a16="http://schemas.microsoft.com/office/drawing/2014/main" id="{A3C789B0-28C7-E6A4-30FD-E2ACD1B9C0E2}"/>
              </a:ext>
            </a:extLst>
          </p:cNvPr>
          <p:cNvPicPr>
            <a:picLocks/>
          </p:cNvPicPr>
          <p:nvPr userDrawn="1"/>
        </p:nvPicPr>
        <p:blipFill>
          <a:blip>
            <a:extLst>
              <a:ext uri="{96DAC541-7B7A-43D3-8B79-37D633B846F1}">
                <asvg:svgBlip xmlns:asvg="http://schemas.microsoft.com/office/drawing/2016/SVG/main" r:embed="rId2"/>
              </a:ext>
            </a:extLst>
          </a:blip>
          <a:srcRect/>
          <a:stretch/>
        </p:blipFill>
        <p:spPr>
          <a:xfrm>
            <a:off x="0" y="6746581"/>
            <a:ext cx="12192000" cy="109728"/>
          </a:xfrm>
          <a:prstGeom prst="rect">
            <a:avLst/>
          </a:prstGeom>
        </p:spPr>
      </p:pic>
      <p:pic>
        <p:nvPicPr>
          <p:cNvPr id="6" name="Graphic 5">
            <a:extLst>
              <a:ext uri="{FF2B5EF4-FFF2-40B4-BE49-F238E27FC236}">
                <a16:creationId xmlns:a16="http://schemas.microsoft.com/office/drawing/2014/main" id="{35A72BDB-8252-762D-3D7A-7A1C565756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5933" y="6084465"/>
            <a:ext cx="3433337" cy="408409"/>
          </a:xfrm>
          <a:prstGeom prst="rect">
            <a:avLst/>
          </a:prstGeom>
        </p:spPr>
      </p:pic>
      <p:sp>
        <p:nvSpPr>
          <p:cNvPr id="15" name="Title 1">
            <a:extLst>
              <a:ext uri="{FF2B5EF4-FFF2-40B4-BE49-F238E27FC236}">
                <a16:creationId xmlns:a16="http://schemas.microsoft.com/office/drawing/2014/main" id="{D8F50DCB-327E-AA1F-2CA3-7E975EAE5100}"/>
              </a:ext>
            </a:extLst>
          </p:cNvPr>
          <p:cNvSpPr>
            <a:spLocks noGrp="1"/>
          </p:cNvSpPr>
          <p:nvPr>
            <p:ph type="title" hasCustomPrompt="1"/>
          </p:nvPr>
        </p:nvSpPr>
        <p:spPr>
          <a:xfrm>
            <a:off x="426719" y="365126"/>
            <a:ext cx="8882038" cy="911734"/>
          </a:xfrm>
        </p:spPr>
        <p:txBody>
          <a:bodyPr anchor="t"/>
          <a:lstStyle>
            <a:lvl1pPr>
              <a:defRPr sz="6000">
                <a:solidFill>
                  <a:schemeClr val="tx1"/>
                </a:solidFill>
              </a:defRPr>
            </a:lvl1pPr>
          </a:lstStyle>
          <a:p>
            <a:r>
              <a:rPr lang="en-US"/>
              <a:t>Learn More</a:t>
            </a:r>
          </a:p>
        </p:txBody>
      </p:sp>
      <p:cxnSp>
        <p:nvCxnSpPr>
          <p:cNvPr id="17" name="Straight Connector 16">
            <a:extLst>
              <a:ext uri="{FF2B5EF4-FFF2-40B4-BE49-F238E27FC236}">
                <a16:creationId xmlns:a16="http://schemas.microsoft.com/office/drawing/2014/main" id="{6B24DF2C-35CA-035B-4988-17525EC9B84E}"/>
              </a:ext>
              <a:ext uri="{C183D7F6-B498-43B3-948B-1728B52AA6E4}">
                <adec:decorative xmlns:adec="http://schemas.microsoft.com/office/drawing/2017/decorative" val="1"/>
              </a:ext>
            </a:extLst>
          </p:cNvPr>
          <p:cNvCxnSpPr>
            <a:cxnSpLocks/>
          </p:cNvCxnSpPr>
          <p:nvPr userDrawn="1"/>
        </p:nvCxnSpPr>
        <p:spPr>
          <a:xfrm flipH="1">
            <a:off x="426719" y="1375716"/>
            <a:ext cx="8882038" cy="0"/>
          </a:xfrm>
          <a:prstGeom prst="line">
            <a:avLst/>
          </a:prstGeom>
          <a:ln w="952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E5A99896-ABED-F40A-954E-6508C62C9D59}"/>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842273" y="276191"/>
            <a:ext cx="2175344" cy="6290864"/>
          </a:xfrm>
          <a:prstGeom prst="rect">
            <a:avLst/>
          </a:prstGeom>
        </p:spPr>
      </p:pic>
      <p:sp>
        <p:nvSpPr>
          <p:cNvPr id="11" name="Text Placeholder 7">
            <a:extLst>
              <a:ext uri="{FF2B5EF4-FFF2-40B4-BE49-F238E27FC236}">
                <a16:creationId xmlns:a16="http://schemas.microsoft.com/office/drawing/2014/main" id="{43B63CFC-CF8F-F3E4-9861-53BF4EBE8B2F}"/>
              </a:ext>
            </a:extLst>
          </p:cNvPr>
          <p:cNvSpPr>
            <a:spLocks noGrp="1"/>
          </p:cNvSpPr>
          <p:nvPr>
            <p:ph type="body" sz="quarter" idx="11" hasCustomPrompt="1"/>
          </p:nvPr>
        </p:nvSpPr>
        <p:spPr>
          <a:xfrm>
            <a:off x="1644950" y="1855605"/>
            <a:ext cx="7663808" cy="408404"/>
          </a:xfrm>
          <a:prstGeom prst="rect">
            <a:avLst/>
          </a:prstGeom>
        </p:spPr>
        <p:txBody>
          <a:bodyPr>
            <a:noAutofit/>
          </a:bodyPr>
          <a:lstStyle>
            <a:lvl1pPr marL="0" indent="0">
              <a:lnSpc>
                <a:spcPct val="100000"/>
              </a:lnSpc>
              <a:spcBef>
                <a:spcPts val="0"/>
              </a:spcBef>
              <a:spcAft>
                <a:spcPts val="1200"/>
              </a:spcAft>
              <a:buNone/>
              <a:defRPr sz="3000" b="0">
                <a:solidFill>
                  <a:schemeClr val="tx1"/>
                </a:solidFill>
              </a:defRPr>
            </a:lvl1pPr>
          </a:lstStyle>
          <a:p>
            <a:pPr lvl="0"/>
            <a:r>
              <a:rPr lang="en-US"/>
              <a:t>Action Item 1</a:t>
            </a:r>
          </a:p>
        </p:txBody>
      </p:sp>
      <p:sp>
        <p:nvSpPr>
          <p:cNvPr id="21" name="Text Placeholder 7">
            <a:extLst>
              <a:ext uri="{FF2B5EF4-FFF2-40B4-BE49-F238E27FC236}">
                <a16:creationId xmlns:a16="http://schemas.microsoft.com/office/drawing/2014/main" id="{A37A2EA4-6881-8146-5045-8B6F575E96F6}"/>
              </a:ext>
            </a:extLst>
          </p:cNvPr>
          <p:cNvSpPr>
            <a:spLocks noGrp="1"/>
          </p:cNvSpPr>
          <p:nvPr>
            <p:ph type="body" sz="quarter" idx="12" hasCustomPrompt="1"/>
          </p:nvPr>
        </p:nvSpPr>
        <p:spPr>
          <a:xfrm>
            <a:off x="1644950" y="2365162"/>
            <a:ext cx="7663808" cy="408404"/>
          </a:xfrm>
          <a:prstGeom prst="rect">
            <a:avLst/>
          </a:prstGeom>
        </p:spPr>
        <p:txBody>
          <a:bodyPr>
            <a:noAutofit/>
          </a:bodyPr>
          <a:lstStyle>
            <a:lvl1pPr marL="0" indent="0">
              <a:lnSpc>
                <a:spcPct val="100000"/>
              </a:lnSpc>
              <a:spcBef>
                <a:spcPts val="0"/>
              </a:spcBef>
              <a:spcAft>
                <a:spcPts val="1200"/>
              </a:spcAft>
              <a:buNone/>
              <a:defRPr sz="2400" b="0">
                <a:solidFill>
                  <a:schemeClr val="accent3"/>
                </a:solidFill>
              </a:defRPr>
            </a:lvl1pPr>
          </a:lstStyle>
          <a:p>
            <a:pPr lvl="0"/>
            <a:r>
              <a:rPr lang="en-US"/>
              <a:t>Link 1</a:t>
            </a:r>
          </a:p>
        </p:txBody>
      </p:sp>
      <p:sp>
        <p:nvSpPr>
          <p:cNvPr id="22" name="Text Placeholder 7">
            <a:extLst>
              <a:ext uri="{FF2B5EF4-FFF2-40B4-BE49-F238E27FC236}">
                <a16:creationId xmlns:a16="http://schemas.microsoft.com/office/drawing/2014/main" id="{95034A75-F80E-2B0B-9F84-B5B09F71EA33}"/>
              </a:ext>
            </a:extLst>
          </p:cNvPr>
          <p:cNvSpPr>
            <a:spLocks noGrp="1"/>
          </p:cNvSpPr>
          <p:nvPr>
            <p:ph type="body" sz="quarter" idx="13" hasCustomPrompt="1"/>
          </p:nvPr>
        </p:nvSpPr>
        <p:spPr>
          <a:xfrm>
            <a:off x="1644950" y="3247799"/>
            <a:ext cx="7663808" cy="408404"/>
          </a:xfrm>
          <a:prstGeom prst="rect">
            <a:avLst/>
          </a:prstGeom>
        </p:spPr>
        <p:txBody>
          <a:bodyPr>
            <a:noAutofit/>
          </a:bodyPr>
          <a:lstStyle>
            <a:lvl1pPr marL="0" indent="0">
              <a:lnSpc>
                <a:spcPct val="100000"/>
              </a:lnSpc>
              <a:spcBef>
                <a:spcPts val="0"/>
              </a:spcBef>
              <a:spcAft>
                <a:spcPts val="1200"/>
              </a:spcAft>
              <a:buNone/>
              <a:defRPr sz="3000" b="0">
                <a:solidFill>
                  <a:schemeClr val="tx1"/>
                </a:solidFill>
              </a:defRPr>
            </a:lvl1pPr>
          </a:lstStyle>
          <a:p>
            <a:pPr lvl="0"/>
            <a:r>
              <a:rPr lang="en-US"/>
              <a:t>Action Item 1</a:t>
            </a:r>
          </a:p>
        </p:txBody>
      </p:sp>
      <p:sp>
        <p:nvSpPr>
          <p:cNvPr id="24" name="Text Placeholder 7">
            <a:extLst>
              <a:ext uri="{FF2B5EF4-FFF2-40B4-BE49-F238E27FC236}">
                <a16:creationId xmlns:a16="http://schemas.microsoft.com/office/drawing/2014/main" id="{F31FE3FB-2D32-B375-8EF6-BA9FF1386476}"/>
              </a:ext>
            </a:extLst>
          </p:cNvPr>
          <p:cNvSpPr>
            <a:spLocks noGrp="1"/>
          </p:cNvSpPr>
          <p:nvPr>
            <p:ph type="body" sz="quarter" idx="14" hasCustomPrompt="1"/>
          </p:nvPr>
        </p:nvSpPr>
        <p:spPr>
          <a:xfrm>
            <a:off x="1644950" y="3757356"/>
            <a:ext cx="7663808" cy="408404"/>
          </a:xfrm>
          <a:prstGeom prst="rect">
            <a:avLst/>
          </a:prstGeom>
        </p:spPr>
        <p:txBody>
          <a:bodyPr>
            <a:noAutofit/>
          </a:bodyPr>
          <a:lstStyle>
            <a:lvl1pPr marL="0" indent="0">
              <a:lnSpc>
                <a:spcPct val="100000"/>
              </a:lnSpc>
              <a:spcBef>
                <a:spcPts val="0"/>
              </a:spcBef>
              <a:spcAft>
                <a:spcPts val="1200"/>
              </a:spcAft>
              <a:buNone/>
              <a:defRPr sz="2400" b="0">
                <a:solidFill>
                  <a:schemeClr val="accent3"/>
                </a:solidFill>
              </a:defRPr>
            </a:lvl1pPr>
          </a:lstStyle>
          <a:p>
            <a:pPr lvl="0"/>
            <a:r>
              <a:rPr lang="en-US"/>
              <a:t>Link 1</a:t>
            </a:r>
          </a:p>
        </p:txBody>
      </p:sp>
      <p:sp>
        <p:nvSpPr>
          <p:cNvPr id="25" name="Text Placeholder 7">
            <a:extLst>
              <a:ext uri="{FF2B5EF4-FFF2-40B4-BE49-F238E27FC236}">
                <a16:creationId xmlns:a16="http://schemas.microsoft.com/office/drawing/2014/main" id="{FD921CF7-CEA6-E75B-BDF6-91C632E55FA6}"/>
              </a:ext>
            </a:extLst>
          </p:cNvPr>
          <p:cNvSpPr>
            <a:spLocks noGrp="1"/>
          </p:cNvSpPr>
          <p:nvPr>
            <p:ph type="body" sz="quarter" idx="15" hasCustomPrompt="1"/>
          </p:nvPr>
        </p:nvSpPr>
        <p:spPr>
          <a:xfrm>
            <a:off x="1644950" y="4598804"/>
            <a:ext cx="7663808" cy="408404"/>
          </a:xfrm>
          <a:prstGeom prst="rect">
            <a:avLst/>
          </a:prstGeom>
        </p:spPr>
        <p:txBody>
          <a:bodyPr>
            <a:noAutofit/>
          </a:bodyPr>
          <a:lstStyle>
            <a:lvl1pPr marL="0" indent="0">
              <a:lnSpc>
                <a:spcPct val="100000"/>
              </a:lnSpc>
              <a:spcBef>
                <a:spcPts val="0"/>
              </a:spcBef>
              <a:spcAft>
                <a:spcPts val="1200"/>
              </a:spcAft>
              <a:buNone/>
              <a:defRPr sz="3000" b="0">
                <a:solidFill>
                  <a:schemeClr val="tx1"/>
                </a:solidFill>
              </a:defRPr>
            </a:lvl1pPr>
          </a:lstStyle>
          <a:p>
            <a:pPr lvl="0"/>
            <a:r>
              <a:rPr lang="en-US"/>
              <a:t>Action Item 1</a:t>
            </a:r>
          </a:p>
        </p:txBody>
      </p:sp>
      <p:sp>
        <p:nvSpPr>
          <p:cNvPr id="27" name="Text Placeholder 7">
            <a:extLst>
              <a:ext uri="{FF2B5EF4-FFF2-40B4-BE49-F238E27FC236}">
                <a16:creationId xmlns:a16="http://schemas.microsoft.com/office/drawing/2014/main" id="{F11E9E85-CC92-1769-66C8-BA50B2C22357}"/>
              </a:ext>
            </a:extLst>
          </p:cNvPr>
          <p:cNvSpPr>
            <a:spLocks noGrp="1"/>
          </p:cNvSpPr>
          <p:nvPr>
            <p:ph type="body" sz="quarter" idx="16" hasCustomPrompt="1"/>
          </p:nvPr>
        </p:nvSpPr>
        <p:spPr>
          <a:xfrm>
            <a:off x="1644950" y="5108361"/>
            <a:ext cx="7663808" cy="408404"/>
          </a:xfrm>
          <a:prstGeom prst="rect">
            <a:avLst/>
          </a:prstGeom>
        </p:spPr>
        <p:txBody>
          <a:bodyPr>
            <a:noAutofit/>
          </a:bodyPr>
          <a:lstStyle>
            <a:lvl1pPr marL="0" indent="0">
              <a:lnSpc>
                <a:spcPct val="100000"/>
              </a:lnSpc>
              <a:spcBef>
                <a:spcPts val="0"/>
              </a:spcBef>
              <a:spcAft>
                <a:spcPts val="1200"/>
              </a:spcAft>
              <a:buNone/>
              <a:defRPr sz="2400" b="0">
                <a:solidFill>
                  <a:schemeClr val="accent3"/>
                </a:solidFill>
              </a:defRPr>
            </a:lvl1pPr>
          </a:lstStyle>
          <a:p>
            <a:pPr lvl="0"/>
            <a:r>
              <a:rPr lang="en-US"/>
              <a:t>Link 1</a:t>
            </a:r>
          </a:p>
        </p:txBody>
      </p:sp>
    </p:spTree>
    <p:extLst>
      <p:ext uri="{BB962C8B-B14F-4D97-AF65-F5344CB8AC3E}">
        <p14:creationId xmlns:p14="http://schemas.microsoft.com/office/powerpoint/2010/main" val="204778104"/>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nk with footer">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EEBA567-2CA1-9149-A4FA-3797D5217A39}"/>
              </a:ext>
            </a:extLst>
          </p:cNvPr>
          <p:cNvPicPr>
            <a:picLocks noChangeAspect="1"/>
          </p:cNvPicPr>
          <p:nvPr userDrawn="1"/>
        </p:nvPicPr>
        <p:blipFill>
          <a:blip r:embed="rId2"/>
          <a:stretch>
            <a:fillRect/>
          </a:stretch>
        </p:blipFill>
        <p:spPr>
          <a:xfrm>
            <a:off x="837866" y="6355080"/>
            <a:ext cx="2304589" cy="274320"/>
          </a:xfrm>
          <a:prstGeom prst="rect">
            <a:avLst/>
          </a:prstGeom>
        </p:spPr>
      </p:pic>
      <p:sp>
        <p:nvSpPr>
          <p:cNvPr id="2" name="Footer Placeholder 1">
            <a:extLst>
              <a:ext uri="{FF2B5EF4-FFF2-40B4-BE49-F238E27FC236}">
                <a16:creationId xmlns:a16="http://schemas.microsoft.com/office/drawing/2014/main" id="{5E0E9048-E61C-2D4B-A9B5-9E342B77CE30}"/>
              </a:ext>
            </a:extLst>
          </p:cNvPr>
          <p:cNvSpPr>
            <a:spLocks noGrp="1"/>
          </p:cNvSpPr>
          <p:nvPr>
            <p:ph type="ftr" sz="quarter" idx="10"/>
          </p:nvPr>
        </p:nvSpPr>
        <p:spPr/>
        <p:txBody>
          <a:bodyPr/>
          <a:lstStyle/>
          <a:p>
            <a:r>
              <a:rPr lang="en-US" dirty="0"/>
              <a:t>Quarterly Review DD MMM 2021</a:t>
            </a:r>
          </a:p>
        </p:txBody>
      </p:sp>
      <p:sp>
        <p:nvSpPr>
          <p:cNvPr id="3" name="Slide Number Placeholder 2">
            <a:extLst>
              <a:ext uri="{FF2B5EF4-FFF2-40B4-BE49-F238E27FC236}">
                <a16:creationId xmlns:a16="http://schemas.microsoft.com/office/drawing/2014/main" id="{B1C77572-BC64-1D40-B7BA-DCE425BFF4FE}"/>
              </a:ext>
            </a:extLst>
          </p:cNvPr>
          <p:cNvSpPr>
            <a:spLocks noGrp="1"/>
          </p:cNvSpPr>
          <p:nvPr>
            <p:ph type="sldNum" sz="quarter" idx="11"/>
          </p:nvPr>
        </p:nvSpPr>
        <p:spPr/>
        <p:txBody>
          <a:bodyPr/>
          <a:lstStyle/>
          <a:p>
            <a:pPr algn="ctr"/>
            <a:fld id="{C3780821-FBE7-474D-AA67-5368075B1843}" type="slidenum">
              <a:rPr lang="en-US" smtClean="0"/>
              <a:pPr algn="ctr"/>
              <a:t>‹#›</a:t>
            </a:fld>
            <a:endParaRPr lang="en-US" dirty="0"/>
          </a:p>
        </p:txBody>
      </p:sp>
    </p:spTree>
    <p:extLst>
      <p:ext uri="{BB962C8B-B14F-4D97-AF65-F5344CB8AC3E}">
        <p14:creationId xmlns:p14="http://schemas.microsoft.com/office/powerpoint/2010/main" val="3272891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Plain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0"/>
          </p:nvPr>
        </p:nvSpPr>
        <p:spPr>
          <a:xfrm>
            <a:off x="838200" y="1828800"/>
            <a:ext cx="10515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BEEBA567-2CA1-9149-A4FA-3797D5217A39}"/>
              </a:ext>
            </a:extLst>
          </p:cNvPr>
          <p:cNvPicPr>
            <a:picLocks noChangeAspect="1"/>
          </p:cNvPicPr>
          <p:nvPr userDrawn="1"/>
        </p:nvPicPr>
        <p:blipFill>
          <a:blip r:embed="rId2"/>
          <a:stretch>
            <a:fillRect/>
          </a:stretch>
        </p:blipFill>
        <p:spPr>
          <a:xfrm>
            <a:off x="837867" y="6355080"/>
            <a:ext cx="2304589" cy="274320"/>
          </a:xfrm>
          <a:prstGeom prst="rect">
            <a:avLst/>
          </a:prstGeom>
        </p:spPr>
      </p:pic>
    </p:spTree>
    <p:extLst>
      <p:ext uri="{BB962C8B-B14F-4D97-AF65-F5344CB8AC3E}">
        <p14:creationId xmlns:p14="http://schemas.microsoft.com/office/powerpoint/2010/main" val="41093320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ank White with logo">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F49A55-C312-3D4D-9B1B-8FB2433C5202}"/>
              </a:ext>
            </a:extLst>
          </p:cNvPr>
          <p:cNvPicPr>
            <a:picLocks noChangeAspect="1"/>
          </p:cNvPicPr>
          <p:nvPr userDrawn="1"/>
        </p:nvPicPr>
        <p:blipFill>
          <a:blip r:embed="rId2"/>
          <a:stretch>
            <a:fillRect/>
          </a:stretch>
        </p:blipFill>
        <p:spPr>
          <a:xfrm>
            <a:off x="837865" y="6353753"/>
            <a:ext cx="2304589" cy="275647"/>
          </a:xfrm>
          <a:prstGeom prst="rect">
            <a:avLst/>
          </a:prstGeom>
        </p:spPr>
      </p:pic>
    </p:spTree>
    <p:extLst>
      <p:ext uri="{BB962C8B-B14F-4D97-AF65-F5344CB8AC3E}">
        <p14:creationId xmlns:p14="http://schemas.microsoft.com/office/powerpoint/2010/main" val="4068430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70431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66919CE-08D3-4ADA-A705-7CDCB9A2AD34}"/>
              </a:ext>
            </a:extLst>
          </p:cNvPr>
          <p:cNvPicPr>
            <a:picLocks noChangeAspect="1"/>
          </p:cNvPicPr>
          <p:nvPr userDrawn="1"/>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720071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6720" y="365125"/>
            <a:ext cx="10515600" cy="1325563"/>
          </a:xfrm>
          <a:prstGeom prst="rect">
            <a:avLst/>
          </a:prstGeom>
        </p:spPr>
        <p:txBody>
          <a:bodyPr vert="horz" lIns="0" tIns="0" rIns="0" bIns="0" rtlCol="0" anchor="t">
            <a:noAutofit/>
          </a:bodyPr>
          <a:lstStyle/>
          <a:p>
            <a:r>
              <a:rPr lang="en-US"/>
              <a:t>Title in Helvetica Regular</a:t>
            </a:r>
          </a:p>
        </p:txBody>
      </p:sp>
      <p:sp>
        <p:nvSpPr>
          <p:cNvPr id="6" name="Text Placeholder 2">
            <a:extLst>
              <a:ext uri="{FF2B5EF4-FFF2-40B4-BE49-F238E27FC236}">
                <a16:creationId xmlns:a16="http://schemas.microsoft.com/office/drawing/2014/main" id="{90522F4F-1024-0CE0-BD94-84E3CA33B516}"/>
              </a:ext>
            </a:extLst>
          </p:cNvPr>
          <p:cNvSpPr>
            <a:spLocks noGrp="1"/>
          </p:cNvSpPr>
          <p:nvPr>
            <p:ph type="body" idx="1"/>
          </p:nvPr>
        </p:nvSpPr>
        <p:spPr>
          <a:xfrm>
            <a:off x="426720" y="1825625"/>
            <a:ext cx="10515600" cy="4351338"/>
          </a:xfrm>
          <a:prstGeom prst="rect">
            <a:avLst/>
          </a:prstGeom>
        </p:spPr>
        <p:txBody>
          <a:bodyPr vert="horz" lIns="0" tIns="0" rIns="0" bIns="0" rtlCol="0">
            <a:noAutofit/>
          </a:bodyPr>
          <a:lstStyle/>
          <a:p>
            <a:pPr lvl="0"/>
            <a:r>
              <a:rPr lang="en-US"/>
              <a:t>Click to edit Master text styles</a:t>
            </a:r>
          </a:p>
          <a:p>
            <a:pPr lvl="1"/>
            <a:r>
              <a:rPr lang="en-US"/>
              <a:t>Bullet style</a:t>
            </a:r>
          </a:p>
          <a:p>
            <a:pPr lvl="1"/>
            <a:endParaRPr lang="en-US"/>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sldLayoutIdLst>
    <p:sldLayoutId id="2147483662" r:id="rId1"/>
    <p:sldLayoutId id="2147483682" r:id="rId2"/>
    <p:sldLayoutId id="2147483675" r:id="rId3"/>
    <p:sldLayoutId id="2147483674" r:id="rId4"/>
    <p:sldLayoutId id="2147483676" r:id="rId5"/>
    <p:sldLayoutId id="2147483663" r:id="rId6"/>
    <p:sldLayoutId id="2147483677" r:id="rId7"/>
    <p:sldLayoutId id="2147483679" r:id="rId8"/>
    <p:sldLayoutId id="2147483678" r:id="rId9"/>
    <p:sldLayoutId id="2147483667" r:id="rId10"/>
    <p:sldLayoutId id="2147483680" r:id="rId11"/>
    <p:sldLayoutId id="2147483681" r:id="rId12"/>
    <p:sldLayoutId id="2147483683" r:id="rId13"/>
    <p:sldLayoutId id="2147483684" r:id="rId14"/>
    <p:sldLayoutId id="2147483685" r:id="rId15"/>
    <p:sldLayoutId id="2147483686" r:id="rId16"/>
    <p:sldLayoutId id="2147483687" r:id="rId17"/>
  </p:sldLayoutIdLst>
  <p:hf hdr="0" ftr="0" dt="0"/>
  <p:txStyles>
    <p:titleStyle>
      <a:lvl1pPr algn="l" defTabSz="914400" rtl="0" eaLnBrk="1" latinLnBrk="0" hangingPunct="1">
        <a:lnSpc>
          <a:spcPct val="100000"/>
        </a:lnSpc>
        <a:spcBef>
          <a:spcPct val="0"/>
        </a:spcBef>
        <a:buNone/>
        <a:defRPr sz="4400" kern="1200">
          <a:solidFill>
            <a:srgbClr val="112E51"/>
          </a:solidFill>
          <a:latin typeface="Helvetica" charset="0"/>
          <a:ea typeface="Helvetica" charset="0"/>
          <a:cs typeface="Helvetica" charset="0"/>
        </a:defRPr>
      </a:lvl1pPr>
    </p:titleStyle>
    <p:bodyStyle>
      <a:lvl1pPr marL="0" indent="0" algn="l" defTabSz="914400" rtl="0" eaLnBrk="1" latinLnBrk="0" hangingPunct="1">
        <a:lnSpc>
          <a:spcPct val="100000"/>
        </a:lnSpc>
        <a:spcBef>
          <a:spcPts val="1000"/>
        </a:spcBef>
        <a:spcAft>
          <a:spcPts val="900"/>
        </a:spcAft>
        <a:buClr>
          <a:schemeClr val="accent1"/>
        </a:buClr>
        <a:buSzPct val="85000"/>
        <a:buFont typeface="Arial" panose="020B0604020202020204" pitchFamily="34" charset="0"/>
        <a:buNone/>
        <a:defRPr sz="3000" b="0" kern="1200">
          <a:solidFill>
            <a:schemeClr val="tx1"/>
          </a:solidFill>
          <a:latin typeface="Helvetica" charset="0"/>
          <a:ea typeface="Helvetica" charset="0"/>
          <a:cs typeface="Helvetica" charset="0"/>
        </a:defRPr>
      </a:lvl1pPr>
      <a:lvl2pPr marL="800100" indent="-342900" algn="l" defTabSz="914400" rtl="0" eaLnBrk="1" latinLnBrk="0" hangingPunct="1">
        <a:lnSpc>
          <a:spcPct val="100000"/>
        </a:lnSpc>
        <a:spcBef>
          <a:spcPts val="500"/>
        </a:spcBef>
        <a:spcAft>
          <a:spcPts val="900"/>
        </a:spcAft>
        <a:buClr>
          <a:schemeClr val="accent1"/>
        </a:buClr>
        <a:buSzPct val="85000"/>
        <a:buFont typeface="Arial" panose="020B0604020202020204" pitchFamily="34" charset="0"/>
        <a:buChar char="•"/>
        <a:defRPr sz="30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1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www.ncbi.nlm.nih.gov/pathogens/"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6.xml"/><Relationship Id="rId5" Type="http://schemas.openxmlformats.org/officeDocument/2006/relationships/image" Target="../media/image12.png"/><Relationship Id="rId4" Type="http://schemas.openxmlformats.org/officeDocument/2006/relationships/hyperlink" Target="https://github.com/ncbi/workshop-asm-big-2026/blob/main/outbreak/README.m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6.xml"/><Relationship Id="rId5" Type="http://schemas.openxmlformats.org/officeDocument/2006/relationships/image" Target="../media/image12.png"/><Relationship Id="rId4" Type="http://schemas.openxmlformats.org/officeDocument/2006/relationships/hyperlink" Target="https://github.com/ncbi/workshop-asm-big-2026/blob/main/amr/README.m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github.com/ncbi/workshop-asm-big-2026/blob/main/metagenomics/R"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www.nature.com/articles/s41591-020-0894-4"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6.xml"/><Relationship Id="rId5" Type="http://schemas.openxmlformats.org/officeDocument/2006/relationships/image" Target="../media/image12.png"/><Relationship Id="rId4" Type="http://schemas.openxmlformats.org/officeDocument/2006/relationships/hyperlink" Target="https://github.com/ncbi/workshop-asm-big-2026/blob/main/metagenomics/README.md"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565591" y="4948996"/>
            <a:ext cx="11068794" cy="748660"/>
          </a:xfrm>
          <a:prstGeom prst="roundRect">
            <a:avLst>
              <a:gd name="adj" fmla="val 17721"/>
            </a:avLst>
          </a:prstGeom>
          <a:solidFill>
            <a:srgbClr val="FFFFFF"/>
          </a:solidFill>
          <a:ln w="1905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33400" y="1332818"/>
            <a:ext cx="6014007" cy="3432322"/>
          </a:xfrm>
          <a:prstGeom prst="roundRect">
            <a:avLst>
              <a:gd name="adj" fmla="val 373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626078" y="5117510"/>
            <a:ext cx="2497636" cy="407498"/>
          </a:xfrm>
          <a:prstGeom prst="roundRect">
            <a:avLst>
              <a:gd name="adj" fmla="val 18604"/>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82854" y="1332818"/>
            <a:ext cx="4751531" cy="2742350"/>
          </a:xfrm>
          <a:prstGeom prst="roundRect">
            <a:avLst>
              <a:gd name="adj" fmla="val 4992"/>
            </a:avLst>
          </a:prstGeom>
          <a:solidFill>
            <a:srgbClr val="0F2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2"/>
          <a:stretch>
            <a:fillRect/>
          </a:stretch>
        </p:blipFill>
        <p:spPr>
          <a:xfrm>
            <a:off x="851341" y="5134732"/>
            <a:ext cx="379068" cy="379068"/>
          </a:xfrm>
          <a:prstGeom prst="rect">
            <a:avLst/>
          </a:prstGeom>
        </p:spPr>
      </p:pic>
      <p:pic>
        <p:nvPicPr>
          <p:cNvPr id="13" name="Picture 12" descr="image.png"/>
          <p:cNvPicPr>
            <a:picLocks noChangeAspect="1"/>
          </p:cNvPicPr>
          <p:nvPr/>
        </p:nvPicPr>
        <p:blipFill>
          <a:blip r:embed="rId3"/>
          <a:srcRect t="1" r="66032" b="-13664"/>
          <a:stretch>
            <a:fillRect/>
          </a:stretch>
        </p:blipFill>
        <p:spPr>
          <a:xfrm>
            <a:off x="11602194" y="6172200"/>
            <a:ext cx="379512" cy="714375"/>
          </a:xfrm>
          <a:prstGeom prst="rect">
            <a:avLst/>
          </a:prstGeom>
        </p:spPr>
      </p:pic>
      <p:pic>
        <p:nvPicPr>
          <p:cNvPr id="14" name="Picture 13" descr="image.png"/>
          <p:cNvPicPr>
            <a:picLocks noChangeAspect="1"/>
          </p:cNvPicPr>
          <p:nvPr/>
        </p:nvPicPr>
        <p:blipFill>
          <a:blip r:embed="rId4"/>
          <a:stretch>
            <a:fillRect/>
          </a:stretch>
        </p:blipFill>
        <p:spPr>
          <a:xfrm>
            <a:off x="956116" y="5239507"/>
            <a:ext cx="170581" cy="170581"/>
          </a:xfrm>
          <a:prstGeom prst="rect">
            <a:avLst/>
          </a:prstGeom>
        </p:spPr>
      </p:pic>
      <p:pic>
        <p:nvPicPr>
          <p:cNvPr id="15" name="Picture 14" descr="image.png"/>
          <p:cNvPicPr>
            <a:picLocks noChangeAspect="1"/>
          </p:cNvPicPr>
          <p:nvPr/>
        </p:nvPicPr>
        <p:blipFill>
          <a:blip r:embed="rId5"/>
          <a:stretch>
            <a:fillRect/>
          </a:stretch>
        </p:blipFill>
        <p:spPr>
          <a:xfrm>
            <a:off x="809626" y="1628093"/>
            <a:ext cx="236918" cy="189534"/>
          </a:xfrm>
          <a:prstGeom prst="rect">
            <a:avLst/>
          </a:prstGeom>
        </p:spPr>
      </p:pic>
      <p:sp>
        <p:nvSpPr>
          <p:cNvPr id="20" name="TextBox 19"/>
          <p:cNvSpPr txBox="1"/>
          <p:nvPr/>
        </p:nvSpPr>
        <p:spPr>
          <a:xfrm>
            <a:off x="533400" y="699406"/>
            <a:ext cx="11599490" cy="402760"/>
          </a:xfrm>
          <a:prstGeom prst="rect">
            <a:avLst/>
          </a:prstGeom>
          <a:noFill/>
        </p:spPr>
        <p:txBody>
          <a:bodyPr wrap="square" lIns="0" tIns="0" rIns="0" bIns="0" anchor="t">
            <a:spAutoFit/>
          </a:bodyPr>
          <a:lstStyle/>
          <a:p>
            <a:pPr algn="l">
              <a:lnSpc>
                <a:spcPts val="3187"/>
              </a:lnSpc>
            </a:pPr>
            <a:r>
              <a:rPr sz="2550" b="1" i="0" u="none">
                <a:solidFill>
                  <a:srgbClr val="0F172A"/>
                </a:solidFill>
                <a:latin typeface="Plus Jakarta Sans"/>
              </a:rPr>
              <a:t>Help Shape the Future of NCBI Data Submission &amp; Discovery!</a:t>
            </a:r>
          </a:p>
        </p:txBody>
      </p:sp>
      <p:sp>
        <p:nvSpPr>
          <p:cNvPr id="21" name="TextBox 20"/>
          <p:cNvSpPr txBox="1"/>
          <p:nvPr/>
        </p:nvSpPr>
        <p:spPr>
          <a:xfrm>
            <a:off x="876300" y="413656"/>
            <a:ext cx="8173659" cy="161583"/>
          </a:xfrm>
          <a:prstGeom prst="rect">
            <a:avLst/>
          </a:prstGeom>
          <a:noFill/>
        </p:spPr>
        <p:txBody>
          <a:bodyPr wrap="square" lIns="0" tIns="0" rIns="0" bIns="0" anchor="t">
            <a:spAutoFit/>
          </a:bodyPr>
          <a:lstStyle/>
          <a:p>
            <a:pPr algn="l"/>
            <a:r>
              <a:rPr sz="1050" b="1" i="0" u="none" dirty="0">
                <a:solidFill>
                  <a:srgbClr val="0284C7"/>
                </a:solidFill>
                <a:latin typeface="Plus Jakarta Sans"/>
              </a:rPr>
              <a:t>NATIONAL CENTER FOR BIOTECHNOLOGY INFORMATION • USER RESEARCH INITIATIVE</a:t>
            </a:r>
          </a:p>
        </p:txBody>
      </p:sp>
      <p:sp>
        <p:nvSpPr>
          <p:cNvPr id="22" name="TextBox 21"/>
          <p:cNvSpPr txBox="1"/>
          <p:nvPr/>
        </p:nvSpPr>
        <p:spPr>
          <a:xfrm>
            <a:off x="1365691" y="5215696"/>
            <a:ext cx="5745253" cy="215444"/>
          </a:xfrm>
          <a:prstGeom prst="rect">
            <a:avLst/>
          </a:prstGeom>
          <a:noFill/>
        </p:spPr>
        <p:txBody>
          <a:bodyPr wrap="square" lIns="0" tIns="0" rIns="0" bIns="0" anchor="t">
            <a:spAutoFit/>
          </a:bodyPr>
          <a:lstStyle/>
          <a:p>
            <a:pPr algn="l"/>
            <a:r>
              <a:rPr sz="1400" b="1" i="0" u="none" dirty="0">
                <a:solidFill>
                  <a:srgbClr val="0F172A"/>
                </a:solidFill>
                <a:latin typeface="Plus Jakarta Sans"/>
              </a:rPr>
              <a:t>If you are interested in participating, please contact us at</a:t>
            </a:r>
          </a:p>
        </p:txBody>
      </p:sp>
      <p:sp>
        <p:nvSpPr>
          <p:cNvPr id="23" name="TextBox 22"/>
          <p:cNvSpPr txBox="1"/>
          <p:nvPr/>
        </p:nvSpPr>
        <p:spPr>
          <a:xfrm>
            <a:off x="7821640" y="5201874"/>
            <a:ext cx="3004669" cy="246221"/>
          </a:xfrm>
          <a:prstGeom prst="rect">
            <a:avLst/>
          </a:prstGeom>
          <a:noFill/>
        </p:spPr>
        <p:txBody>
          <a:bodyPr wrap="square" lIns="0" tIns="0" rIns="0" bIns="0" anchor="t">
            <a:spAutoFit/>
          </a:bodyPr>
          <a:lstStyle/>
          <a:p>
            <a:pPr algn="l"/>
            <a:r>
              <a:rPr sz="1600" b="1" i="0" u="none" dirty="0" err="1">
                <a:solidFill>
                  <a:srgbClr val="FFFFFF"/>
                </a:solidFill>
                <a:latin typeface="Plus Jakarta Sans"/>
              </a:rPr>
              <a:t>prism@ncbi.nlm.nih.gov</a:t>
            </a:r>
            <a:endParaRPr sz="1600" b="1" i="0" u="none" dirty="0">
              <a:solidFill>
                <a:srgbClr val="FFFFFF"/>
              </a:solidFill>
              <a:latin typeface="Plus Jakarta Sans"/>
            </a:endParaRPr>
          </a:p>
        </p:txBody>
      </p:sp>
      <p:sp>
        <p:nvSpPr>
          <p:cNvPr id="24" name="TextBox 23"/>
          <p:cNvSpPr txBox="1"/>
          <p:nvPr/>
        </p:nvSpPr>
        <p:spPr>
          <a:xfrm>
            <a:off x="809625" y="1990043"/>
            <a:ext cx="5559125" cy="1461939"/>
          </a:xfrm>
          <a:prstGeom prst="rect">
            <a:avLst/>
          </a:prstGeom>
          <a:noFill/>
        </p:spPr>
        <p:txBody>
          <a:bodyPr wrap="square" lIns="0" tIns="0" rIns="0" bIns="0" anchor="t">
            <a:spAutoFit/>
          </a:bodyPr>
          <a:lstStyle/>
          <a:p>
            <a:pPr algn="l">
              <a:lnSpc>
                <a:spcPts val="2250"/>
              </a:lnSpc>
            </a:pPr>
            <a:r>
              <a:rPr b="0" i="0" u="none" dirty="0">
                <a:solidFill>
                  <a:srgbClr val="334155"/>
                </a:solidFill>
                <a:latin typeface="Plus Jakarta Sans"/>
              </a:rPr>
              <a:t>NCBI is building a modernized infrastructure to make submitting and discovering sequence data faster, easier, and more reliable. We are exploring natural-language search, automated sequence quality scoring, and an improved submission workflow.</a:t>
            </a:r>
          </a:p>
        </p:txBody>
      </p:sp>
      <p:sp>
        <p:nvSpPr>
          <p:cNvPr id="25" name="TextBox 24"/>
          <p:cNvSpPr txBox="1"/>
          <p:nvPr/>
        </p:nvSpPr>
        <p:spPr>
          <a:xfrm>
            <a:off x="7209481" y="2224393"/>
            <a:ext cx="4098276" cy="1461939"/>
          </a:xfrm>
          <a:prstGeom prst="rect">
            <a:avLst/>
          </a:prstGeom>
          <a:noFill/>
        </p:spPr>
        <p:txBody>
          <a:bodyPr wrap="square" lIns="0" tIns="0" rIns="0" bIns="0" anchor="t">
            <a:spAutoFit/>
          </a:bodyPr>
          <a:lstStyle/>
          <a:p>
            <a:pPr algn="l">
              <a:lnSpc>
                <a:spcPts val="2250"/>
              </a:lnSpc>
            </a:pPr>
            <a:r>
              <a:rPr b="0" i="0" u="none" dirty="0">
                <a:solidFill>
                  <a:srgbClr val="CBD5E1"/>
                </a:solidFill>
                <a:latin typeface="Plus Jakarta Sans"/>
              </a:rPr>
              <a:t>Whether you submit sequence data, perform bioinformatic analyses, or search NCBI databases for research, your feedback is valuable and will guide the future of our tools.</a:t>
            </a:r>
          </a:p>
        </p:txBody>
      </p:sp>
      <p:sp>
        <p:nvSpPr>
          <p:cNvPr id="26" name="TextBox 25"/>
          <p:cNvSpPr txBox="1"/>
          <p:nvPr/>
        </p:nvSpPr>
        <p:spPr>
          <a:xfrm>
            <a:off x="1143000" y="1589993"/>
            <a:ext cx="4838451" cy="307777"/>
          </a:xfrm>
          <a:prstGeom prst="rect">
            <a:avLst/>
          </a:prstGeom>
          <a:noFill/>
        </p:spPr>
        <p:txBody>
          <a:bodyPr wrap="square" lIns="0" tIns="0" rIns="0" bIns="0" anchor="t">
            <a:spAutoFit/>
          </a:bodyPr>
          <a:lstStyle/>
          <a:p>
            <a:pPr algn="l"/>
            <a:r>
              <a:rPr sz="2000" b="1" i="0" u="none" dirty="0">
                <a:solidFill>
                  <a:srgbClr val="1E293B"/>
                </a:solidFill>
                <a:latin typeface="Plus Jakarta Sans"/>
              </a:rPr>
              <a:t>Modernized Sequence Infrastructure</a:t>
            </a:r>
          </a:p>
        </p:txBody>
      </p:sp>
      <p:grpSp>
        <p:nvGrpSpPr>
          <p:cNvPr id="31" name="Group 30">
            <a:extLst>
              <a:ext uri="{FF2B5EF4-FFF2-40B4-BE49-F238E27FC236}">
                <a16:creationId xmlns:a16="http://schemas.microsoft.com/office/drawing/2014/main" id="{B6CAF166-2C2C-7DA0-03FB-B3DA8D48043A}"/>
              </a:ext>
            </a:extLst>
          </p:cNvPr>
          <p:cNvGrpSpPr/>
          <p:nvPr/>
        </p:nvGrpSpPr>
        <p:grpSpPr>
          <a:xfrm>
            <a:off x="851371" y="3799716"/>
            <a:ext cx="5421708" cy="824473"/>
            <a:chOff x="871223" y="3503958"/>
            <a:chExt cx="5421708" cy="824473"/>
          </a:xfrm>
        </p:grpSpPr>
        <p:sp>
          <p:nvSpPr>
            <p:cNvPr id="7" name="Rounded Rectangle 6"/>
            <p:cNvSpPr/>
            <p:nvPr/>
          </p:nvSpPr>
          <p:spPr>
            <a:xfrm>
              <a:off x="871223" y="3503958"/>
              <a:ext cx="1745638" cy="824473"/>
            </a:xfrm>
            <a:prstGeom prst="roundRect">
              <a:avLst>
                <a:gd name="adj" fmla="val 1149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709258" y="3503958"/>
              <a:ext cx="1745638" cy="824473"/>
            </a:xfrm>
            <a:prstGeom prst="roundRect">
              <a:avLst>
                <a:gd name="adj" fmla="val 1149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547293" y="3503958"/>
              <a:ext cx="1745638" cy="824473"/>
            </a:xfrm>
            <a:prstGeom prst="roundRect">
              <a:avLst>
                <a:gd name="adj" fmla="val 1149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image.png"/>
            <p:cNvPicPr>
              <a:picLocks noChangeAspect="1"/>
            </p:cNvPicPr>
            <p:nvPr/>
          </p:nvPicPr>
          <p:blipFill>
            <a:blip r:embed="rId6"/>
            <a:stretch>
              <a:fillRect/>
            </a:stretch>
          </p:blipFill>
          <p:spPr>
            <a:xfrm>
              <a:off x="975998" y="3627783"/>
              <a:ext cx="151627" cy="151627"/>
            </a:xfrm>
            <a:prstGeom prst="rect">
              <a:avLst/>
            </a:prstGeom>
          </p:spPr>
        </p:pic>
        <p:pic>
          <p:nvPicPr>
            <p:cNvPr id="17" name="Picture 16" descr="image.png"/>
            <p:cNvPicPr>
              <a:picLocks noChangeAspect="1"/>
            </p:cNvPicPr>
            <p:nvPr/>
          </p:nvPicPr>
          <p:blipFill>
            <a:blip r:embed="rId7"/>
            <a:stretch>
              <a:fillRect/>
            </a:stretch>
          </p:blipFill>
          <p:spPr>
            <a:xfrm>
              <a:off x="2814033" y="3627783"/>
              <a:ext cx="151627" cy="151627"/>
            </a:xfrm>
            <a:prstGeom prst="rect">
              <a:avLst/>
            </a:prstGeom>
          </p:spPr>
        </p:pic>
        <p:pic>
          <p:nvPicPr>
            <p:cNvPr id="18" name="Picture 17" descr="image.png"/>
            <p:cNvPicPr>
              <a:picLocks noChangeAspect="1"/>
            </p:cNvPicPr>
            <p:nvPr/>
          </p:nvPicPr>
          <p:blipFill>
            <a:blip r:embed="rId8"/>
            <a:stretch>
              <a:fillRect/>
            </a:stretch>
          </p:blipFill>
          <p:spPr>
            <a:xfrm>
              <a:off x="4652068" y="3627783"/>
              <a:ext cx="189534" cy="151627"/>
            </a:xfrm>
            <a:prstGeom prst="rect">
              <a:avLst/>
            </a:prstGeom>
          </p:spPr>
        </p:pic>
        <p:sp>
          <p:nvSpPr>
            <p:cNvPr id="27" name="TextBox 26"/>
            <p:cNvSpPr txBox="1"/>
            <p:nvPr/>
          </p:nvSpPr>
          <p:spPr>
            <a:xfrm>
              <a:off x="975998" y="3837334"/>
              <a:ext cx="1631918" cy="182358"/>
            </a:xfrm>
            <a:prstGeom prst="rect">
              <a:avLst/>
            </a:prstGeom>
            <a:noFill/>
          </p:spPr>
          <p:txBody>
            <a:bodyPr wrap="square" lIns="0" tIns="0" rIns="0" bIns="0" anchor="t">
              <a:spAutoFit/>
            </a:bodyPr>
            <a:lstStyle/>
            <a:p>
              <a:pPr algn="l">
                <a:lnSpc>
                  <a:spcPts val="1462"/>
                </a:lnSpc>
              </a:pPr>
              <a:r>
                <a:rPr sz="1125" b="1" i="0" u="none" dirty="0">
                  <a:solidFill>
                    <a:srgbClr val="0F172A"/>
                  </a:solidFill>
                  <a:latin typeface="Plus Jakarta Sans"/>
                </a:rPr>
                <a:t>Natural-Language Search</a:t>
              </a:r>
            </a:p>
          </p:txBody>
        </p:sp>
        <p:sp>
          <p:nvSpPr>
            <p:cNvPr id="28" name="TextBox 27"/>
            <p:cNvSpPr txBox="1"/>
            <p:nvPr/>
          </p:nvSpPr>
          <p:spPr>
            <a:xfrm>
              <a:off x="2814033" y="3837334"/>
              <a:ext cx="1631918" cy="182358"/>
            </a:xfrm>
            <a:prstGeom prst="rect">
              <a:avLst/>
            </a:prstGeom>
            <a:noFill/>
          </p:spPr>
          <p:txBody>
            <a:bodyPr wrap="square" lIns="0" tIns="0" rIns="0" bIns="0" anchor="t">
              <a:spAutoFit/>
            </a:bodyPr>
            <a:lstStyle/>
            <a:p>
              <a:pPr algn="l">
                <a:lnSpc>
                  <a:spcPts val="1462"/>
                </a:lnSpc>
              </a:pPr>
              <a:r>
                <a:rPr sz="1125" b="1" i="0" u="none" dirty="0">
                  <a:solidFill>
                    <a:srgbClr val="0F172A"/>
                  </a:solidFill>
                  <a:latin typeface="Plus Jakarta Sans"/>
                </a:rPr>
                <a:t>Automated Quality Scoring</a:t>
              </a:r>
            </a:p>
          </p:txBody>
        </p:sp>
        <p:sp>
          <p:nvSpPr>
            <p:cNvPr id="29" name="TextBox 28"/>
            <p:cNvSpPr txBox="1"/>
            <p:nvPr/>
          </p:nvSpPr>
          <p:spPr>
            <a:xfrm>
              <a:off x="4652068" y="3837334"/>
              <a:ext cx="1631918" cy="374718"/>
            </a:xfrm>
            <a:prstGeom prst="rect">
              <a:avLst/>
            </a:prstGeom>
            <a:noFill/>
          </p:spPr>
          <p:txBody>
            <a:bodyPr wrap="square" lIns="0" tIns="0" rIns="0" bIns="0" anchor="t">
              <a:spAutoFit/>
            </a:bodyPr>
            <a:lstStyle/>
            <a:p>
              <a:pPr algn="l">
                <a:lnSpc>
                  <a:spcPts val="1462"/>
                </a:lnSpc>
              </a:pPr>
              <a:r>
                <a:rPr sz="1125" b="1" i="0" u="none">
                  <a:solidFill>
                    <a:srgbClr val="0F172A"/>
                  </a:solidFill>
                  <a:latin typeface="Plus Jakarta Sans"/>
                </a:rPr>
                <a:t>Improved Submission Workflow</a:t>
              </a:r>
            </a:p>
          </p:txBody>
        </p:sp>
      </p:grpSp>
      <p:grpSp>
        <p:nvGrpSpPr>
          <p:cNvPr id="2" name="Group 1">
            <a:extLst>
              <a:ext uri="{FF2B5EF4-FFF2-40B4-BE49-F238E27FC236}">
                <a16:creationId xmlns:a16="http://schemas.microsoft.com/office/drawing/2014/main" id="{4684D7B9-1DF3-1631-30CB-799F780CD6B1}"/>
              </a:ext>
            </a:extLst>
          </p:cNvPr>
          <p:cNvGrpSpPr/>
          <p:nvPr/>
        </p:nvGrpSpPr>
        <p:grpSpPr>
          <a:xfrm>
            <a:off x="7157007" y="1663738"/>
            <a:ext cx="3171407" cy="307777"/>
            <a:chOff x="7122594" y="1796298"/>
            <a:chExt cx="3171407" cy="307777"/>
          </a:xfrm>
        </p:grpSpPr>
        <p:pic>
          <p:nvPicPr>
            <p:cNvPr id="19" name="Picture 18" descr="image.png"/>
            <p:cNvPicPr>
              <a:picLocks noChangeAspect="1"/>
            </p:cNvPicPr>
            <p:nvPr/>
          </p:nvPicPr>
          <p:blipFill>
            <a:blip r:embed="rId9"/>
            <a:stretch>
              <a:fillRect/>
            </a:stretch>
          </p:blipFill>
          <p:spPr>
            <a:xfrm>
              <a:off x="7122594" y="1843923"/>
              <a:ext cx="189534" cy="189534"/>
            </a:xfrm>
            <a:prstGeom prst="rect">
              <a:avLst/>
            </a:prstGeom>
          </p:spPr>
        </p:pic>
        <p:sp>
          <p:nvSpPr>
            <p:cNvPr id="30" name="TextBox 29"/>
            <p:cNvSpPr txBox="1"/>
            <p:nvPr/>
          </p:nvSpPr>
          <p:spPr>
            <a:xfrm>
              <a:off x="7408344" y="1796298"/>
              <a:ext cx="2885657" cy="307777"/>
            </a:xfrm>
            <a:prstGeom prst="rect">
              <a:avLst/>
            </a:prstGeom>
            <a:noFill/>
          </p:spPr>
          <p:txBody>
            <a:bodyPr wrap="square" lIns="0" tIns="0" rIns="0" bIns="0" anchor="t">
              <a:spAutoFit/>
            </a:bodyPr>
            <a:lstStyle/>
            <a:p>
              <a:pPr algn="l"/>
              <a:r>
                <a:rPr sz="2000" b="1" i="0" u="none" dirty="0">
                  <a:solidFill>
                    <a:srgbClr val="FFFFFF"/>
                  </a:solidFill>
                  <a:latin typeface="Plus Jakarta Sans"/>
                </a:rPr>
                <a:t>We need your input!</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5D8FF-BA3C-AD83-94A7-05A0DCB26570}"/>
              </a:ext>
            </a:extLst>
          </p:cNvPr>
          <p:cNvSpPr>
            <a:spLocks noGrp="1"/>
          </p:cNvSpPr>
          <p:nvPr>
            <p:ph type="title"/>
          </p:nvPr>
        </p:nvSpPr>
        <p:spPr>
          <a:xfrm>
            <a:off x="426720" y="365125"/>
            <a:ext cx="7827932" cy="2616069"/>
          </a:xfrm>
        </p:spPr>
        <p:txBody>
          <a:bodyPr/>
          <a:lstStyle/>
          <a:p>
            <a:r>
              <a:rPr lang="en-US" dirty="0"/>
              <a:t>ASM BIG 2026 NCBI Workshop </a:t>
            </a:r>
            <a:br>
              <a:rPr lang="en-US" dirty="0"/>
            </a:br>
            <a:r>
              <a:rPr lang="en-US" sz="4000" dirty="0"/>
              <a:t>NCBI Pathogen Detection</a:t>
            </a:r>
            <a:endParaRPr lang="en-US" dirty="0"/>
          </a:p>
        </p:txBody>
      </p:sp>
      <p:sp>
        <p:nvSpPr>
          <p:cNvPr id="3" name="Text Placeholder 2">
            <a:extLst>
              <a:ext uri="{FF2B5EF4-FFF2-40B4-BE49-F238E27FC236}">
                <a16:creationId xmlns:a16="http://schemas.microsoft.com/office/drawing/2014/main" id="{AA1B7D85-FF5C-A1F9-5102-A1369F502494}"/>
              </a:ext>
            </a:extLst>
          </p:cNvPr>
          <p:cNvSpPr>
            <a:spLocks noGrp="1"/>
          </p:cNvSpPr>
          <p:nvPr>
            <p:ph type="body" sz="quarter" idx="4294967295"/>
          </p:nvPr>
        </p:nvSpPr>
        <p:spPr>
          <a:xfrm>
            <a:off x="426720" y="2912705"/>
            <a:ext cx="6946900" cy="1928203"/>
          </a:xfrm>
        </p:spPr>
        <p:txBody>
          <a:bodyPr>
            <a:normAutofit/>
          </a:bodyPr>
          <a:lstStyle/>
          <a:p>
            <a:pPr marL="0" indent="0">
              <a:buNone/>
            </a:pPr>
            <a:r>
              <a:rPr lang="en-US" dirty="0"/>
              <a:t>Arjun Prasad</a:t>
            </a:r>
            <a:br>
              <a:rPr lang="en-US" dirty="0"/>
            </a:br>
            <a:r>
              <a:rPr lang="en-US" sz="2800" dirty="0"/>
              <a:t>October 11, 2026</a:t>
            </a:r>
            <a:endParaRPr lang="en-US" dirty="0"/>
          </a:p>
        </p:txBody>
      </p:sp>
    </p:spTree>
    <p:extLst>
      <p:ext uri="{BB962C8B-B14F-4D97-AF65-F5344CB8AC3E}">
        <p14:creationId xmlns:p14="http://schemas.microsoft.com/office/powerpoint/2010/main" val="1459050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EAFAF836-792F-4FEE-9722-6B817A259CD9}"/>
              </a:ext>
            </a:extLst>
          </p:cNvPr>
          <p:cNvGrpSpPr/>
          <p:nvPr/>
        </p:nvGrpSpPr>
        <p:grpSpPr>
          <a:xfrm>
            <a:off x="237818" y="344163"/>
            <a:ext cx="10748671" cy="5928800"/>
            <a:chOff x="612161" y="-6079"/>
            <a:chExt cx="11870573" cy="6885483"/>
          </a:xfrm>
        </p:grpSpPr>
        <p:sp>
          <p:nvSpPr>
            <p:cNvPr id="5" name="TextBox 4">
              <a:extLst>
                <a:ext uri="{FF2B5EF4-FFF2-40B4-BE49-F238E27FC236}">
                  <a16:creationId xmlns:a16="http://schemas.microsoft.com/office/drawing/2014/main" id="{55BAF201-C3B1-497C-800B-CC28A285FA32}"/>
                </a:ext>
              </a:extLst>
            </p:cNvPr>
            <p:cNvSpPr txBox="1"/>
            <p:nvPr/>
          </p:nvSpPr>
          <p:spPr>
            <a:xfrm>
              <a:off x="3571608" y="-6079"/>
              <a:ext cx="4319930" cy="536160"/>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NCBI Pathogen Detection</a:t>
              </a:r>
            </a:p>
          </p:txBody>
        </p:sp>
        <p:grpSp>
          <p:nvGrpSpPr>
            <p:cNvPr id="6" name="Group 5">
              <a:extLst>
                <a:ext uri="{FF2B5EF4-FFF2-40B4-BE49-F238E27FC236}">
                  <a16:creationId xmlns:a16="http://schemas.microsoft.com/office/drawing/2014/main" id="{A9DF2845-5844-4876-8D88-74D64329490A}"/>
                </a:ext>
              </a:extLst>
            </p:cNvPr>
            <p:cNvGrpSpPr/>
            <p:nvPr/>
          </p:nvGrpSpPr>
          <p:grpSpPr>
            <a:xfrm>
              <a:off x="612161" y="702308"/>
              <a:ext cx="11870573" cy="6177096"/>
              <a:chOff x="37892" y="43236"/>
              <a:chExt cx="12444842" cy="6856111"/>
            </a:xfrm>
          </p:grpSpPr>
          <p:sp>
            <p:nvSpPr>
              <p:cNvPr id="7" name="Rounded Rectangle 111">
                <a:extLst>
                  <a:ext uri="{FF2B5EF4-FFF2-40B4-BE49-F238E27FC236}">
                    <a16:creationId xmlns:a16="http://schemas.microsoft.com/office/drawing/2014/main" id="{7C49B8FA-86B1-485A-A8FE-850E4DB20BE5}"/>
                  </a:ext>
                </a:extLst>
              </p:cNvPr>
              <p:cNvSpPr/>
              <p:nvPr/>
            </p:nvSpPr>
            <p:spPr>
              <a:xfrm>
                <a:off x="6660806" y="43236"/>
                <a:ext cx="5821928" cy="6586163"/>
              </a:xfrm>
              <a:prstGeom prst="roundRect">
                <a:avLst/>
              </a:prstGeom>
              <a:solidFill>
                <a:schemeClr val="accent1">
                  <a:alpha val="12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3A3BD6DA-5F77-42D4-886C-8DADED01CA42}"/>
                  </a:ext>
                </a:extLst>
              </p:cNvPr>
              <p:cNvSpPr/>
              <p:nvPr/>
            </p:nvSpPr>
            <p:spPr>
              <a:xfrm>
                <a:off x="6170556" y="993069"/>
                <a:ext cx="994117" cy="481699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E2C7ED7-3775-405D-B668-631EE3DF1E34}"/>
                  </a:ext>
                </a:extLst>
              </p:cNvPr>
              <p:cNvGrpSpPr/>
              <p:nvPr/>
            </p:nvGrpSpPr>
            <p:grpSpPr>
              <a:xfrm>
                <a:off x="2217556" y="1608978"/>
                <a:ext cx="3985559" cy="817256"/>
                <a:chOff x="2235135" y="2972082"/>
                <a:chExt cx="3985559" cy="817256"/>
              </a:xfrm>
            </p:grpSpPr>
            <p:sp>
              <p:nvSpPr>
                <p:cNvPr id="49" name="Rounded Rectangle 19">
                  <a:extLst>
                    <a:ext uri="{FF2B5EF4-FFF2-40B4-BE49-F238E27FC236}">
                      <a16:creationId xmlns:a16="http://schemas.microsoft.com/office/drawing/2014/main" id="{99F0D0E2-9D09-43AD-931C-A523397DA34D}"/>
                    </a:ext>
                  </a:extLst>
                </p:cNvPr>
                <p:cNvSpPr/>
                <p:nvPr/>
              </p:nvSpPr>
              <p:spPr>
                <a:xfrm>
                  <a:off x="2235135" y="2972082"/>
                  <a:ext cx="1233058" cy="817256"/>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cs typeface="Arial" panose="020B0604020202020204" pitchFamily="34" charset="0"/>
                  </a:endParaRPr>
                </a:p>
              </p:txBody>
            </p:sp>
            <p:grpSp>
              <p:nvGrpSpPr>
                <p:cNvPr id="50" name="Group 49">
                  <a:extLst>
                    <a:ext uri="{FF2B5EF4-FFF2-40B4-BE49-F238E27FC236}">
                      <a16:creationId xmlns:a16="http://schemas.microsoft.com/office/drawing/2014/main" id="{4AF82B7C-F11A-4FE3-8676-823105A215BA}"/>
                    </a:ext>
                  </a:extLst>
                </p:cNvPr>
                <p:cNvGrpSpPr/>
                <p:nvPr/>
              </p:nvGrpSpPr>
              <p:grpSpPr>
                <a:xfrm>
                  <a:off x="2348757" y="3095596"/>
                  <a:ext cx="3871937" cy="573422"/>
                  <a:chOff x="2348757" y="3095596"/>
                  <a:chExt cx="3871937" cy="573422"/>
                </a:xfrm>
              </p:grpSpPr>
              <p:pic>
                <p:nvPicPr>
                  <p:cNvPr id="51" name="Picture 50">
                    <a:extLst>
                      <a:ext uri="{FF2B5EF4-FFF2-40B4-BE49-F238E27FC236}">
                        <a16:creationId xmlns:a16="http://schemas.microsoft.com/office/drawing/2014/main" id="{01327326-D949-40D2-8E5A-07659FDE76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8757" y="3095596"/>
                    <a:ext cx="969356" cy="573422"/>
                  </a:xfrm>
                  <a:prstGeom prst="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p:spPr>
              </p:pic>
              <p:cxnSp>
                <p:nvCxnSpPr>
                  <p:cNvPr id="52" name="Straight Arrow Connector 51">
                    <a:extLst>
                      <a:ext uri="{FF2B5EF4-FFF2-40B4-BE49-F238E27FC236}">
                        <a16:creationId xmlns:a16="http://schemas.microsoft.com/office/drawing/2014/main" id="{57D150D4-16F2-4FC6-A2D1-00CCE7A4AA6E}"/>
                      </a:ext>
                    </a:extLst>
                  </p:cNvPr>
                  <p:cNvCxnSpPr>
                    <a:cxnSpLocks/>
                    <a:stCxn id="49" idx="3"/>
                  </p:cNvCxnSpPr>
                  <p:nvPr/>
                </p:nvCxnSpPr>
                <p:spPr>
                  <a:xfrm>
                    <a:off x="3468193" y="3380711"/>
                    <a:ext cx="2752501" cy="0"/>
                  </a:xfrm>
                  <a:prstGeom prst="straightConnector1">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0" name="Group 9">
                <a:extLst>
                  <a:ext uri="{FF2B5EF4-FFF2-40B4-BE49-F238E27FC236}">
                    <a16:creationId xmlns:a16="http://schemas.microsoft.com/office/drawing/2014/main" id="{6ECC8670-21F3-430E-B1BE-679A9B70EC1B}"/>
                  </a:ext>
                </a:extLst>
              </p:cNvPr>
              <p:cNvGrpSpPr/>
              <p:nvPr/>
            </p:nvGrpSpPr>
            <p:grpSpPr>
              <a:xfrm>
                <a:off x="2217556" y="731319"/>
                <a:ext cx="3975222" cy="751026"/>
                <a:chOff x="2217556" y="731319"/>
                <a:chExt cx="3975222" cy="751026"/>
              </a:xfrm>
            </p:grpSpPr>
            <p:sp>
              <p:nvSpPr>
                <p:cNvPr id="46" name="Rounded Rectangle 28">
                  <a:extLst>
                    <a:ext uri="{FF2B5EF4-FFF2-40B4-BE49-F238E27FC236}">
                      <a16:creationId xmlns:a16="http://schemas.microsoft.com/office/drawing/2014/main" id="{8743CCDE-93D6-474E-AC37-4B89B267A1A8}"/>
                    </a:ext>
                  </a:extLst>
                </p:cNvPr>
                <p:cNvSpPr/>
                <p:nvPr/>
              </p:nvSpPr>
              <p:spPr>
                <a:xfrm>
                  <a:off x="2217556" y="731319"/>
                  <a:ext cx="1233059" cy="751026"/>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cs typeface="Arial" panose="020B0604020202020204" pitchFamily="34" charset="0"/>
                  </a:endParaRPr>
                </a:p>
              </p:txBody>
            </p:sp>
            <p:pic>
              <p:nvPicPr>
                <p:cNvPr id="47" name="Picture 46">
                  <a:extLst>
                    <a:ext uri="{FF2B5EF4-FFF2-40B4-BE49-F238E27FC236}">
                      <a16:creationId xmlns:a16="http://schemas.microsoft.com/office/drawing/2014/main" id="{5AAD4B44-D915-4F3C-B3B6-2EAB71DCC6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64281" y="883817"/>
                  <a:ext cx="1090958" cy="484871"/>
                </a:xfrm>
                <a:prstGeom prst="rect">
                  <a:avLst/>
                </a:prstGeom>
                <a:gradFill flip="none" rotWithShape="1">
                  <a:gsLst>
                    <a:gs pos="39000">
                      <a:schemeClr val="tx2">
                        <a:lumMod val="20000"/>
                        <a:lumOff val="80000"/>
                      </a:schemeClr>
                    </a:gs>
                    <a:gs pos="62000">
                      <a:schemeClr val="tx2">
                        <a:lumMod val="20000"/>
                        <a:lumOff val="80000"/>
                      </a:schemeClr>
                    </a:gs>
                    <a:gs pos="8000">
                      <a:schemeClr val="tx2">
                        <a:lumMod val="60000"/>
                        <a:lumOff val="40000"/>
                      </a:schemeClr>
                    </a:gs>
                  </a:gsLst>
                  <a:lin ang="0" scaled="1"/>
                  <a:tileRect/>
                </a:gradFill>
              </p:spPr>
            </p:pic>
            <p:cxnSp>
              <p:nvCxnSpPr>
                <p:cNvPr id="48" name="Straight Arrow Connector 47">
                  <a:extLst>
                    <a:ext uri="{FF2B5EF4-FFF2-40B4-BE49-F238E27FC236}">
                      <a16:creationId xmlns:a16="http://schemas.microsoft.com/office/drawing/2014/main" id="{BC1A0C07-95DA-4F30-901C-0CB8A37E5421}"/>
                    </a:ext>
                  </a:extLst>
                </p:cNvPr>
                <p:cNvCxnSpPr>
                  <a:cxnSpLocks/>
                </p:cNvCxnSpPr>
                <p:nvPr/>
              </p:nvCxnSpPr>
              <p:spPr>
                <a:xfrm>
                  <a:off x="3450615" y="1236908"/>
                  <a:ext cx="2742163" cy="6044"/>
                </a:xfrm>
                <a:prstGeom prst="straightConnector1">
                  <a:avLst/>
                </a:prstGeom>
                <a:gradFill flip="none" rotWithShape="1">
                  <a:gsLst>
                    <a:gs pos="39000">
                      <a:schemeClr val="tx2">
                        <a:lumMod val="20000"/>
                        <a:lumOff val="80000"/>
                      </a:schemeClr>
                    </a:gs>
                    <a:gs pos="62000">
                      <a:schemeClr val="tx2">
                        <a:lumMod val="20000"/>
                        <a:lumOff val="80000"/>
                      </a:schemeClr>
                    </a:gs>
                    <a:gs pos="8000">
                      <a:schemeClr val="tx2">
                        <a:lumMod val="60000"/>
                        <a:lumOff val="40000"/>
                      </a:schemeClr>
                    </a:gs>
                  </a:gsLst>
                  <a:lin ang="0" scaled="1"/>
                  <a:tileRect/>
                </a:gradFill>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CC0AC917-A1E4-46C9-8102-95EBF33BC349}"/>
                  </a:ext>
                </a:extLst>
              </p:cNvPr>
              <p:cNvGrpSpPr/>
              <p:nvPr/>
            </p:nvGrpSpPr>
            <p:grpSpPr>
              <a:xfrm>
                <a:off x="2209824" y="2552867"/>
                <a:ext cx="3967301" cy="691347"/>
                <a:chOff x="2235135" y="1582276"/>
                <a:chExt cx="3967301" cy="691347"/>
              </a:xfrm>
            </p:grpSpPr>
            <p:sp>
              <p:nvSpPr>
                <p:cNvPr id="44" name="Rounded Rectangle 48">
                  <a:extLst>
                    <a:ext uri="{FF2B5EF4-FFF2-40B4-BE49-F238E27FC236}">
                      <a16:creationId xmlns:a16="http://schemas.microsoft.com/office/drawing/2014/main" id="{05A15DCC-1A70-459D-9CF7-D44FCF8732D3}"/>
                    </a:ext>
                  </a:extLst>
                </p:cNvPr>
                <p:cNvSpPr/>
                <p:nvPr/>
              </p:nvSpPr>
              <p:spPr>
                <a:xfrm>
                  <a:off x="2235135" y="1582276"/>
                  <a:ext cx="1247360" cy="691347"/>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cxnSp>
              <p:nvCxnSpPr>
                <p:cNvPr id="45" name="Straight Arrow Connector 44">
                  <a:extLst>
                    <a:ext uri="{FF2B5EF4-FFF2-40B4-BE49-F238E27FC236}">
                      <a16:creationId xmlns:a16="http://schemas.microsoft.com/office/drawing/2014/main" id="{54340804-593C-4B2D-9ACF-E82283572130}"/>
                    </a:ext>
                  </a:extLst>
                </p:cNvPr>
                <p:cNvCxnSpPr>
                  <a:stCxn id="44" idx="3"/>
                </p:cNvCxnSpPr>
                <p:nvPr/>
              </p:nvCxnSpPr>
              <p:spPr>
                <a:xfrm flipV="1">
                  <a:off x="3482495" y="1927514"/>
                  <a:ext cx="2719941" cy="436"/>
                </a:xfrm>
                <a:prstGeom prst="straightConnector1">
                  <a:avLst/>
                </a:prstGeom>
                <a:gradFill flip="none" rotWithShape="1">
                  <a:gsLst>
                    <a:gs pos="39000">
                      <a:schemeClr val="tx2">
                        <a:lumMod val="20000"/>
                        <a:lumOff val="80000"/>
                      </a:schemeClr>
                    </a:gs>
                    <a:gs pos="62000">
                      <a:schemeClr val="tx2">
                        <a:lumMod val="20000"/>
                        <a:lumOff val="80000"/>
                      </a:schemeClr>
                    </a:gs>
                    <a:gs pos="8000">
                      <a:schemeClr val="tx2">
                        <a:lumMod val="60000"/>
                        <a:lumOff val="40000"/>
                      </a:schemeClr>
                    </a:gs>
                  </a:gsLst>
                  <a:lin ang="0" scaled="1"/>
                  <a:tileRect/>
                </a:gradFill>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3F0E450D-579B-495C-B45F-673681173FD6}"/>
                  </a:ext>
                </a:extLst>
              </p:cNvPr>
              <p:cNvGrpSpPr/>
              <p:nvPr/>
            </p:nvGrpSpPr>
            <p:grpSpPr>
              <a:xfrm>
                <a:off x="1776588" y="5232993"/>
                <a:ext cx="4424966" cy="560138"/>
                <a:chOff x="1406933" y="1035418"/>
                <a:chExt cx="4818744" cy="560138"/>
              </a:xfrm>
              <a:gradFill flip="none" rotWithShape="1">
                <a:gsLst>
                  <a:gs pos="100000">
                    <a:schemeClr val="accent1">
                      <a:lumMod val="0"/>
                      <a:lumOff val="100000"/>
                    </a:schemeClr>
                  </a:gs>
                  <a:gs pos="100000">
                    <a:schemeClr val="accent1">
                      <a:lumMod val="0"/>
                      <a:lumOff val="100000"/>
                    </a:schemeClr>
                  </a:gs>
                  <a:gs pos="0">
                    <a:schemeClr val="accent1">
                      <a:lumMod val="100000"/>
                    </a:schemeClr>
                  </a:gs>
                </a:gsLst>
                <a:lin ang="0" scaled="1"/>
                <a:tileRect/>
              </a:gradFill>
            </p:grpSpPr>
            <p:sp>
              <p:nvSpPr>
                <p:cNvPr id="42" name="Rounded Rectangle 67">
                  <a:extLst>
                    <a:ext uri="{FF2B5EF4-FFF2-40B4-BE49-F238E27FC236}">
                      <a16:creationId xmlns:a16="http://schemas.microsoft.com/office/drawing/2014/main" id="{6EE34B47-8B8B-4153-AD05-75E152A5E004}"/>
                    </a:ext>
                  </a:extLst>
                </p:cNvPr>
                <p:cNvSpPr/>
                <p:nvPr/>
              </p:nvSpPr>
              <p:spPr>
                <a:xfrm>
                  <a:off x="1406933" y="1035418"/>
                  <a:ext cx="1856755" cy="560138"/>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Clinical sources</a:t>
                  </a:r>
                </a:p>
              </p:txBody>
            </p:sp>
            <p:cxnSp>
              <p:nvCxnSpPr>
                <p:cNvPr id="43" name="Straight Arrow Connector 42">
                  <a:extLst>
                    <a:ext uri="{FF2B5EF4-FFF2-40B4-BE49-F238E27FC236}">
                      <a16:creationId xmlns:a16="http://schemas.microsoft.com/office/drawing/2014/main" id="{D892E1B3-8AF9-48E4-9031-ECFF35A7EB8F}"/>
                    </a:ext>
                  </a:extLst>
                </p:cNvPr>
                <p:cNvCxnSpPr>
                  <a:cxnSpLocks/>
                  <a:stCxn id="42" idx="3"/>
                </p:cNvCxnSpPr>
                <p:nvPr/>
              </p:nvCxnSpPr>
              <p:spPr>
                <a:xfrm>
                  <a:off x="3263688" y="1315487"/>
                  <a:ext cx="2961989" cy="1307"/>
                </a:xfrm>
                <a:prstGeom prst="straightConnector1">
                  <a:avLst/>
                </a:prstGeom>
                <a:grpFill/>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6168CFA7-10D6-40E9-B213-6810D5156337}"/>
                  </a:ext>
                </a:extLst>
              </p:cNvPr>
              <p:cNvSpPr txBox="1"/>
              <p:nvPr/>
            </p:nvSpPr>
            <p:spPr>
              <a:xfrm rot="16200000">
                <a:off x="5989280" y="2972970"/>
                <a:ext cx="1343515" cy="605786"/>
              </a:xfrm>
              <a:prstGeom prst="rect">
                <a:avLst/>
              </a:prstGeom>
              <a:noFill/>
            </p:spPr>
            <p:txBody>
              <a:bodyPr wrap="none" rtlCol="0">
                <a:spAutoFit/>
              </a:bodyPr>
              <a:lstStyle/>
              <a:p>
                <a:r>
                  <a:rPr lang="en-US" sz="2800" dirty="0">
                    <a:latin typeface="Arial" panose="020B0604020202020204" pitchFamily="34" charset="0"/>
                    <a:cs typeface="Arial" panose="020B0604020202020204" pitchFamily="34" charset="0"/>
                  </a:rPr>
                  <a:t>NCBI</a:t>
                </a:r>
              </a:p>
            </p:txBody>
          </p:sp>
          <p:grpSp>
            <p:nvGrpSpPr>
              <p:cNvPr id="14" name="Group 13">
                <a:extLst>
                  <a:ext uri="{FF2B5EF4-FFF2-40B4-BE49-F238E27FC236}">
                    <a16:creationId xmlns:a16="http://schemas.microsoft.com/office/drawing/2014/main" id="{3053C77D-B9D7-478E-85E1-EB2025208B5B}"/>
                  </a:ext>
                </a:extLst>
              </p:cNvPr>
              <p:cNvGrpSpPr/>
              <p:nvPr/>
            </p:nvGrpSpPr>
            <p:grpSpPr>
              <a:xfrm>
                <a:off x="7331757" y="1599805"/>
                <a:ext cx="1409230" cy="3574442"/>
                <a:chOff x="7737227" y="-46279"/>
                <a:chExt cx="1409230" cy="2800468"/>
              </a:xfrm>
              <a:solidFill>
                <a:schemeClr val="accent4">
                  <a:lumMod val="40000"/>
                  <a:lumOff val="60000"/>
                </a:schemeClr>
              </a:solidFill>
            </p:grpSpPr>
            <p:sp>
              <p:nvSpPr>
                <p:cNvPr id="38" name="Flowchart: Magnetic Disk 37">
                  <a:extLst>
                    <a:ext uri="{FF2B5EF4-FFF2-40B4-BE49-F238E27FC236}">
                      <a16:creationId xmlns:a16="http://schemas.microsoft.com/office/drawing/2014/main" id="{214ADA61-0C22-40D3-ACBE-79BFFD6E2F02}"/>
                    </a:ext>
                  </a:extLst>
                </p:cNvPr>
                <p:cNvSpPr/>
                <p:nvPr/>
              </p:nvSpPr>
              <p:spPr>
                <a:xfrm>
                  <a:off x="7737228" y="700403"/>
                  <a:ext cx="1406771" cy="560390"/>
                </a:xfrm>
                <a:prstGeom prst="flowChartMagneticDisk">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BioSamples</a:t>
                  </a:r>
                </a:p>
              </p:txBody>
            </p:sp>
            <p:sp>
              <p:nvSpPr>
                <p:cNvPr id="39" name="Flowchart: Magnetic Disk 38">
                  <a:extLst>
                    <a:ext uri="{FF2B5EF4-FFF2-40B4-BE49-F238E27FC236}">
                      <a16:creationId xmlns:a16="http://schemas.microsoft.com/office/drawing/2014/main" id="{E4229EE1-BF76-4833-9443-1ACB13029D0C}"/>
                    </a:ext>
                  </a:extLst>
                </p:cNvPr>
                <p:cNvSpPr/>
                <p:nvPr/>
              </p:nvSpPr>
              <p:spPr>
                <a:xfrm>
                  <a:off x="7739686" y="1447094"/>
                  <a:ext cx="1406771" cy="560390"/>
                </a:xfrm>
                <a:prstGeom prst="flowChartMagneticDisk">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SRA</a:t>
                  </a:r>
                </a:p>
              </p:txBody>
            </p:sp>
            <p:sp>
              <p:nvSpPr>
                <p:cNvPr id="40" name="Flowchart: Magnetic Disk 39">
                  <a:extLst>
                    <a:ext uri="{FF2B5EF4-FFF2-40B4-BE49-F238E27FC236}">
                      <a16:creationId xmlns:a16="http://schemas.microsoft.com/office/drawing/2014/main" id="{E4E1DE9D-73E3-46E7-826B-E13A3EFE8253}"/>
                    </a:ext>
                  </a:extLst>
                </p:cNvPr>
                <p:cNvSpPr/>
                <p:nvPr/>
              </p:nvSpPr>
              <p:spPr>
                <a:xfrm>
                  <a:off x="7737227" y="2193799"/>
                  <a:ext cx="1406771" cy="560390"/>
                </a:xfrm>
                <a:prstGeom prst="flowChartMagneticDisk">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GenBank</a:t>
                  </a:r>
                </a:p>
              </p:txBody>
            </p:sp>
            <p:sp>
              <p:nvSpPr>
                <p:cNvPr id="41" name="Flowchart: Magnetic Disk 40">
                  <a:extLst>
                    <a:ext uri="{FF2B5EF4-FFF2-40B4-BE49-F238E27FC236}">
                      <a16:creationId xmlns:a16="http://schemas.microsoft.com/office/drawing/2014/main" id="{5FC17EDE-0B89-4EB6-BF5E-8D7BAD3A321A}"/>
                    </a:ext>
                  </a:extLst>
                </p:cNvPr>
                <p:cNvSpPr/>
                <p:nvPr/>
              </p:nvSpPr>
              <p:spPr>
                <a:xfrm>
                  <a:off x="7737228" y="-46279"/>
                  <a:ext cx="1406771" cy="560390"/>
                </a:xfrm>
                <a:prstGeom prst="flowChartMagneticDisk">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BioProject</a:t>
                  </a:r>
                </a:p>
              </p:txBody>
            </p:sp>
          </p:grpSp>
          <p:sp>
            <p:nvSpPr>
              <p:cNvPr id="15" name="Rectangle 14">
                <a:extLst>
                  <a:ext uri="{FF2B5EF4-FFF2-40B4-BE49-F238E27FC236}">
                    <a16:creationId xmlns:a16="http://schemas.microsoft.com/office/drawing/2014/main" id="{0FF5D42F-8A38-498D-8386-B53D3BB69240}"/>
                  </a:ext>
                </a:extLst>
              </p:cNvPr>
              <p:cNvSpPr/>
              <p:nvPr/>
            </p:nvSpPr>
            <p:spPr>
              <a:xfrm>
                <a:off x="8869104" y="531828"/>
                <a:ext cx="3181256" cy="517840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0BB506D0-C3C6-4BD6-A811-5CBB090FEAFC}"/>
                  </a:ext>
                </a:extLst>
              </p:cNvPr>
              <p:cNvSpPr txBox="1"/>
              <p:nvPr/>
            </p:nvSpPr>
            <p:spPr>
              <a:xfrm>
                <a:off x="9063405" y="789654"/>
                <a:ext cx="2919880" cy="453297"/>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NCBI Pathogen Pipeline</a:t>
                </a:r>
              </a:p>
            </p:txBody>
          </p:sp>
          <p:grpSp>
            <p:nvGrpSpPr>
              <p:cNvPr id="17" name="Group 16">
                <a:extLst>
                  <a:ext uri="{FF2B5EF4-FFF2-40B4-BE49-F238E27FC236}">
                    <a16:creationId xmlns:a16="http://schemas.microsoft.com/office/drawing/2014/main" id="{0CFF5CDA-88F4-4871-ADE1-04843908CCE6}"/>
                  </a:ext>
                </a:extLst>
              </p:cNvPr>
              <p:cNvGrpSpPr/>
              <p:nvPr/>
            </p:nvGrpSpPr>
            <p:grpSpPr>
              <a:xfrm>
                <a:off x="5410199" y="5697082"/>
                <a:ext cx="5113146" cy="576237"/>
                <a:chOff x="2219468" y="5680145"/>
                <a:chExt cx="8217696" cy="930205"/>
              </a:xfrm>
            </p:grpSpPr>
            <p:cxnSp>
              <p:nvCxnSpPr>
                <p:cNvPr id="36" name="Straight Connector 35">
                  <a:extLst>
                    <a:ext uri="{FF2B5EF4-FFF2-40B4-BE49-F238E27FC236}">
                      <a16:creationId xmlns:a16="http://schemas.microsoft.com/office/drawing/2014/main" id="{4DF63039-61A2-4E72-BCFF-923C35DFAED4}"/>
                    </a:ext>
                  </a:extLst>
                </p:cNvPr>
                <p:cNvCxnSpPr>
                  <a:cxnSpLocks/>
                </p:cNvCxnSpPr>
                <p:nvPr/>
              </p:nvCxnSpPr>
              <p:spPr>
                <a:xfrm>
                  <a:off x="10377053" y="5680145"/>
                  <a:ext cx="0" cy="930205"/>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1618E75-EC6A-4956-A651-9919730A4DAE}"/>
                    </a:ext>
                  </a:extLst>
                </p:cNvPr>
                <p:cNvCxnSpPr>
                  <a:cxnSpLocks/>
                </p:cNvCxnSpPr>
                <p:nvPr/>
              </p:nvCxnSpPr>
              <p:spPr>
                <a:xfrm flipH="1">
                  <a:off x="2219468" y="6610350"/>
                  <a:ext cx="8217696" cy="0"/>
                </a:xfrm>
                <a:prstGeom prst="straightConnector1">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Flowchart: Multidocument 17">
                <a:extLst>
                  <a:ext uri="{FF2B5EF4-FFF2-40B4-BE49-F238E27FC236}">
                    <a16:creationId xmlns:a16="http://schemas.microsoft.com/office/drawing/2014/main" id="{5BCC2FD2-43AA-42B0-B0ED-38AF3D34B305}"/>
                  </a:ext>
                </a:extLst>
              </p:cNvPr>
              <p:cNvSpPr/>
              <p:nvPr/>
            </p:nvSpPr>
            <p:spPr>
              <a:xfrm>
                <a:off x="3877228" y="5939023"/>
                <a:ext cx="1527740" cy="758952"/>
              </a:xfrm>
              <a:prstGeom prst="flowChartMultidocument">
                <a:avLst/>
              </a:prstGeom>
              <a:gradFill flip="none" rotWithShape="1">
                <a:gsLst>
                  <a:gs pos="39000">
                    <a:schemeClr val="tx2">
                      <a:lumMod val="20000"/>
                      <a:lumOff val="80000"/>
                    </a:schemeClr>
                  </a:gs>
                  <a:gs pos="62000">
                    <a:schemeClr val="tx2">
                      <a:lumMod val="20000"/>
                      <a:lumOff val="80000"/>
                    </a:schemeClr>
                  </a:gs>
                  <a:gs pos="8000">
                    <a:schemeClr val="tx2">
                      <a:lumMod val="60000"/>
                      <a:lumOff val="4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Arial" panose="020B0604020202020204" pitchFamily="34" charset="0"/>
                    <a:cs typeface="Arial" panose="020B0604020202020204" pitchFamily="34" charset="0"/>
                  </a:rPr>
                  <a:t>Reports</a:t>
                </a:r>
              </a:p>
            </p:txBody>
          </p:sp>
          <p:pic>
            <p:nvPicPr>
              <p:cNvPr id="19" name="Picture 18">
                <a:extLst>
                  <a:ext uri="{FF2B5EF4-FFF2-40B4-BE49-F238E27FC236}">
                    <a16:creationId xmlns:a16="http://schemas.microsoft.com/office/drawing/2014/main" id="{1A60ACDD-5B9F-453C-AADC-5B9295702D7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85156" y="480046"/>
                <a:ext cx="699972" cy="860265"/>
              </a:xfrm>
              <a:prstGeom prst="rect">
                <a:avLst/>
              </a:prstGeom>
            </p:spPr>
          </p:pic>
          <p:grpSp>
            <p:nvGrpSpPr>
              <p:cNvPr id="20" name="Group 19">
                <a:extLst>
                  <a:ext uri="{FF2B5EF4-FFF2-40B4-BE49-F238E27FC236}">
                    <a16:creationId xmlns:a16="http://schemas.microsoft.com/office/drawing/2014/main" id="{5BDDE569-6F28-4201-8435-C95027C2CFD1}"/>
                  </a:ext>
                </a:extLst>
              </p:cNvPr>
              <p:cNvGrpSpPr/>
              <p:nvPr/>
            </p:nvGrpSpPr>
            <p:grpSpPr>
              <a:xfrm>
                <a:off x="2139244" y="4310461"/>
                <a:ext cx="4062309" cy="812981"/>
                <a:chOff x="2139244" y="4246350"/>
                <a:chExt cx="4062309" cy="812981"/>
              </a:xfrm>
            </p:grpSpPr>
            <p:sp>
              <p:nvSpPr>
                <p:cNvPr id="34" name="Rounded Rectangle 54">
                  <a:extLst>
                    <a:ext uri="{FF2B5EF4-FFF2-40B4-BE49-F238E27FC236}">
                      <a16:creationId xmlns:a16="http://schemas.microsoft.com/office/drawing/2014/main" id="{C149D953-BB70-4FFA-B1B3-BB17D5969490}"/>
                    </a:ext>
                  </a:extLst>
                </p:cNvPr>
                <p:cNvSpPr/>
                <p:nvPr/>
              </p:nvSpPr>
              <p:spPr>
                <a:xfrm>
                  <a:off x="2139244" y="4246350"/>
                  <a:ext cx="1298391" cy="812981"/>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dirty="0">
                      <a:latin typeface="Arial" panose="020B0604020202020204" pitchFamily="34" charset="0"/>
                      <a:cs typeface="Arial" panose="020B0604020202020204" pitchFamily="34" charset="0"/>
                    </a:rPr>
                    <a:t>Basic </a:t>
                  </a:r>
                  <a:r>
                    <a:rPr lang="en-US" sz="1200" dirty="0">
                      <a:latin typeface="Arial" panose="020B0604020202020204" pitchFamily="34" charset="0"/>
                      <a:cs typeface="Arial" panose="020B0604020202020204" pitchFamily="34" charset="0"/>
                    </a:rPr>
                    <a:t>researchers</a:t>
                  </a:r>
                </a:p>
              </p:txBody>
            </p:sp>
            <p:cxnSp>
              <p:nvCxnSpPr>
                <p:cNvPr id="35" name="Straight Arrow Connector 34">
                  <a:extLst>
                    <a:ext uri="{FF2B5EF4-FFF2-40B4-BE49-F238E27FC236}">
                      <a16:creationId xmlns:a16="http://schemas.microsoft.com/office/drawing/2014/main" id="{64C5CDD9-438B-4330-82B0-895226F34E76}"/>
                    </a:ext>
                  </a:extLst>
                </p:cNvPr>
                <p:cNvCxnSpPr>
                  <a:cxnSpLocks/>
                </p:cNvCxnSpPr>
                <p:nvPr/>
              </p:nvCxnSpPr>
              <p:spPr>
                <a:xfrm>
                  <a:off x="3437635" y="4653444"/>
                  <a:ext cx="2763918" cy="0"/>
                </a:xfrm>
                <a:prstGeom prst="straightConnector1">
                  <a:avLst/>
                </a:prstGeom>
                <a:gradFill flip="none" rotWithShape="1">
                  <a:gsLst>
                    <a:gs pos="0">
                      <a:schemeClr val="tx2">
                        <a:lumMod val="60000"/>
                        <a:lumOff val="40000"/>
                      </a:schemeClr>
                    </a:gs>
                    <a:gs pos="50000">
                      <a:schemeClr val="tx2">
                        <a:lumMod val="40000"/>
                        <a:lumOff val="60000"/>
                      </a:schemeClr>
                    </a:gs>
                    <a:gs pos="83000">
                      <a:schemeClr val="accent1">
                        <a:lumMod val="45000"/>
                        <a:lumOff val="55000"/>
                      </a:schemeClr>
                    </a:gs>
                    <a:gs pos="100000">
                      <a:schemeClr val="accent1">
                        <a:lumMod val="30000"/>
                        <a:lumOff val="70000"/>
                      </a:schemeClr>
                    </a:gs>
                  </a:gsLst>
                  <a:lin ang="0" scaled="1"/>
                  <a:tileRect/>
                </a:gradFill>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62C940A8-4D77-4BEC-8BF7-F8D96C758C03}"/>
                  </a:ext>
                </a:extLst>
              </p:cNvPr>
              <p:cNvGrpSpPr/>
              <p:nvPr/>
            </p:nvGrpSpPr>
            <p:grpSpPr>
              <a:xfrm>
                <a:off x="2139244" y="3386109"/>
                <a:ext cx="4053533" cy="812981"/>
                <a:chOff x="2139244" y="3398093"/>
                <a:chExt cx="4053533" cy="812981"/>
              </a:xfrm>
            </p:grpSpPr>
            <p:sp>
              <p:nvSpPr>
                <p:cNvPr id="32" name="Rounded Rectangle 76">
                  <a:extLst>
                    <a:ext uri="{FF2B5EF4-FFF2-40B4-BE49-F238E27FC236}">
                      <a16:creationId xmlns:a16="http://schemas.microsoft.com/office/drawing/2014/main" id="{19EBCC98-43B1-4965-8572-7CA52E20CE15}"/>
                    </a:ext>
                  </a:extLst>
                </p:cNvPr>
                <p:cNvSpPr/>
                <p:nvPr/>
              </p:nvSpPr>
              <p:spPr>
                <a:xfrm>
                  <a:off x="2139244" y="3398093"/>
                  <a:ext cx="1341774" cy="812981"/>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latin typeface="Arial" panose="020B0604020202020204" pitchFamily="34" charset="0"/>
                      <a:cs typeface="Arial" panose="020B0604020202020204" pitchFamily="34" charset="0"/>
                    </a:rPr>
                    <a:t>Public Health Agencies</a:t>
                  </a:r>
                </a:p>
              </p:txBody>
            </p:sp>
            <p:cxnSp>
              <p:nvCxnSpPr>
                <p:cNvPr id="33" name="Straight Arrow Connector 32">
                  <a:extLst>
                    <a:ext uri="{FF2B5EF4-FFF2-40B4-BE49-F238E27FC236}">
                      <a16:creationId xmlns:a16="http://schemas.microsoft.com/office/drawing/2014/main" id="{C19D0FDB-3C7C-4FFE-9189-4A6E66A2CB55}"/>
                    </a:ext>
                  </a:extLst>
                </p:cNvPr>
                <p:cNvCxnSpPr/>
                <p:nvPr/>
              </p:nvCxnSpPr>
              <p:spPr>
                <a:xfrm>
                  <a:off x="3407374" y="3774058"/>
                  <a:ext cx="2785403" cy="0"/>
                </a:xfrm>
                <a:prstGeom prst="straightConnector1">
                  <a:avLst/>
                </a:prstGeom>
                <a:gradFill flip="none" rotWithShape="1">
                  <a:gsLst>
                    <a:gs pos="0">
                      <a:schemeClr val="tx2">
                        <a:lumMod val="60000"/>
                        <a:lumOff val="40000"/>
                      </a:schemeClr>
                    </a:gs>
                    <a:gs pos="50000">
                      <a:schemeClr val="tx2">
                        <a:lumMod val="40000"/>
                        <a:lumOff val="60000"/>
                      </a:schemeClr>
                    </a:gs>
                    <a:gs pos="83000">
                      <a:schemeClr val="accent1">
                        <a:lumMod val="45000"/>
                        <a:lumOff val="55000"/>
                      </a:schemeClr>
                    </a:gs>
                    <a:gs pos="100000">
                      <a:schemeClr val="accent1">
                        <a:lumMod val="30000"/>
                        <a:lumOff val="70000"/>
                      </a:schemeClr>
                    </a:gs>
                  </a:gsLst>
                  <a:lin ang="0" scaled="1"/>
                  <a:tileRect/>
                </a:gradFill>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2" name="Straight Arrow Connector 21">
                <a:extLst>
                  <a:ext uri="{FF2B5EF4-FFF2-40B4-BE49-F238E27FC236}">
                    <a16:creationId xmlns:a16="http://schemas.microsoft.com/office/drawing/2014/main" id="{6D4834AC-E909-41F2-B3C6-EDC468BA67F4}"/>
                  </a:ext>
                </a:extLst>
              </p:cNvPr>
              <p:cNvCxnSpPr>
                <a:cxnSpLocks/>
                <a:stCxn id="18" idx="1"/>
                <a:endCxn id="24" idx="3"/>
              </p:cNvCxnSpPr>
              <p:nvPr/>
            </p:nvCxnSpPr>
            <p:spPr>
              <a:xfrm flipH="1" flipV="1">
                <a:off x="1164650" y="6273319"/>
                <a:ext cx="2712578" cy="45179"/>
              </a:xfrm>
              <a:prstGeom prst="straightConnector1">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EFC095B2-3D6D-43DA-B2D0-C43B1C3ACB0F}"/>
                  </a:ext>
                </a:extLst>
              </p:cNvPr>
              <p:cNvGrpSpPr/>
              <p:nvPr/>
            </p:nvGrpSpPr>
            <p:grpSpPr>
              <a:xfrm>
                <a:off x="3450615" y="1039626"/>
                <a:ext cx="821209" cy="4899398"/>
                <a:chOff x="3450615" y="1039626"/>
                <a:chExt cx="821209" cy="4899398"/>
              </a:xfrm>
            </p:grpSpPr>
            <p:cxnSp>
              <p:nvCxnSpPr>
                <p:cNvPr id="25" name="Straight Connector 24">
                  <a:extLst>
                    <a:ext uri="{FF2B5EF4-FFF2-40B4-BE49-F238E27FC236}">
                      <a16:creationId xmlns:a16="http://schemas.microsoft.com/office/drawing/2014/main" id="{9AD8538B-333D-4208-993E-B213453588F6}"/>
                    </a:ext>
                  </a:extLst>
                </p:cNvPr>
                <p:cNvCxnSpPr>
                  <a:cxnSpLocks/>
                </p:cNvCxnSpPr>
                <p:nvPr/>
              </p:nvCxnSpPr>
              <p:spPr>
                <a:xfrm flipH="1" flipV="1">
                  <a:off x="4265455" y="1039626"/>
                  <a:ext cx="6369" cy="489939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2DB1429-432E-4707-9B92-9DF40FF2E990}"/>
                    </a:ext>
                  </a:extLst>
                </p:cNvPr>
                <p:cNvCxnSpPr/>
                <p:nvPr/>
              </p:nvCxnSpPr>
              <p:spPr>
                <a:xfrm flipH="1">
                  <a:off x="3481019" y="1039626"/>
                  <a:ext cx="790805"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ED75C60-562D-4BA3-9AE3-57D396AF2F5B}"/>
                    </a:ext>
                  </a:extLst>
                </p:cNvPr>
                <p:cNvCxnSpPr/>
                <p:nvPr/>
              </p:nvCxnSpPr>
              <p:spPr>
                <a:xfrm flipH="1">
                  <a:off x="3450615" y="1858386"/>
                  <a:ext cx="790805"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52503CF-8E4D-44E3-BCEB-888FD1BB5D91}"/>
                    </a:ext>
                  </a:extLst>
                </p:cNvPr>
                <p:cNvCxnSpPr/>
                <p:nvPr/>
              </p:nvCxnSpPr>
              <p:spPr>
                <a:xfrm flipH="1">
                  <a:off x="3481018" y="2717448"/>
                  <a:ext cx="790805"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3D81258-D7FC-45BA-978D-45D76F914321}"/>
                    </a:ext>
                  </a:extLst>
                </p:cNvPr>
                <p:cNvCxnSpPr/>
                <p:nvPr/>
              </p:nvCxnSpPr>
              <p:spPr>
                <a:xfrm flipH="1">
                  <a:off x="3462016" y="3646987"/>
                  <a:ext cx="790805"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EFB9341-9DBB-46A5-AC03-BA2E929ECA2D}"/>
                    </a:ext>
                  </a:extLst>
                </p:cNvPr>
                <p:cNvCxnSpPr/>
                <p:nvPr/>
              </p:nvCxnSpPr>
              <p:spPr>
                <a:xfrm flipH="1">
                  <a:off x="3471517" y="4578320"/>
                  <a:ext cx="790805"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24CAB2C-6463-48B8-BAD4-3A2687AE231A}"/>
                    </a:ext>
                  </a:extLst>
                </p:cNvPr>
                <p:cNvCxnSpPr/>
                <p:nvPr/>
              </p:nvCxnSpPr>
              <p:spPr>
                <a:xfrm flipH="1">
                  <a:off x="3481018" y="5397192"/>
                  <a:ext cx="790805"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pic>
            <p:nvPicPr>
              <p:cNvPr id="24" name="Picture 23">
                <a:extLst>
                  <a:ext uri="{FF2B5EF4-FFF2-40B4-BE49-F238E27FC236}">
                    <a16:creationId xmlns:a16="http://schemas.microsoft.com/office/drawing/2014/main" id="{C861B527-6886-4E3A-B18B-BAC9DAAFBD5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892" y="5647291"/>
                <a:ext cx="1126758" cy="1252056"/>
              </a:xfrm>
              <a:prstGeom prst="rect">
                <a:avLst/>
              </a:prstGeom>
            </p:spPr>
          </p:pic>
        </p:grpSp>
      </p:grpSp>
      <p:pic>
        <p:nvPicPr>
          <p:cNvPr id="53" name="Picture 52">
            <a:extLst>
              <a:ext uri="{FF2B5EF4-FFF2-40B4-BE49-F238E27FC236}">
                <a16:creationId xmlns:a16="http://schemas.microsoft.com/office/drawing/2014/main" id="{694A7C3D-5FBB-48A3-9E4C-E3A206FAA04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49241" y="2937566"/>
            <a:ext cx="728396" cy="454021"/>
          </a:xfrm>
          <a:prstGeom prst="rect">
            <a:avLst/>
          </a:prstGeom>
          <a:gradFill flip="none" rotWithShape="1">
            <a:gsLst>
              <a:gs pos="39000">
                <a:schemeClr val="tx2">
                  <a:lumMod val="20000"/>
                  <a:lumOff val="80000"/>
                </a:schemeClr>
              </a:gs>
              <a:gs pos="62000">
                <a:schemeClr val="tx2">
                  <a:lumMod val="20000"/>
                  <a:lumOff val="80000"/>
                </a:schemeClr>
              </a:gs>
              <a:gs pos="8000">
                <a:schemeClr val="tx2">
                  <a:lumMod val="60000"/>
                  <a:lumOff val="40000"/>
                </a:schemeClr>
              </a:gs>
            </a:gsLst>
            <a:lin ang="0" scaled="1"/>
            <a:tileRect/>
          </a:gradFill>
        </p:spPr>
      </p:pic>
      <p:sp>
        <p:nvSpPr>
          <p:cNvPr id="54" name="Arrow: Down 53">
            <a:extLst>
              <a:ext uri="{FF2B5EF4-FFF2-40B4-BE49-F238E27FC236}">
                <a16:creationId xmlns:a16="http://schemas.microsoft.com/office/drawing/2014/main" id="{204A19B4-4299-4FEC-B9F5-75DCA5444B28}"/>
              </a:ext>
            </a:extLst>
          </p:cNvPr>
          <p:cNvSpPr/>
          <p:nvPr/>
        </p:nvSpPr>
        <p:spPr>
          <a:xfrm>
            <a:off x="8839397" y="2126366"/>
            <a:ext cx="845820" cy="25098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1706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1E4B43-6237-EAF5-B97C-ABE0D0D9FFF3}"/>
              </a:ext>
            </a:extLst>
          </p:cNvPr>
          <p:cNvSpPr>
            <a:spLocks noGrp="1"/>
          </p:cNvSpPr>
          <p:nvPr>
            <p:ph type="title"/>
          </p:nvPr>
        </p:nvSpPr>
        <p:spPr/>
        <p:txBody>
          <a:bodyPr/>
          <a:lstStyle/>
          <a:p>
            <a:r>
              <a:rPr lang="en-US" dirty="0"/>
              <a:t>NCBI Pathogen Detection</a:t>
            </a:r>
            <a:endParaRPr lang="en-US" sz="5400" dirty="0"/>
          </a:p>
        </p:txBody>
      </p:sp>
      <p:sp>
        <p:nvSpPr>
          <p:cNvPr id="5" name="Text Placeholder 4">
            <a:extLst>
              <a:ext uri="{FF2B5EF4-FFF2-40B4-BE49-F238E27FC236}">
                <a16:creationId xmlns:a16="http://schemas.microsoft.com/office/drawing/2014/main" id="{37FDBCAF-A367-48CA-6B3A-2E187D4BCC06}"/>
              </a:ext>
            </a:extLst>
          </p:cNvPr>
          <p:cNvSpPr>
            <a:spLocks noGrp="1"/>
          </p:cNvSpPr>
          <p:nvPr>
            <p:ph type="body" sz="quarter" idx="11"/>
          </p:nvPr>
        </p:nvSpPr>
        <p:spPr>
          <a:xfrm>
            <a:off x="427039" y="1648478"/>
            <a:ext cx="6456362" cy="3712475"/>
          </a:xfrm>
        </p:spPr>
        <p:txBody>
          <a:bodyPr/>
          <a:lstStyle/>
          <a:p>
            <a:pPr marL="457200" indent="-457200">
              <a:buFont typeface="Arial" panose="020B0604020202020204" pitchFamily="34" charset="0"/>
              <a:buChar char="•"/>
            </a:pPr>
            <a:r>
              <a:rPr lang="en-US" dirty="0"/>
              <a:t>All public data</a:t>
            </a:r>
          </a:p>
          <a:p>
            <a:pPr marL="457200" indent="-457200">
              <a:buFont typeface="Arial" panose="020B0604020202020204" pitchFamily="34" charset="0"/>
              <a:buChar char="•"/>
            </a:pPr>
            <a:r>
              <a:rPr lang="en-US" dirty="0"/>
              <a:t>Generated by submitters</a:t>
            </a:r>
          </a:p>
          <a:p>
            <a:pPr marL="457200" indent="-457200">
              <a:buFont typeface="Arial" panose="020B0604020202020204" pitchFamily="34" charset="0"/>
              <a:buChar char="•"/>
            </a:pPr>
            <a:r>
              <a:rPr lang="en-US" dirty="0"/>
              <a:t>Currently 2.9 million assemblies</a:t>
            </a:r>
          </a:p>
          <a:p>
            <a:pPr marL="457200" indent="-457200">
              <a:buFont typeface="Arial" panose="020B0604020202020204" pitchFamily="34" charset="0"/>
              <a:buChar char="•"/>
            </a:pPr>
            <a:r>
              <a:rPr lang="en-US" dirty="0"/>
              <a:t>New genomes added and analyzed </a:t>
            </a:r>
            <a:br>
              <a:rPr lang="en-US" dirty="0"/>
            </a:br>
            <a:r>
              <a:rPr lang="en-US" dirty="0"/>
              <a:t>daily</a:t>
            </a:r>
          </a:p>
          <a:p>
            <a:pPr marL="457200" indent="-457200">
              <a:buFont typeface="Arial" panose="020B0604020202020204" pitchFamily="34" charset="0"/>
              <a:buChar char="•"/>
            </a:pPr>
            <a:r>
              <a:rPr lang="en-US" dirty="0"/>
              <a:t>&gt;100 pathogenic taxa</a:t>
            </a:r>
          </a:p>
        </p:txBody>
      </p:sp>
      <p:pic>
        <p:nvPicPr>
          <p:cNvPr id="8" name="Picture 7">
            <a:extLst>
              <a:ext uri="{FF2B5EF4-FFF2-40B4-BE49-F238E27FC236}">
                <a16:creationId xmlns:a16="http://schemas.microsoft.com/office/drawing/2014/main" id="{155B5B13-7FAC-7705-BA52-FDED9FCCBB89}"/>
              </a:ext>
            </a:extLst>
          </p:cNvPr>
          <p:cNvPicPr>
            <a:picLocks noChangeAspect="1"/>
          </p:cNvPicPr>
          <p:nvPr/>
        </p:nvPicPr>
        <p:blipFill>
          <a:blip r:embed="rId3"/>
          <a:stretch>
            <a:fillRect/>
          </a:stretch>
        </p:blipFill>
        <p:spPr>
          <a:xfrm>
            <a:off x="7066581" y="1588152"/>
            <a:ext cx="4479244" cy="3261071"/>
          </a:xfrm>
          <a:prstGeom prst="rect">
            <a:avLst/>
          </a:prstGeom>
        </p:spPr>
      </p:pic>
      <p:sp>
        <p:nvSpPr>
          <p:cNvPr id="9" name="TextBox 8">
            <a:extLst>
              <a:ext uri="{FF2B5EF4-FFF2-40B4-BE49-F238E27FC236}">
                <a16:creationId xmlns:a16="http://schemas.microsoft.com/office/drawing/2014/main" id="{95710560-B054-1430-2C2F-D480C688630D}"/>
              </a:ext>
            </a:extLst>
          </p:cNvPr>
          <p:cNvSpPr txBox="1"/>
          <p:nvPr/>
        </p:nvSpPr>
        <p:spPr>
          <a:xfrm>
            <a:off x="6984285" y="1092995"/>
            <a:ext cx="4301370" cy="369332"/>
          </a:xfrm>
          <a:prstGeom prst="rect">
            <a:avLst/>
          </a:prstGeom>
          <a:noFill/>
        </p:spPr>
        <p:txBody>
          <a:bodyPr wrap="none" rtlCol="0">
            <a:spAutoFit/>
          </a:bodyPr>
          <a:lstStyle/>
          <a:p>
            <a:r>
              <a:rPr lang="en-US" dirty="0">
                <a:hlinkClick r:id="rId4"/>
              </a:rPr>
              <a:t>https://www.ncbi.nlm.nih.gov/pathogens/</a:t>
            </a:r>
            <a:endParaRPr lang="en-US" dirty="0"/>
          </a:p>
        </p:txBody>
      </p:sp>
    </p:spTree>
    <p:extLst>
      <p:ext uri="{BB962C8B-B14F-4D97-AF65-F5344CB8AC3E}">
        <p14:creationId xmlns:p14="http://schemas.microsoft.com/office/powerpoint/2010/main" val="3999752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5710E-4F27-40BE-4F6F-AC244DDDCB6F}"/>
              </a:ext>
            </a:extLst>
          </p:cNvPr>
          <p:cNvSpPr>
            <a:spLocks noGrp="1"/>
          </p:cNvSpPr>
          <p:nvPr>
            <p:ph type="title" idx="4294967295"/>
          </p:nvPr>
        </p:nvSpPr>
        <p:spPr/>
        <p:txBody>
          <a:bodyPr/>
          <a:lstStyle/>
          <a:p>
            <a:r>
              <a:rPr lang="en-US" dirty="0"/>
              <a:t>Pathogen</a:t>
            </a:r>
            <a:r>
              <a:rPr lang="en-US" baseline="0" dirty="0"/>
              <a:t> Detection Analysis Goals</a:t>
            </a:r>
            <a:endParaRPr lang="en-US" dirty="0"/>
          </a:p>
        </p:txBody>
      </p:sp>
      <p:sp>
        <p:nvSpPr>
          <p:cNvPr id="5" name="Content Placeholder 2">
            <a:extLst>
              <a:ext uri="{FF2B5EF4-FFF2-40B4-BE49-F238E27FC236}">
                <a16:creationId xmlns:a16="http://schemas.microsoft.com/office/drawing/2014/main" id="{D6A397D9-4976-42BD-86C7-EA901A40614A}"/>
              </a:ext>
            </a:extLst>
          </p:cNvPr>
          <p:cNvSpPr txBox="1">
            <a:spLocks/>
          </p:cNvSpPr>
          <p:nvPr/>
        </p:nvSpPr>
        <p:spPr>
          <a:xfrm>
            <a:off x="1264597" y="1830593"/>
            <a:ext cx="10089204" cy="3571864"/>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548626" indent="-548626">
              <a:buFont typeface="+mj-lt"/>
              <a:buAutoNum type="arabicPeriod"/>
            </a:pPr>
            <a:r>
              <a:rPr lang="en-US" sz="3600" dirty="0">
                <a:latin typeface="Helvetica" pitchFamily="2" charset="0"/>
              </a:rPr>
              <a:t>Are these isolates clonally related?</a:t>
            </a:r>
            <a:br>
              <a:rPr lang="en-US" sz="3600" dirty="0">
                <a:latin typeface="Helvetica" pitchFamily="2" charset="0"/>
              </a:rPr>
            </a:br>
            <a:endParaRPr lang="en-US" sz="3600" dirty="0">
              <a:latin typeface="Helvetica" pitchFamily="2" charset="0"/>
            </a:endParaRPr>
          </a:p>
          <a:p>
            <a:pPr marL="548626" indent="-548626">
              <a:buFont typeface="+mj-lt"/>
              <a:buAutoNum type="arabicPeriod"/>
            </a:pPr>
            <a:r>
              <a:rPr lang="en-US" sz="3600" dirty="0">
                <a:latin typeface="Helvetica" pitchFamily="2" charset="0"/>
                <a:ea typeface="Cambria" panose="02040503050406030204" pitchFamily="18" charset="0"/>
                <a:cs typeface="Arial" panose="020B0604020202020204" pitchFamily="34" charset="0"/>
              </a:rPr>
              <a:t>What is the anti-microbial resistance, stress response, and virulence gene repertoire of this isolate?</a:t>
            </a:r>
          </a:p>
          <a:p>
            <a:pPr marL="548626" indent="-548626">
              <a:buFont typeface="+mj-lt"/>
              <a:buAutoNum type="arabicPeriod"/>
            </a:pPr>
            <a:endParaRPr lang="en-US" sz="3600" dirty="0">
              <a:latin typeface="Helvetica" pitchFamily="2"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2508483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0C040-0FBB-C614-182D-59B0EDC167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2BE44-8AA0-32CC-E126-B7D808EC324F}"/>
              </a:ext>
            </a:extLst>
          </p:cNvPr>
          <p:cNvSpPr>
            <a:spLocks noGrp="1"/>
          </p:cNvSpPr>
          <p:nvPr>
            <p:ph type="title" idx="4294967295"/>
          </p:nvPr>
        </p:nvSpPr>
        <p:spPr/>
        <p:txBody>
          <a:bodyPr/>
          <a:lstStyle/>
          <a:p>
            <a:r>
              <a:rPr lang="en-US" dirty="0"/>
              <a:t>Pathogen</a:t>
            </a:r>
            <a:r>
              <a:rPr lang="en-US" baseline="0" dirty="0"/>
              <a:t> Detection Analysis Goals</a:t>
            </a:r>
            <a:endParaRPr lang="en-US" dirty="0"/>
          </a:p>
        </p:txBody>
      </p:sp>
      <p:sp>
        <p:nvSpPr>
          <p:cNvPr id="5" name="Content Placeholder 2">
            <a:extLst>
              <a:ext uri="{FF2B5EF4-FFF2-40B4-BE49-F238E27FC236}">
                <a16:creationId xmlns:a16="http://schemas.microsoft.com/office/drawing/2014/main" id="{F4D007CA-155A-0930-BAD7-E7F35C73B82F}"/>
              </a:ext>
            </a:extLst>
          </p:cNvPr>
          <p:cNvSpPr txBox="1">
            <a:spLocks/>
          </p:cNvSpPr>
          <p:nvPr/>
        </p:nvSpPr>
        <p:spPr>
          <a:xfrm>
            <a:off x="1264597" y="1830593"/>
            <a:ext cx="10089204" cy="3571864"/>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548626" indent="-548626">
              <a:buFont typeface="+mj-lt"/>
              <a:buAutoNum type="arabicPeriod"/>
            </a:pPr>
            <a:r>
              <a:rPr lang="en-US" sz="3600" dirty="0">
                <a:latin typeface="Helvetica" pitchFamily="2" charset="0"/>
              </a:rPr>
              <a:t>Are these isolates clonally related?</a:t>
            </a:r>
            <a:br>
              <a:rPr lang="en-US" sz="3600" dirty="0">
                <a:latin typeface="Helvetica" pitchFamily="2" charset="0"/>
              </a:rPr>
            </a:br>
            <a:endParaRPr lang="en-US" sz="3600" dirty="0">
              <a:latin typeface="Helvetica" pitchFamily="2" charset="0"/>
            </a:endParaRPr>
          </a:p>
          <a:p>
            <a:pPr marL="548626" indent="-548626">
              <a:buFont typeface="+mj-lt"/>
              <a:buAutoNum type="arabicPeriod"/>
            </a:pPr>
            <a:r>
              <a:rPr lang="en-US" sz="3600" dirty="0">
                <a:latin typeface="Helvetica" pitchFamily="2" charset="0"/>
                <a:ea typeface="Cambria" panose="02040503050406030204" pitchFamily="18" charset="0"/>
                <a:cs typeface="Arial" panose="020B0604020202020204" pitchFamily="34" charset="0"/>
              </a:rPr>
              <a:t>What is the anti-microbial resistance, stress response, and virulence gene repertoire of this isolate?</a:t>
            </a:r>
          </a:p>
          <a:p>
            <a:pPr marL="548626" indent="-548626">
              <a:buFont typeface="+mj-lt"/>
              <a:buAutoNum type="arabicPeriod"/>
            </a:pPr>
            <a:endParaRPr lang="en-US" sz="3600" dirty="0">
              <a:latin typeface="Helvetica" pitchFamily="2" charset="0"/>
              <a:ea typeface="Cambria" panose="02040503050406030204" pitchFamily="18" charset="0"/>
              <a:cs typeface="Arial" panose="020B0604020202020204" pitchFamily="34" charset="0"/>
            </a:endParaRPr>
          </a:p>
        </p:txBody>
      </p:sp>
      <p:sp>
        <p:nvSpPr>
          <p:cNvPr id="3" name="Rounded Rectangle 2">
            <a:extLst>
              <a:ext uri="{FF2B5EF4-FFF2-40B4-BE49-F238E27FC236}">
                <a16:creationId xmlns:a16="http://schemas.microsoft.com/office/drawing/2014/main" id="{775C287D-D592-3BDF-CDD6-4CC3B2313320}"/>
              </a:ext>
            </a:extLst>
          </p:cNvPr>
          <p:cNvSpPr/>
          <p:nvPr/>
        </p:nvSpPr>
        <p:spPr>
          <a:xfrm>
            <a:off x="1170432" y="1591056"/>
            <a:ext cx="8165592" cy="1014984"/>
          </a:xfrm>
          <a:prstGeom prst="round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9134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CBCEA786-1D38-CE0A-C152-F4900E093ACA}"/>
              </a:ext>
            </a:extLst>
          </p:cNvPr>
          <p:cNvSpPr txBox="1">
            <a:spLocks noGrp="1"/>
          </p:cNvSpPr>
          <p:nvPr>
            <p:ph type="title" idx="4294967295"/>
          </p:nvPr>
        </p:nvSpPr>
        <p:spPr>
          <a:xfrm>
            <a:off x="838200" y="365125"/>
            <a:ext cx="10515600"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Helvetica" charset="0"/>
                <a:ea typeface="Helvetica" charset="0"/>
                <a:cs typeface="Helvetica" charset="0"/>
              </a:defRPr>
            </a:lvl1pPr>
          </a:lstStyle>
          <a:p>
            <a:pPr defTabSz="914377">
              <a:defRPr/>
            </a:pPr>
            <a:r>
              <a:rPr lang="en-US" dirty="0">
                <a:latin typeface="+mj-lt"/>
              </a:rPr>
              <a:t>Pathogen Detection Pipeline</a:t>
            </a:r>
          </a:p>
        </p:txBody>
      </p:sp>
      <p:cxnSp>
        <p:nvCxnSpPr>
          <p:cNvPr id="4" name="Straight Arrow Connector 3" descr="Sequence data is submitted to the Sequence Read Archive">
            <a:extLst>
              <a:ext uri="{FF2B5EF4-FFF2-40B4-BE49-F238E27FC236}">
                <a16:creationId xmlns:a16="http://schemas.microsoft.com/office/drawing/2014/main" id="{893D8C9C-9B1E-5493-32DD-9A17C90D0E4B}"/>
              </a:ext>
            </a:extLst>
          </p:cNvPr>
          <p:cNvCxnSpPr/>
          <p:nvPr/>
        </p:nvCxnSpPr>
        <p:spPr>
          <a:xfrm>
            <a:off x="1696781" y="2467708"/>
            <a:ext cx="656135" cy="0"/>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B8E1DCC8-3DEC-7941-C4BE-EDA89DEAD0AF}"/>
              </a:ext>
            </a:extLst>
          </p:cNvPr>
          <p:cNvSpPr/>
          <p:nvPr/>
        </p:nvSpPr>
        <p:spPr>
          <a:xfrm>
            <a:off x="2511263" y="2082678"/>
            <a:ext cx="1185552" cy="77006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badi" panose="020B0604020104020204" pitchFamily="34" charset="0"/>
              </a:rPr>
              <a:t>SRA</a:t>
            </a:r>
          </a:p>
        </p:txBody>
      </p:sp>
      <p:cxnSp>
        <p:nvCxnSpPr>
          <p:cNvPr id="5" name="Straight Arrow Connector 4" descr="The Pathogen Detection pipeline assembles the data">
            <a:extLst>
              <a:ext uri="{FF2B5EF4-FFF2-40B4-BE49-F238E27FC236}">
                <a16:creationId xmlns:a16="http://schemas.microsoft.com/office/drawing/2014/main" id="{95A27E2C-70EB-3367-DF7A-8151847A563E}"/>
              </a:ext>
            </a:extLst>
          </p:cNvPr>
          <p:cNvCxnSpPr/>
          <p:nvPr/>
        </p:nvCxnSpPr>
        <p:spPr>
          <a:xfrm>
            <a:off x="3901786" y="2467708"/>
            <a:ext cx="656135" cy="0"/>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CCC6DC-A082-3D4A-924B-7DDD03936663}"/>
              </a:ext>
            </a:extLst>
          </p:cNvPr>
          <p:cNvSpPr/>
          <p:nvPr/>
        </p:nvSpPr>
        <p:spPr>
          <a:xfrm>
            <a:off x="4777469" y="2082678"/>
            <a:ext cx="1816011" cy="77006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badi" panose="020B0604020104020204" pitchFamily="34" charset="0"/>
              </a:rPr>
              <a:t>Assembly</a:t>
            </a:r>
          </a:p>
        </p:txBody>
      </p:sp>
      <p:cxnSp>
        <p:nvCxnSpPr>
          <p:cNvPr id="7" name="Straight Arrow Connector 6" descr="The newly assembled data are included in the clustering step">
            <a:extLst>
              <a:ext uri="{FF2B5EF4-FFF2-40B4-BE49-F238E27FC236}">
                <a16:creationId xmlns:a16="http://schemas.microsoft.com/office/drawing/2014/main" id="{2EEA7FE1-3107-CF2E-7FE6-D57634D154AE}"/>
              </a:ext>
            </a:extLst>
          </p:cNvPr>
          <p:cNvCxnSpPr>
            <a:cxnSpLocks/>
          </p:cNvCxnSpPr>
          <p:nvPr/>
        </p:nvCxnSpPr>
        <p:spPr>
          <a:xfrm>
            <a:off x="5716424" y="2947371"/>
            <a:ext cx="0" cy="716165"/>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013119E5-752B-55E0-7CA5-1350FFC43392}"/>
              </a:ext>
            </a:extLst>
          </p:cNvPr>
          <p:cNvSpPr/>
          <p:nvPr/>
        </p:nvSpPr>
        <p:spPr>
          <a:xfrm>
            <a:off x="4777467" y="3758169"/>
            <a:ext cx="1816011" cy="77006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badi" panose="020B0604020104020204" pitchFamily="34" charset="0"/>
              </a:rPr>
              <a:t>Clustering</a:t>
            </a:r>
          </a:p>
        </p:txBody>
      </p:sp>
      <p:sp>
        <p:nvSpPr>
          <p:cNvPr id="8" name="Rectangle 7">
            <a:extLst>
              <a:ext uri="{FF2B5EF4-FFF2-40B4-BE49-F238E27FC236}">
                <a16:creationId xmlns:a16="http://schemas.microsoft.com/office/drawing/2014/main" id="{37B3D850-B1BB-9C1D-5ACB-12739395E2D1}"/>
              </a:ext>
            </a:extLst>
          </p:cNvPr>
          <p:cNvSpPr/>
          <p:nvPr/>
        </p:nvSpPr>
        <p:spPr>
          <a:xfrm>
            <a:off x="7695791" y="2082678"/>
            <a:ext cx="2001448" cy="77006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badi" panose="020B0604020104020204" pitchFamily="34" charset="0"/>
              </a:rPr>
              <a:t>Annotation</a:t>
            </a:r>
          </a:p>
        </p:txBody>
      </p:sp>
      <p:cxnSp>
        <p:nvCxnSpPr>
          <p:cNvPr id="9" name="Straight Arrow Connector 8" descr="An independent part of the pipeline annotates the assembled genomes using the NCBI Pgap tool">
            <a:extLst>
              <a:ext uri="{FF2B5EF4-FFF2-40B4-BE49-F238E27FC236}">
                <a16:creationId xmlns:a16="http://schemas.microsoft.com/office/drawing/2014/main" id="{ED684B5F-48F0-07A0-A691-2503BB67EE3C}"/>
              </a:ext>
            </a:extLst>
          </p:cNvPr>
          <p:cNvCxnSpPr>
            <a:cxnSpLocks/>
          </p:cNvCxnSpPr>
          <p:nvPr/>
        </p:nvCxnSpPr>
        <p:spPr>
          <a:xfrm>
            <a:off x="6894455" y="2467708"/>
            <a:ext cx="578248" cy="0"/>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descr="Clusters of closely related genomes are determined and phylogenetic trees of each cluster are produced">
            <a:extLst>
              <a:ext uri="{FF2B5EF4-FFF2-40B4-BE49-F238E27FC236}">
                <a16:creationId xmlns:a16="http://schemas.microsoft.com/office/drawing/2014/main" id="{58C0396E-A1E2-36B3-45A6-EF1B45ABF23E}"/>
              </a:ext>
            </a:extLst>
          </p:cNvPr>
          <p:cNvCxnSpPr>
            <a:cxnSpLocks/>
          </p:cNvCxnSpPr>
          <p:nvPr/>
        </p:nvCxnSpPr>
        <p:spPr>
          <a:xfrm>
            <a:off x="5716424" y="4696489"/>
            <a:ext cx="0" cy="601067"/>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7DDFA37-1D58-8B89-B8F9-AF95B9B4D8C3}"/>
              </a:ext>
            </a:extLst>
          </p:cNvPr>
          <p:cNvSpPr/>
          <p:nvPr/>
        </p:nvSpPr>
        <p:spPr>
          <a:xfrm>
            <a:off x="4777467" y="5433659"/>
            <a:ext cx="1816011" cy="77006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badi" panose="020B0604020104020204" pitchFamily="34" charset="0"/>
              </a:rPr>
              <a:t>Trees</a:t>
            </a:r>
          </a:p>
        </p:txBody>
      </p:sp>
      <p:cxnSp>
        <p:nvCxnSpPr>
          <p:cNvPr id="13" name="Straight Arrow Connector 12" descr="Both annotated assemblies and unannotated assemblies are analyzed by AMRFinderPlus to identify antimicrobial resistance, virulence, and stress response genes in the assemblies">
            <a:extLst>
              <a:ext uri="{FF2B5EF4-FFF2-40B4-BE49-F238E27FC236}">
                <a16:creationId xmlns:a16="http://schemas.microsoft.com/office/drawing/2014/main" id="{2DDF4310-1000-9455-9375-D599F91DAD64}"/>
              </a:ext>
            </a:extLst>
          </p:cNvPr>
          <p:cNvCxnSpPr>
            <a:cxnSpLocks/>
          </p:cNvCxnSpPr>
          <p:nvPr/>
        </p:nvCxnSpPr>
        <p:spPr>
          <a:xfrm>
            <a:off x="8746135" y="2947370"/>
            <a:ext cx="0" cy="716165"/>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DC510B77-BFB2-E3CF-03A3-8530C8AEA298}"/>
              </a:ext>
            </a:extLst>
          </p:cNvPr>
          <p:cNvSpPr/>
          <p:nvPr/>
        </p:nvSpPr>
        <p:spPr>
          <a:xfrm>
            <a:off x="7444225" y="3758169"/>
            <a:ext cx="2603823" cy="77006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badi" panose="020B0604020104020204" pitchFamily="34" charset="0"/>
              </a:rPr>
              <a:t>AMRFinderPlus</a:t>
            </a:r>
          </a:p>
        </p:txBody>
      </p:sp>
      <p:cxnSp>
        <p:nvCxnSpPr>
          <p:cNvPr id="15" name="Straight Arrow Connector 14" descr="Both annotated assemblies and unannotated assemblies are analyzed by AMRFinderPlus to identify antimicrobial resistance, virulence, and stress response genes in the assemblies&#10;">
            <a:extLst>
              <a:ext uri="{FF2B5EF4-FFF2-40B4-BE49-F238E27FC236}">
                <a16:creationId xmlns:a16="http://schemas.microsoft.com/office/drawing/2014/main" id="{300FE2AF-DFF8-B356-E12E-AFBBC6E9F9AC}"/>
              </a:ext>
            </a:extLst>
          </p:cNvPr>
          <p:cNvCxnSpPr/>
          <p:nvPr/>
        </p:nvCxnSpPr>
        <p:spPr>
          <a:xfrm>
            <a:off x="6894455" y="2971496"/>
            <a:ext cx="673652" cy="716165"/>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4533801C-1473-7963-0E52-2E33746C3517}"/>
              </a:ext>
            </a:extLst>
          </p:cNvPr>
          <p:cNvSpPr/>
          <p:nvPr/>
        </p:nvSpPr>
        <p:spPr>
          <a:xfrm>
            <a:off x="2147946" y="3758169"/>
            <a:ext cx="1548871" cy="77006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latin typeface="Abadi" panose="020B0604020104020204" pitchFamily="34" charset="0"/>
              </a:rPr>
              <a:t>GenBank</a:t>
            </a:r>
            <a:endParaRPr lang="en-US" sz="2800" dirty="0">
              <a:latin typeface="Abadi" panose="020B0604020104020204" pitchFamily="34" charset="0"/>
            </a:endParaRPr>
          </a:p>
        </p:txBody>
      </p:sp>
      <p:cxnSp>
        <p:nvCxnSpPr>
          <p:cNvPr id="17" name="Straight Arrow Connector 16" descr="Assembled genomes from GenBank are included in the clustering step">
            <a:extLst>
              <a:ext uri="{FF2B5EF4-FFF2-40B4-BE49-F238E27FC236}">
                <a16:creationId xmlns:a16="http://schemas.microsoft.com/office/drawing/2014/main" id="{0E0FCFB6-DC98-9DE1-27E5-23390670FD1E}"/>
              </a:ext>
            </a:extLst>
          </p:cNvPr>
          <p:cNvCxnSpPr/>
          <p:nvPr/>
        </p:nvCxnSpPr>
        <p:spPr>
          <a:xfrm>
            <a:off x="3901786" y="4136189"/>
            <a:ext cx="656135" cy="0"/>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descr="The main part of the pipeline includes assembly, clustering, and phylogenetic tree generation&#10;">
            <a:extLst>
              <a:ext uri="{FF2B5EF4-FFF2-40B4-BE49-F238E27FC236}">
                <a16:creationId xmlns:a16="http://schemas.microsoft.com/office/drawing/2014/main" id="{4E47D71C-9D31-CBD4-FD05-9054EEB84B54}"/>
              </a:ext>
            </a:extLst>
          </p:cNvPr>
          <p:cNvCxnSpPr>
            <a:cxnSpLocks/>
          </p:cNvCxnSpPr>
          <p:nvPr/>
        </p:nvCxnSpPr>
        <p:spPr>
          <a:xfrm>
            <a:off x="1319704" y="1885454"/>
            <a:ext cx="5443188" cy="9773"/>
          </a:xfrm>
          <a:prstGeom prst="line">
            <a:avLst/>
          </a:prstGeom>
          <a:ln w="19050">
            <a:solidFill>
              <a:srgbClr val="0070C0"/>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DF80091-8840-915F-2808-A8C0AD1AF0E3}"/>
              </a:ext>
              <a:ext uri="{C183D7F6-B498-43B3-948B-1728B52AA6E4}">
                <adec:decorative xmlns:adec="http://schemas.microsoft.com/office/drawing/2017/decorative" val="1"/>
              </a:ext>
            </a:extLst>
          </p:cNvPr>
          <p:cNvCxnSpPr>
            <a:cxnSpLocks/>
          </p:cNvCxnSpPr>
          <p:nvPr/>
        </p:nvCxnSpPr>
        <p:spPr>
          <a:xfrm>
            <a:off x="1333235" y="3090153"/>
            <a:ext cx="3336722" cy="0"/>
          </a:xfrm>
          <a:prstGeom prst="line">
            <a:avLst/>
          </a:prstGeom>
          <a:ln w="19050">
            <a:solidFill>
              <a:srgbClr val="0070C0"/>
            </a:solidFill>
            <a:prstDash val="lg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4B8F268-A3A0-7C5D-B273-4531FA3FCC55}"/>
              </a:ext>
              <a:ext uri="{C183D7F6-B498-43B3-948B-1728B52AA6E4}">
                <adec:decorative xmlns:adec="http://schemas.microsoft.com/office/drawing/2017/decorative" val="1"/>
              </a:ext>
            </a:extLst>
          </p:cNvPr>
          <p:cNvCxnSpPr>
            <a:cxnSpLocks/>
          </p:cNvCxnSpPr>
          <p:nvPr/>
        </p:nvCxnSpPr>
        <p:spPr>
          <a:xfrm flipH="1">
            <a:off x="4643338" y="3090154"/>
            <a:ext cx="26620" cy="3258767"/>
          </a:xfrm>
          <a:prstGeom prst="line">
            <a:avLst/>
          </a:prstGeom>
          <a:ln w="19050">
            <a:solidFill>
              <a:srgbClr val="0070C0"/>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2471E5C-DB49-5C58-6CFF-77C37A6D76A6}"/>
              </a:ext>
              <a:ext uri="{C183D7F6-B498-43B3-948B-1728B52AA6E4}">
                <adec:decorative xmlns:adec="http://schemas.microsoft.com/office/drawing/2017/decorative" val="1"/>
              </a:ext>
            </a:extLst>
          </p:cNvPr>
          <p:cNvCxnSpPr>
            <a:cxnSpLocks/>
          </p:cNvCxnSpPr>
          <p:nvPr/>
        </p:nvCxnSpPr>
        <p:spPr>
          <a:xfrm>
            <a:off x="6762892" y="1905000"/>
            <a:ext cx="0" cy="4461237"/>
          </a:xfrm>
          <a:prstGeom prst="line">
            <a:avLst/>
          </a:prstGeom>
          <a:ln w="19050">
            <a:solidFill>
              <a:srgbClr val="0070C0"/>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6241FAA-C855-0095-B0D0-A966C48084B0}"/>
              </a:ext>
              <a:ext uri="{C183D7F6-B498-43B3-948B-1728B52AA6E4}">
                <adec:decorative xmlns:adec="http://schemas.microsoft.com/office/drawing/2017/decorative" val="1"/>
              </a:ext>
            </a:extLst>
          </p:cNvPr>
          <p:cNvCxnSpPr>
            <a:cxnSpLocks/>
          </p:cNvCxnSpPr>
          <p:nvPr/>
        </p:nvCxnSpPr>
        <p:spPr>
          <a:xfrm>
            <a:off x="4643338" y="6400799"/>
            <a:ext cx="2063689" cy="0"/>
          </a:xfrm>
          <a:prstGeom prst="line">
            <a:avLst/>
          </a:prstGeom>
          <a:ln w="19050">
            <a:solidFill>
              <a:srgbClr val="0070C0"/>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DC8EB07-CD82-532C-010C-664A4919528E}"/>
              </a:ext>
              <a:ext uri="{C183D7F6-B498-43B3-948B-1728B52AA6E4}">
                <adec:decorative xmlns:adec="http://schemas.microsoft.com/office/drawing/2017/decorative" val="1"/>
              </a:ext>
            </a:extLst>
          </p:cNvPr>
          <p:cNvCxnSpPr>
            <a:cxnSpLocks/>
          </p:cNvCxnSpPr>
          <p:nvPr/>
        </p:nvCxnSpPr>
        <p:spPr>
          <a:xfrm flipH="1">
            <a:off x="1333235" y="1905000"/>
            <a:ext cx="6093" cy="1149575"/>
          </a:xfrm>
          <a:prstGeom prst="line">
            <a:avLst/>
          </a:prstGeom>
          <a:ln w="19050">
            <a:solidFill>
              <a:srgbClr val="0070C0"/>
            </a:solidFill>
            <a:prstDash val="lgDash"/>
          </a:ln>
        </p:spPr>
        <p:style>
          <a:lnRef idx="1">
            <a:schemeClr val="accent1"/>
          </a:lnRef>
          <a:fillRef idx="0">
            <a:schemeClr val="accent1"/>
          </a:fillRef>
          <a:effectRef idx="0">
            <a:schemeClr val="accent1"/>
          </a:effectRef>
          <a:fontRef idx="minor">
            <a:schemeClr val="tx1"/>
          </a:fontRef>
        </p:style>
      </p:cxnSp>
      <p:sp>
        <p:nvSpPr>
          <p:cNvPr id="24" name="Arrow: Right 23" descr="The goal is turnaround the analysis within 24 hours after data submission">
            <a:extLst>
              <a:ext uri="{FF2B5EF4-FFF2-40B4-BE49-F238E27FC236}">
                <a16:creationId xmlns:a16="http://schemas.microsoft.com/office/drawing/2014/main" id="{06C268C4-EB19-DD1A-789F-ADC3EDF561EE}"/>
              </a:ext>
            </a:extLst>
          </p:cNvPr>
          <p:cNvSpPr/>
          <p:nvPr/>
        </p:nvSpPr>
        <p:spPr>
          <a:xfrm rot="10800000">
            <a:off x="6816569" y="5723109"/>
            <a:ext cx="573383" cy="408561"/>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latin typeface="Abadi" panose="020B0604020104020204" pitchFamily="34" charset="0"/>
            </a:endParaRPr>
          </a:p>
        </p:txBody>
      </p:sp>
      <p:sp>
        <p:nvSpPr>
          <p:cNvPr id="25" name="TextBox 24">
            <a:extLst>
              <a:ext uri="{FF2B5EF4-FFF2-40B4-BE49-F238E27FC236}">
                <a16:creationId xmlns:a16="http://schemas.microsoft.com/office/drawing/2014/main" id="{A2D0078D-AC71-0A04-70A7-B46DCE1243DE}"/>
              </a:ext>
            </a:extLst>
          </p:cNvPr>
          <p:cNvSpPr txBox="1"/>
          <p:nvPr/>
        </p:nvSpPr>
        <p:spPr>
          <a:xfrm>
            <a:off x="7588761" y="5723108"/>
            <a:ext cx="1365246" cy="300210"/>
          </a:xfrm>
          <a:prstGeom prst="rect">
            <a:avLst/>
          </a:prstGeom>
          <a:noFill/>
        </p:spPr>
        <p:txBody>
          <a:bodyPr wrap="none" rtlCol="0">
            <a:spAutoFit/>
          </a:bodyPr>
          <a:lstStyle/>
          <a:p>
            <a:r>
              <a:rPr lang="en-US" sz="1351">
                <a:latin typeface="Abadi" panose="020B0604020104020204" pitchFamily="34" charset="0"/>
              </a:rPr>
              <a:t>Goal &lt;24 hours</a:t>
            </a:r>
          </a:p>
        </p:txBody>
      </p:sp>
      <p:cxnSp>
        <p:nvCxnSpPr>
          <p:cNvPr id="26" name="Straight Arrow Connector 25" descr="Sequence data is submitted to the Sequence Read Archive">
            <a:extLst>
              <a:ext uri="{FF2B5EF4-FFF2-40B4-BE49-F238E27FC236}">
                <a16:creationId xmlns:a16="http://schemas.microsoft.com/office/drawing/2014/main" id="{6D6CE75D-047D-AC36-DFB3-61968E79BE2E}"/>
              </a:ext>
            </a:extLst>
          </p:cNvPr>
          <p:cNvCxnSpPr/>
          <p:nvPr/>
        </p:nvCxnSpPr>
        <p:spPr>
          <a:xfrm>
            <a:off x="1333235" y="4136189"/>
            <a:ext cx="656135" cy="0"/>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643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AC4870D3-EEA3-F7C0-19A9-586395A3CC35}"/>
              </a:ext>
            </a:extLst>
          </p:cNvPr>
          <p:cNvSpPr txBox="1">
            <a:spLocks noGrp="1"/>
          </p:cNvSpPr>
          <p:nvPr>
            <p:ph type="title" idx="4294967295"/>
          </p:nvPr>
        </p:nvSpPr>
        <p:spPr>
          <a:xfrm>
            <a:off x="838200" y="365125"/>
            <a:ext cx="10515600" cy="64970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fontScale="90000"/>
          </a:bodyPr>
          <a:lstStyle>
            <a:lvl1pPr algn="l" defTabSz="914400" rtl="0" eaLnBrk="1" latinLnBrk="0" hangingPunct="1">
              <a:lnSpc>
                <a:spcPct val="90000"/>
              </a:lnSpc>
              <a:spcBef>
                <a:spcPct val="0"/>
              </a:spcBef>
              <a:buNone/>
              <a:defRPr sz="4400" kern="1200">
                <a:solidFill>
                  <a:schemeClr val="tx1"/>
                </a:solidFill>
                <a:latin typeface="Helvetica" charset="0"/>
                <a:ea typeface="Helvetica" charset="0"/>
                <a:cs typeface="Helvetica"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n-lt"/>
                <a:ea typeface="Helvetica" charset="0"/>
                <a:cs typeface="Helvetica" charset="0"/>
              </a:rPr>
              <a:t>Understanding the Min-same / Min-diff Fields</a:t>
            </a:r>
          </a:p>
        </p:txBody>
      </p:sp>
      <p:grpSp>
        <p:nvGrpSpPr>
          <p:cNvPr id="3" name="Group 2" descr="hypothetical scenario of a four member cluster where one of the members is now food/environmental - although the SNP tree has no changed, the min-same/min-diff will be different">
            <a:extLst>
              <a:ext uri="{FF2B5EF4-FFF2-40B4-BE49-F238E27FC236}">
                <a16:creationId xmlns:a16="http://schemas.microsoft.com/office/drawing/2014/main" id="{3A96B5AD-C8A9-0422-4E53-5958334D29FA}"/>
              </a:ext>
            </a:extLst>
          </p:cNvPr>
          <p:cNvGrpSpPr/>
          <p:nvPr/>
        </p:nvGrpSpPr>
        <p:grpSpPr>
          <a:xfrm>
            <a:off x="6043637" y="754190"/>
            <a:ext cx="5831177" cy="5310305"/>
            <a:chOff x="6043637" y="754190"/>
            <a:chExt cx="5831177" cy="5310305"/>
          </a:xfrm>
        </p:grpSpPr>
        <p:grpSp>
          <p:nvGrpSpPr>
            <p:cNvPr id="4" name="Group 3">
              <a:extLst>
                <a:ext uri="{FF2B5EF4-FFF2-40B4-BE49-F238E27FC236}">
                  <a16:creationId xmlns:a16="http://schemas.microsoft.com/office/drawing/2014/main" id="{2C3E3476-BF8F-4916-452E-B2DE2656AC38}"/>
                </a:ext>
              </a:extLst>
            </p:cNvPr>
            <p:cNvGrpSpPr/>
            <p:nvPr/>
          </p:nvGrpSpPr>
          <p:grpSpPr>
            <a:xfrm>
              <a:off x="6043637" y="754190"/>
              <a:ext cx="5831177" cy="4519507"/>
              <a:chOff x="581074" y="580646"/>
              <a:chExt cx="5831177" cy="4519507"/>
            </a:xfrm>
          </p:grpSpPr>
          <p:grpSp>
            <p:nvGrpSpPr>
              <p:cNvPr id="43" name="Group 42">
                <a:extLst>
                  <a:ext uri="{FF2B5EF4-FFF2-40B4-BE49-F238E27FC236}">
                    <a16:creationId xmlns:a16="http://schemas.microsoft.com/office/drawing/2014/main" id="{68FEA38C-BD9E-9A9B-50F6-F0A01865FF54}"/>
                  </a:ext>
                </a:extLst>
              </p:cNvPr>
              <p:cNvGrpSpPr/>
              <p:nvPr/>
            </p:nvGrpSpPr>
            <p:grpSpPr>
              <a:xfrm>
                <a:off x="581074" y="580646"/>
                <a:ext cx="5831177" cy="4519507"/>
                <a:chOff x="581074" y="452106"/>
                <a:chExt cx="7302732" cy="5660048"/>
              </a:xfrm>
            </p:grpSpPr>
            <p:cxnSp>
              <p:nvCxnSpPr>
                <p:cNvPr id="48" name="Straight Connector 47">
                  <a:extLst>
                    <a:ext uri="{FF2B5EF4-FFF2-40B4-BE49-F238E27FC236}">
                      <a16:creationId xmlns:a16="http://schemas.microsoft.com/office/drawing/2014/main" id="{5EBDB9C1-66EB-6F43-1A60-A02C617D31D6}"/>
                    </a:ext>
                  </a:extLst>
                </p:cNvPr>
                <p:cNvCxnSpPr/>
                <p:nvPr/>
              </p:nvCxnSpPr>
              <p:spPr>
                <a:xfrm>
                  <a:off x="581074" y="3581541"/>
                  <a:ext cx="3474719" cy="2107932"/>
                </a:xfrm>
                <a:prstGeom prst="line">
                  <a:avLst/>
                </a:prstGeom>
                <a:ln w="63500" cap="rnd">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29E8D1F-DF78-18F1-D6E2-D760FC156402}"/>
                    </a:ext>
                  </a:extLst>
                </p:cNvPr>
                <p:cNvCxnSpPr/>
                <p:nvPr/>
              </p:nvCxnSpPr>
              <p:spPr>
                <a:xfrm flipV="1">
                  <a:off x="1829550" y="3004023"/>
                  <a:ext cx="2226243" cy="1283931"/>
                </a:xfrm>
                <a:prstGeom prst="line">
                  <a:avLst/>
                </a:prstGeom>
                <a:ln w="63500" cap="rnd">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0759C24-AD22-B094-DF6D-0F3EDA6D39B8}"/>
                    </a:ext>
                  </a:extLst>
                </p:cNvPr>
                <p:cNvCxnSpPr/>
                <p:nvPr/>
              </p:nvCxnSpPr>
              <p:spPr>
                <a:xfrm flipV="1">
                  <a:off x="2823760" y="4250497"/>
                  <a:ext cx="1232033" cy="649704"/>
                </a:xfrm>
                <a:prstGeom prst="line">
                  <a:avLst/>
                </a:prstGeom>
                <a:ln w="63500" cap="rnd">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16C8BD2-8EB4-FA58-3C62-BE946DBC333E}"/>
                    </a:ext>
                  </a:extLst>
                </p:cNvPr>
                <p:cNvCxnSpPr/>
                <p:nvPr/>
              </p:nvCxnSpPr>
              <p:spPr>
                <a:xfrm flipV="1">
                  <a:off x="581074" y="1512109"/>
                  <a:ext cx="3474719" cy="2069432"/>
                </a:xfrm>
                <a:prstGeom prst="line">
                  <a:avLst/>
                </a:prstGeom>
                <a:ln w="63500" cap="rnd">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DB172029-A627-045F-45CF-386C0178C3C7}"/>
                    </a:ext>
                  </a:extLst>
                </p:cNvPr>
                <p:cNvSpPr txBox="1"/>
                <p:nvPr/>
              </p:nvSpPr>
              <p:spPr>
                <a:xfrm>
                  <a:off x="4158828" y="452106"/>
                  <a:ext cx="3724978" cy="5660048"/>
                </a:xfrm>
                <a:prstGeom prst="rect">
                  <a:avLst/>
                </a:prstGeom>
                <a:noFill/>
              </p:spPr>
              <p:txBody>
                <a:bodyPr wrap="square" rtlCol="0">
                  <a:spAutoFit/>
                </a:bodyPr>
                <a:lstStyle/>
                <a:p>
                  <a:pPr>
                    <a:lnSpc>
                      <a:spcPts val="9000"/>
                    </a:lnSpc>
                  </a:pPr>
                  <a:r>
                    <a:rPr lang="en-US" sz="2800" dirty="0">
                      <a:solidFill>
                        <a:srgbClr val="0070C0"/>
                      </a:solidFill>
                      <a:ea typeface="Lucida Console" charset="0"/>
                      <a:cs typeface="Lucida Console" charset="0"/>
                    </a:rPr>
                    <a:t>Clinical</a:t>
                  </a:r>
                </a:p>
                <a:p>
                  <a:pPr>
                    <a:lnSpc>
                      <a:spcPts val="9000"/>
                    </a:lnSpc>
                  </a:pPr>
                  <a:r>
                    <a:rPr lang="en-US" sz="2800" dirty="0">
                      <a:solidFill>
                        <a:srgbClr val="0070C0"/>
                      </a:solidFill>
                      <a:ea typeface="Lucida Console" charset="0"/>
                      <a:cs typeface="Lucida Console" charset="0"/>
                    </a:rPr>
                    <a:t>Clinical</a:t>
                  </a:r>
                  <a:endParaRPr lang="en-US" sz="2800" dirty="0">
                    <a:solidFill>
                      <a:srgbClr val="00B050"/>
                    </a:solidFill>
                    <a:ea typeface="Lucida Console" charset="0"/>
                    <a:cs typeface="Lucida Console" charset="0"/>
                  </a:endParaRPr>
                </a:p>
                <a:p>
                  <a:pPr>
                    <a:lnSpc>
                      <a:spcPts val="9000"/>
                    </a:lnSpc>
                  </a:pPr>
                  <a:r>
                    <a:rPr lang="en-US" sz="2800" dirty="0">
                      <a:solidFill>
                        <a:srgbClr val="00B050"/>
                      </a:solidFill>
                      <a:ea typeface="Lucida Console" charset="0"/>
                      <a:cs typeface="Lucida Console" charset="0"/>
                    </a:rPr>
                    <a:t>Environmental</a:t>
                  </a:r>
                  <a:endParaRPr lang="en-US" sz="2800" dirty="0">
                    <a:solidFill>
                      <a:srgbClr val="0070C0"/>
                    </a:solidFill>
                    <a:ea typeface="Lucida Console" charset="0"/>
                    <a:cs typeface="Lucida Console" charset="0"/>
                  </a:endParaRPr>
                </a:p>
                <a:p>
                  <a:pPr>
                    <a:lnSpc>
                      <a:spcPts val="9000"/>
                    </a:lnSpc>
                  </a:pPr>
                  <a:r>
                    <a:rPr lang="en-US" sz="2800" b="1" dirty="0">
                      <a:solidFill>
                        <a:srgbClr val="0070C0"/>
                      </a:solidFill>
                      <a:ea typeface="Lucida Console" charset="0"/>
                      <a:cs typeface="Lucida Console" charset="0"/>
                    </a:rPr>
                    <a:t>Clinical</a:t>
                  </a:r>
                </a:p>
              </p:txBody>
            </p:sp>
          </p:grpSp>
          <p:sp>
            <p:nvSpPr>
              <p:cNvPr id="44" name="TextBox 43">
                <a:extLst>
                  <a:ext uri="{FF2B5EF4-FFF2-40B4-BE49-F238E27FC236}">
                    <a16:creationId xmlns:a16="http://schemas.microsoft.com/office/drawing/2014/main" id="{30CCA917-0FF1-A2B2-3E07-941265D79FD6}"/>
                  </a:ext>
                </a:extLst>
              </p:cNvPr>
              <p:cNvSpPr txBox="1"/>
              <p:nvPr/>
            </p:nvSpPr>
            <p:spPr>
              <a:xfrm>
                <a:off x="1817499" y="1847911"/>
                <a:ext cx="312906" cy="369332"/>
              </a:xfrm>
              <a:prstGeom prst="rect">
                <a:avLst/>
              </a:prstGeom>
              <a:noFill/>
            </p:spPr>
            <p:txBody>
              <a:bodyPr wrap="none" rtlCol="0">
                <a:spAutoFit/>
              </a:bodyPr>
              <a:lstStyle/>
              <a:p>
                <a:r>
                  <a:rPr lang="en-US" dirty="0"/>
                  <a:t>3</a:t>
                </a:r>
              </a:p>
            </p:txBody>
          </p:sp>
          <p:sp>
            <p:nvSpPr>
              <p:cNvPr id="45" name="TextBox 44">
                <a:extLst>
                  <a:ext uri="{FF2B5EF4-FFF2-40B4-BE49-F238E27FC236}">
                    <a16:creationId xmlns:a16="http://schemas.microsoft.com/office/drawing/2014/main" id="{DCFA95E5-D0AD-BE4C-673E-8280752ACECB}"/>
                  </a:ext>
                </a:extLst>
              </p:cNvPr>
              <p:cNvSpPr txBox="1"/>
              <p:nvPr/>
            </p:nvSpPr>
            <p:spPr>
              <a:xfrm>
                <a:off x="2371842" y="2676878"/>
                <a:ext cx="301686" cy="369332"/>
              </a:xfrm>
              <a:prstGeom prst="rect">
                <a:avLst/>
              </a:prstGeom>
              <a:noFill/>
            </p:spPr>
            <p:txBody>
              <a:bodyPr wrap="square" rtlCol="0">
                <a:spAutoFit/>
              </a:bodyPr>
              <a:lstStyle/>
              <a:p>
                <a:r>
                  <a:rPr lang="en-US" dirty="0"/>
                  <a:t>2</a:t>
                </a:r>
              </a:p>
            </p:txBody>
          </p:sp>
          <p:sp>
            <p:nvSpPr>
              <p:cNvPr id="46" name="TextBox 45">
                <a:extLst>
                  <a:ext uri="{FF2B5EF4-FFF2-40B4-BE49-F238E27FC236}">
                    <a16:creationId xmlns:a16="http://schemas.microsoft.com/office/drawing/2014/main" id="{D081E65F-CF78-8212-F128-977C9B010738}"/>
                  </a:ext>
                </a:extLst>
              </p:cNvPr>
              <p:cNvSpPr txBox="1"/>
              <p:nvPr/>
            </p:nvSpPr>
            <p:spPr>
              <a:xfrm>
                <a:off x="2712883" y="3482076"/>
                <a:ext cx="312906" cy="369332"/>
              </a:xfrm>
              <a:prstGeom prst="rect">
                <a:avLst/>
              </a:prstGeom>
              <a:noFill/>
            </p:spPr>
            <p:txBody>
              <a:bodyPr wrap="none" rtlCol="0">
                <a:spAutoFit/>
              </a:bodyPr>
              <a:lstStyle/>
              <a:p>
                <a:r>
                  <a:rPr lang="en-US" dirty="0"/>
                  <a:t>1</a:t>
                </a:r>
              </a:p>
            </p:txBody>
          </p:sp>
          <p:sp>
            <p:nvSpPr>
              <p:cNvPr id="47" name="TextBox 46">
                <a:extLst>
                  <a:ext uri="{FF2B5EF4-FFF2-40B4-BE49-F238E27FC236}">
                    <a16:creationId xmlns:a16="http://schemas.microsoft.com/office/drawing/2014/main" id="{82585E58-78C0-36EE-9D91-2EA5B9A8AD8E}"/>
                  </a:ext>
                </a:extLst>
              </p:cNvPr>
              <p:cNvSpPr txBox="1"/>
              <p:nvPr/>
            </p:nvSpPr>
            <p:spPr>
              <a:xfrm>
                <a:off x="2673528" y="4513970"/>
                <a:ext cx="312906" cy="369332"/>
              </a:xfrm>
              <a:prstGeom prst="rect">
                <a:avLst/>
              </a:prstGeom>
              <a:noFill/>
            </p:spPr>
            <p:txBody>
              <a:bodyPr wrap="none" rtlCol="0">
                <a:spAutoFit/>
              </a:bodyPr>
              <a:lstStyle/>
              <a:p>
                <a:r>
                  <a:rPr lang="en-US" dirty="0"/>
                  <a:t>1</a:t>
                </a:r>
              </a:p>
            </p:txBody>
          </p:sp>
        </p:grpSp>
        <p:sp>
          <p:nvSpPr>
            <p:cNvPr id="5" name="TextBox 4">
              <a:extLst>
                <a:ext uri="{FF2B5EF4-FFF2-40B4-BE49-F238E27FC236}">
                  <a16:creationId xmlns:a16="http://schemas.microsoft.com/office/drawing/2014/main" id="{04E3A035-D782-49CA-CC8F-13AB4DEB0866}"/>
                </a:ext>
              </a:extLst>
            </p:cNvPr>
            <p:cNvSpPr txBox="1"/>
            <p:nvPr/>
          </p:nvSpPr>
          <p:spPr>
            <a:xfrm>
              <a:off x="6391656" y="5479720"/>
              <a:ext cx="4457246" cy="584775"/>
            </a:xfrm>
            <a:prstGeom prst="rect">
              <a:avLst/>
            </a:prstGeom>
            <a:noFill/>
          </p:spPr>
          <p:txBody>
            <a:bodyPr wrap="none" rtlCol="0">
              <a:spAutoFit/>
            </a:bodyPr>
            <a:lstStyle/>
            <a:p>
              <a:r>
                <a:rPr lang="en-US" sz="3200" dirty="0">
                  <a:solidFill>
                    <a:srgbClr val="0070C0"/>
                  </a:solidFill>
                </a:rPr>
                <a:t>Min-same: 4</a:t>
              </a:r>
              <a:r>
                <a:rPr lang="en-US" sz="3200" dirty="0"/>
                <a:t>, </a:t>
              </a:r>
              <a:r>
                <a:rPr lang="en-US" sz="3200" dirty="0">
                  <a:solidFill>
                    <a:schemeClr val="accent2">
                      <a:lumMod val="75000"/>
                    </a:schemeClr>
                  </a:solidFill>
                </a:rPr>
                <a:t>Min-diff: 2</a:t>
              </a:r>
            </a:p>
          </p:txBody>
        </p:sp>
        <p:sp>
          <p:nvSpPr>
            <p:cNvPr id="41" name="TextBox 40">
              <a:extLst>
                <a:ext uri="{FF2B5EF4-FFF2-40B4-BE49-F238E27FC236}">
                  <a16:creationId xmlns:a16="http://schemas.microsoft.com/office/drawing/2014/main" id="{DD556392-A20D-D147-41B5-4EE487A496F3}"/>
                </a:ext>
              </a:extLst>
            </p:cNvPr>
            <p:cNvSpPr txBox="1"/>
            <p:nvPr/>
          </p:nvSpPr>
          <p:spPr>
            <a:xfrm flipH="1">
              <a:off x="7196328" y="4111598"/>
              <a:ext cx="1131518" cy="369332"/>
            </a:xfrm>
            <a:prstGeom prst="rect">
              <a:avLst/>
            </a:prstGeom>
            <a:noFill/>
          </p:spPr>
          <p:txBody>
            <a:bodyPr wrap="square" rtlCol="0">
              <a:spAutoFit/>
            </a:bodyPr>
            <a:lstStyle/>
            <a:p>
              <a:r>
                <a:rPr lang="en-US" dirty="0"/>
                <a:t>1</a:t>
              </a:r>
            </a:p>
          </p:txBody>
        </p:sp>
        <p:sp>
          <p:nvSpPr>
            <p:cNvPr id="42" name="TextBox 41">
              <a:extLst>
                <a:ext uri="{FF2B5EF4-FFF2-40B4-BE49-F238E27FC236}">
                  <a16:creationId xmlns:a16="http://schemas.microsoft.com/office/drawing/2014/main" id="{16DC432D-2C65-D297-6D8A-24A3BA637AFE}"/>
                </a:ext>
              </a:extLst>
            </p:cNvPr>
            <p:cNvSpPr txBox="1"/>
            <p:nvPr/>
          </p:nvSpPr>
          <p:spPr>
            <a:xfrm flipH="1">
              <a:off x="6391656" y="3547532"/>
              <a:ext cx="1936190" cy="369332"/>
            </a:xfrm>
            <a:prstGeom prst="rect">
              <a:avLst/>
            </a:prstGeom>
            <a:noFill/>
          </p:spPr>
          <p:txBody>
            <a:bodyPr wrap="square" rtlCol="0">
              <a:spAutoFit/>
            </a:bodyPr>
            <a:lstStyle/>
            <a:p>
              <a:r>
                <a:rPr lang="en-US" dirty="0"/>
                <a:t>1</a:t>
              </a:r>
            </a:p>
          </p:txBody>
        </p:sp>
      </p:grpSp>
      <p:cxnSp>
        <p:nvCxnSpPr>
          <p:cNvPr id="53" name="Straight Connector 52">
            <a:extLst>
              <a:ext uri="{FF2B5EF4-FFF2-40B4-BE49-F238E27FC236}">
                <a16:creationId xmlns:a16="http://schemas.microsoft.com/office/drawing/2014/main" id="{40EF0F6D-71D3-CF77-9887-DF51DEE7F7FA}"/>
              </a:ext>
              <a:ext uri="{C183D7F6-B498-43B3-948B-1728B52AA6E4}">
                <adec:decorative xmlns:adec="http://schemas.microsoft.com/office/drawing/2017/decorative" val="1"/>
              </a:ext>
            </a:extLst>
          </p:cNvPr>
          <p:cNvCxnSpPr>
            <a:cxnSpLocks/>
          </p:cNvCxnSpPr>
          <p:nvPr/>
        </p:nvCxnSpPr>
        <p:spPr>
          <a:xfrm flipH="1">
            <a:off x="7986805" y="3897958"/>
            <a:ext cx="877066" cy="456168"/>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816012E-65BA-8715-F434-DB0FD979EA2D}"/>
              </a:ext>
              <a:ext uri="{C183D7F6-B498-43B3-948B-1728B52AA6E4}">
                <adec:decorative xmlns:adec="http://schemas.microsoft.com/office/drawing/2017/decorative" val="1"/>
              </a:ext>
            </a:extLst>
          </p:cNvPr>
          <p:cNvCxnSpPr>
            <a:cxnSpLocks/>
          </p:cNvCxnSpPr>
          <p:nvPr/>
        </p:nvCxnSpPr>
        <p:spPr>
          <a:xfrm flipH="1" flipV="1">
            <a:off x="7986805" y="4339228"/>
            <a:ext cx="831369" cy="46024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EFAAA8F-A162-527E-1B84-4C3DE94943FB}"/>
              </a:ext>
              <a:ext uri="{C183D7F6-B498-43B3-948B-1728B52AA6E4}">
                <adec:decorative xmlns:adec="http://schemas.microsoft.com/office/drawing/2017/decorative" val="1"/>
              </a:ext>
            </a:extLst>
          </p:cNvPr>
          <p:cNvCxnSpPr>
            <a:cxnSpLocks/>
          </p:cNvCxnSpPr>
          <p:nvPr/>
        </p:nvCxnSpPr>
        <p:spPr>
          <a:xfrm flipH="1">
            <a:off x="7003960" y="2931648"/>
            <a:ext cx="1859911" cy="102926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6EB2B10-ACDF-F302-BC6F-41A25DA444A3}"/>
              </a:ext>
              <a:ext uri="{C183D7F6-B498-43B3-948B-1728B52AA6E4}">
                <adec:decorative xmlns:adec="http://schemas.microsoft.com/office/drawing/2017/decorative" val="1"/>
              </a:ext>
            </a:extLst>
          </p:cNvPr>
          <p:cNvCxnSpPr>
            <a:cxnSpLocks/>
          </p:cNvCxnSpPr>
          <p:nvPr/>
        </p:nvCxnSpPr>
        <p:spPr>
          <a:xfrm flipH="1" flipV="1">
            <a:off x="7003960" y="3977749"/>
            <a:ext cx="1859911" cy="1096949"/>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57" name="Group 56" descr="hypothetical scenario of a four member cluster where all  of the members are clinical, and showing the SNP distances and the min-same distance ">
            <a:extLst>
              <a:ext uri="{FF2B5EF4-FFF2-40B4-BE49-F238E27FC236}">
                <a16:creationId xmlns:a16="http://schemas.microsoft.com/office/drawing/2014/main" id="{855CB145-C437-2494-1624-779616CA8789}"/>
              </a:ext>
            </a:extLst>
          </p:cNvPr>
          <p:cNvGrpSpPr/>
          <p:nvPr/>
        </p:nvGrpSpPr>
        <p:grpSpPr>
          <a:xfrm>
            <a:off x="797696" y="754190"/>
            <a:ext cx="5831177" cy="5310305"/>
            <a:chOff x="6043637" y="754190"/>
            <a:chExt cx="5831177" cy="5310305"/>
          </a:xfrm>
        </p:grpSpPr>
        <p:grpSp>
          <p:nvGrpSpPr>
            <p:cNvPr id="58" name="Group 57">
              <a:extLst>
                <a:ext uri="{FF2B5EF4-FFF2-40B4-BE49-F238E27FC236}">
                  <a16:creationId xmlns:a16="http://schemas.microsoft.com/office/drawing/2014/main" id="{E573C8B1-A96A-68E2-D763-DF572AE3DB59}"/>
                </a:ext>
              </a:extLst>
            </p:cNvPr>
            <p:cNvGrpSpPr/>
            <p:nvPr/>
          </p:nvGrpSpPr>
          <p:grpSpPr>
            <a:xfrm>
              <a:off x="6043637" y="754190"/>
              <a:ext cx="5831177" cy="4519507"/>
              <a:chOff x="581074" y="580646"/>
              <a:chExt cx="5831177" cy="4519507"/>
            </a:xfrm>
          </p:grpSpPr>
          <p:grpSp>
            <p:nvGrpSpPr>
              <p:cNvPr id="62" name="Group 61">
                <a:extLst>
                  <a:ext uri="{FF2B5EF4-FFF2-40B4-BE49-F238E27FC236}">
                    <a16:creationId xmlns:a16="http://schemas.microsoft.com/office/drawing/2014/main" id="{62C6C754-2C56-0AE9-AE20-0CBC39F4897C}"/>
                  </a:ext>
                </a:extLst>
              </p:cNvPr>
              <p:cNvGrpSpPr/>
              <p:nvPr/>
            </p:nvGrpSpPr>
            <p:grpSpPr>
              <a:xfrm>
                <a:off x="581074" y="580646"/>
                <a:ext cx="5831177" cy="4519507"/>
                <a:chOff x="581074" y="452106"/>
                <a:chExt cx="7302732" cy="5660048"/>
              </a:xfrm>
            </p:grpSpPr>
            <p:cxnSp>
              <p:nvCxnSpPr>
                <p:cNvPr id="67" name="Straight Connector 66">
                  <a:extLst>
                    <a:ext uri="{FF2B5EF4-FFF2-40B4-BE49-F238E27FC236}">
                      <a16:creationId xmlns:a16="http://schemas.microsoft.com/office/drawing/2014/main" id="{16A290F8-C21E-7385-057F-2907A2B09DD7}"/>
                    </a:ext>
                  </a:extLst>
                </p:cNvPr>
                <p:cNvCxnSpPr/>
                <p:nvPr/>
              </p:nvCxnSpPr>
              <p:spPr>
                <a:xfrm>
                  <a:off x="581074" y="3581541"/>
                  <a:ext cx="3474719" cy="2107932"/>
                </a:xfrm>
                <a:prstGeom prst="line">
                  <a:avLst/>
                </a:prstGeom>
                <a:ln w="63500" cap="rnd">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399F91F-0D3A-3716-4C45-7A65B5471F79}"/>
                    </a:ext>
                  </a:extLst>
                </p:cNvPr>
                <p:cNvCxnSpPr/>
                <p:nvPr/>
              </p:nvCxnSpPr>
              <p:spPr>
                <a:xfrm flipV="1">
                  <a:off x="1829550" y="3004023"/>
                  <a:ext cx="2226243" cy="1283931"/>
                </a:xfrm>
                <a:prstGeom prst="line">
                  <a:avLst/>
                </a:prstGeom>
                <a:ln w="63500" cap="rnd">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6579061-CF95-3D45-149C-DCA5C973EEC4}"/>
                    </a:ext>
                  </a:extLst>
                </p:cNvPr>
                <p:cNvCxnSpPr/>
                <p:nvPr/>
              </p:nvCxnSpPr>
              <p:spPr>
                <a:xfrm flipV="1">
                  <a:off x="2823760" y="4250497"/>
                  <a:ext cx="1232033" cy="649704"/>
                </a:xfrm>
                <a:prstGeom prst="line">
                  <a:avLst/>
                </a:prstGeom>
                <a:ln w="63500" cap="rnd">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505E863-04C6-4650-5CE0-6BD883D3B11D}"/>
                    </a:ext>
                  </a:extLst>
                </p:cNvPr>
                <p:cNvCxnSpPr/>
                <p:nvPr/>
              </p:nvCxnSpPr>
              <p:spPr>
                <a:xfrm flipV="1">
                  <a:off x="581074" y="1512109"/>
                  <a:ext cx="3474719" cy="2069432"/>
                </a:xfrm>
                <a:prstGeom prst="line">
                  <a:avLst/>
                </a:prstGeom>
                <a:ln w="63500" cap="rnd">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537DA600-6097-98EC-EC55-A1379A2E1CAF}"/>
                    </a:ext>
                  </a:extLst>
                </p:cNvPr>
                <p:cNvSpPr txBox="1"/>
                <p:nvPr/>
              </p:nvSpPr>
              <p:spPr>
                <a:xfrm>
                  <a:off x="4158828" y="452106"/>
                  <a:ext cx="3724978" cy="5660048"/>
                </a:xfrm>
                <a:prstGeom prst="rect">
                  <a:avLst/>
                </a:prstGeom>
                <a:noFill/>
              </p:spPr>
              <p:txBody>
                <a:bodyPr wrap="square" rtlCol="0">
                  <a:spAutoFit/>
                </a:bodyPr>
                <a:lstStyle/>
                <a:p>
                  <a:pPr>
                    <a:lnSpc>
                      <a:spcPts val="9000"/>
                    </a:lnSpc>
                  </a:pPr>
                  <a:r>
                    <a:rPr lang="en-US" sz="2800" dirty="0">
                      <a:solidFill>
                        <a:srgbClr val="0070C0"/>
                      </a:solidFill>
                      <a:ea typeface="Lucida Console" charset="0"/>
                      <a:cs typeface="Lucida Console" charset="0"/>
                    </a:rPr>
                    <a:t>Clinical</a:t>
                  </a:r>
                </a:p>
                <a:p>
                  <a:pPr>
                    <a:lnSpc>
                      <a:spcPts val="9000"/>
                    </a:lnSpc>
                  </a:pPr>
                  <a:r>
                    <a:rPr lang="en-US" sz="2800" dirty="0">
                      <a:solidFill>
                        <a:srgbClr val="0070C0"/>
                      </a:solidFill>
                      <a:ea typeface="Lucida Console" charset="0"/>
                      <a:cs typeface="Lucida Console" charset="0"/>
                    </a:rPr>
                    <a:t>Clinical</a:t>
                  </a:r>
                  <a:endParaRPr lang="en-US" sz="2800" dirty="0">
                    <a:solidFill>
                      <a:srgbClr val="00B050"/>
                    </a:solidFill>
                    <a:ea typeface="Lucida Console" charset="0"/>
                    <a:cs typeface="Lucida Console" charset="0"/>
                  </a:endParaRPr>
                </a:p>
                <a:p>
                  <a:pPr>
                    <a:lnSpc>
                      <a:spcPts val="9000"/>
                    </a:lnSpc>
                  </a:pPr>
                  <a:r>
                    <a:rPr lang="en-US" sz="2800" dirty="0">
                      <a:solidFill>
                        <a:srgbClr val="0070C0"/>
                      </a:solidFill>
                      <a:ea typeface="Lucida Console" charset="0"/>
                      <a:cs typeface="Lucida Console" charset="0"/>
                    </a:rPr>
                    <a:t>Clinical</a:t>
                  </a:r>
                </a:p>
                <a:p>
                  <a:pPr>
                    <a:lnSpc>
                      <a:spcPts val="9000"/>
                    </a:lnSpc>
                  </a:pPr>
                  <a:r>
                    <a:rPr lang="en-US" sz="2800" b="1" dirty="0">
                      <a:solidFill>
                        <a:srgbClr val="0070C0"/>
                      </a:solidFill>
                      <a:ea typeface="Lucida Console" charset="0"/>
                      <a:cs typeface="Lucida Console" charset="0"/>
                    </a:rPr>
                    <a:t>Clinical</a:t>
                  </a:r>
                </a:p>
              </p:txBody>
            </p:sp>
          </p:grpSp>
          <p:sp>
            <p:nvSpPr>
              <p:cNvPr id="63" name="TextBox 62">
                <a:extLst>
                  <a:ext uri="{FF2B5EF4-FFF2-40B4-BE49-F238E27FC236}">
                    <a16:creationId xmlns:a16="http://schemas.microsoft.com/office/drawing/2014/main" id="{5DA6931C-02A4-F1F6-E5B7-DB5CD9EDEC99}"/>
                  </a:ext>
                </a:extLst>
              </p:cNvPr>
              <p:cNvSpPr txBox="1"/>
              <p:nvPr/>
            </p:nvSpPr>
            <p:spPr>
              <a:xfrm>
                <a:off x="1817499" y="1847911"/>
                <a:ext cx="312906" cy="369332"/>
              </a:xfrm>
              <a:prstGeom prst="rect">
                <a:avLst/>
              </a:prstGeom>
              <a:noFill/>
            </p:spPr>
            <p:txBody>
              <a:bodyPr wrap="none" rtlCol="0">
                <a:spAutoFit/>
              </a:bodyPr>
              <a:lstStyle/>
              <a:p>
                <a:r>
                  <a:rPr lang="en-US" dirty="0"/>
                  <a:t>3</a:t>
                </a:r>
              </a:p>
            </p:txBody>
          </p:sp>
          <p:sp>
            <p:nvSpPr>
              <p:cNvPr id="64" name="TextBox 63">
                <a:extLst>
                  <a:ext uri="{FF2B5EF4-FFF2-40B4-BE49-F238E27FC236}">
                    <a16:creationId xmlns:a16="http://schemas.microsoft.com/office/drawing/2014/main" id="{2223BC77-6E53-49D9-E347-88BDD6EC843C}"/>
                  </a:ext>
                </a:extLst>
              </p:cNvPr>
              <p:cNvSpPr txBox="1"/>
              <p:nvPr/>
            </p:nvSpPr>
            <p:spPr>
              <a:xfrm>
                <a:off x="2371842" y="2676878"/>
                <a:ext cx="301686" cy="369332"/>
              </a:xfrm>
              <a:prstGeom prst="rect">
                <a:avLst/>
              </a:prstGeom>
              <a:noFill/>
            </p:spPr>
            <p:txBody>
              <a:bodyPr wrap="square" rtlCol="0">
                <a:spAutoFit/>
              </a:bodyPr>
              <a:lstStyle/>
              <a:p>
                <a:r>
                  <a:rPr lang="en-US" dirty="0"/>
                  <a:t>2</a:t>
                </a:r>
              </a:p>
            </p:txBody>
          </p:sp>
          <p:sp>
            <p:nvSpPr>
              <p:cNvPr id="65" name="TextBox 64">
                <a:extLst>
                  <a:ext uri="{FF2B5EF4-FFF2-40B4-BE49-F238E27FC236}">
                    <a16:creationId xmlns:a16="http://schemas.microsoft.com/office/drawing/2014/main" id="{1A07A2AC-5E52-F55D-FB93-F6DBFED86B0C}"/>
                  </a:ext>
                </a:extLst>
              </p:cNvPr>
              <p:cNvSpPr txBox="1"/>
              <p:nvPr/>
            </p:nvSpPr>
            <p:spPr>
              <a:xfrm>
                <a:off x="2712883" y="3482076"/>
                <a:ext cx="312906" cy="369332"/>
              </a:xfrm>
              <a:prstGeom prst="rect">
                <a:avLst/>
              </a:prstGeom>
              <a:noFill/>
            </p:spPr>
            <p:txBody>
              <a:bodyPr wrap="none" rtlCol="0">
                <a:spAutoFit/>
              </a:bodyPr>
              <a:lstStyle/>
              <a:p>
                <a:r>
                  <a:rPr lang="en-US" dirty="0"/>
                  <a:t>1</a:t>
                </a:r>
              </a:p>
            </p:txBody>
          </p:sp>
          <p:sp>
            <p:nvSpPr>
              <p:cNvPr id="66" name="TextBox 65">
                <a:extLst>
                  <a:ext uri="{FF2B5EF4-FFF2-40B4-BE49-F238E27FC236}">
                    <a16:creationId xmlns:a16="http://schemas.microsoft.com/office/drawing/2014/main" id="{19EA8ACD-EB60-8DCE-24BF-6D6500EB565D}"/>
                  </a:ext>
                </a:extLst>
              </p:cNvPr>
              <p:cNvSpPr txBox="1"/>
              <p:nvPr/>
            </p:nvSpPr>
            <p:spPr>
              <a:xfrm>
                <a:off x="2673528" y="4513970"/>
                <a:ext cx="312906" cy="369332"/>
              </a:xfrm>
              <a:prstGeom prst="rect">
                <a:avLst/>
              </a:prstGeom>
              <a:noFill/>
            </p:spPr>
            <p:txBody>
              <a:bodyPr wrap="none" rtlCol="0">
                <a:spAutoFit/>
              </a:bodyPr>
              <a:lstStyle/>
              <a:p>
                <a:r>
                  <a:rPr lang="en-US" dirty="0"/>
                  <a:t>1</a:t>
                </a:r>
              </a:p>
            </p:txBody>
          </p:sp>
        </p:grpSp>
        <p:sp>
          <p:nvSpPr>
            <p:cNvPr id="59" name="TextBox 58">
              <a:extLst>
                <a:ext uri="{FF2B5EF4-FFF2-40B4-BE49-F238E27FC236}">
                  <a16:creationId xmlns:a16="http://schemas.microsoft.com/office/drawing/2014/main" id="{EFE8BF92-86BB-48E7-9D7F-E5E436182C77}"/>
                </a:ext>
              </a:extLst>
            </p:cNvPr>
            <p:cNvSpPr txBox="1"/>
            <p:nvPr/>
          </p:nvSpPr>
          <p:spPr>
            <a:xfrm>
              <a:off x="6391656" y="5479720"/>
              <a:ext cx="4800288" cy="584775"/>
            </a:xfrm>
            <a:prstGeom prst="rect">
              <a:avLst/>
            </a:prstGeom>
            <a:noFill/>
          </p:spPr>
          <p:txBody>
            <a:bodyPr wrap="none" rtlCol="0">
              <a:spAutoFit/>
            </a:bodyPr>
            <a:lstStyle/>
            <a:p>
              <a:r>
                <a:rPr lang="en-US" sz="3200" dirty="0">
                  <a:solidFill>
                    <a:srgbClr val="0070C0"/>
                  </a:solidFill>
                </a:rPr>
                <a:t>Min-same: 2</a:t>
              </a:r>
              <a:r>
                <a:rPr lang="en-US" sz="3200" dirty="0"/>
                <a:t>, </a:t>
              </a:r>
              <a:r>
                <a:rPr lang="en-US" sz="3200" dirty="0">
                  <a:solidFill>
                    <a:schemeClr val="accent2">
                      <a:lumMod val="75000"/>
                    </a:schemeClr>
                  </a:solidFill>
                </a:rPr>
                <a:t>Min-diff: NA</a:t>
              </a:r>
            </a:p>
          </p:txBody>
        </p:sp>
        <p:sp>
          <p:nvSpPr>
            <p:cNvPr id="60" name="TextBox 59">
              <a:extLst>
                <a:ext uri="{FF2B5EF4-FFF2-40B4-BE49-F238E27FC236}">
                  <a16:creationId xmlns:a16="http://schemas.microsoft.com/office/drawing/2014/main" id="{3CA22C66-0B3A-DDC5-C012-D006D866AD7A}"/>
                </a:ext>
              </a:extLst>
            </p:cNvPr>
            <p:cNvSpPr txBox="1"/>
            <p:nvPr/>
          </p:nvSpPr>
          <p:spPr>
            <a:xfrm flipH="1">
              <a:off x="7196328" y="4111598"/>
              <a:ext cx="1131518" cy="369332"/>
            </a:xfrm>
            <a:prstGeom prst="rect">
              <a:avLst/>
            </a:prstGeom>
            <a:noFill/>
          </p:spPr>
          <p:txBody>
            <a:bodyPr wrap="square" rtlCol="0">
              <a:spAutoFit/>
            </a:bodyPr>
            <a:lstStyle/>
            <a:p>
              <a:r>
                <a:rPr lang="en-US" dirty="0"/>
                <a:t>1</a:t>
              </a:r>
            </a:p>
          </p:txBody>
        </p:sp>
        <p:sp>
          <p:nvSpPr>
            <p:cNvPr id="61" name="TextBox 60">
              <a:extLst>
                <a:ext uri="{FF2B5EF4-FFF2-40B4-BE49-F238E27FC236}">
                  <a16:creationId xmlns:a16="http://schemas.microsoft.com/office/drawing/2014/main" id="{FE41F3C0-3A18-2BD2-0F6C-3EF3E2D889DC}"/>
                </a:ext>
              </a:extLst>
            </p:cNvPr>
            <p:cNvSpPr txBox="1"/>
            <p:nvPr/>
          </p:nvSpPr>
          <p:spPr>
            <a:xfrm flipH="1">
              <a:off x="6391656" y="3547532"/>
              <a:ext cx="1936190" cy="369332"/>
            </a:xfrm>
            <a:prstGeom prst="rect">
              <a:avLst/>
            </a:prstGeom>
            <a:noFill/>
          </p:spPr>
          <p:txBody>
            <a:bodyPr wrap="square" rtlCol="0">
              <a:spAutoFit/>
            </a:bodyPr>
            <a:lstStyle/>
            <a:p>
              <a:r>
                <a:rPr lang="en-US" dirty="0"/>
                <a:t>1</a:t>
              </a:r>
            </a:p>
          </p:txBody>
        </p:sp>
      </p:grpSp>
      <p:cxnSp>
        <p:nvCxnSpPr>
          <p:cNvPr id="72" name="Straight Connector 71">
            <a:extLst>
              <a:ext uri="{FF2B5EF4-FFF2-40B4-BE49-F238E27FC236}">
                <a16:creationId xmlns:a16="http://schemas.microsoft.com/office/drawing/2014/main" id="{E020C8EB-3D84-4D3C-9F51-2C178AAF5092}"/>
              </a:ext>
              <a:ext uri="{C183D7F6-B498-43B3-948B-1728B52AA6E4}">
                <adec:decorative xmlns:adec="http://schemas.microsoft.com/office/drawing/2017/decorative" val="1"/>
              </a:ext>
            </a:extLst>
          </p:cNvPr>
          <p:cNvCxnSpPr>
            <a:cxnSpLocks/>
          </p:cNvCxnSpPr>
          <p:nvPr/>
        </p:nvCxnSpPr>
        <p:spPr>
          <a:xfrm flipH="1">
            <a:off x="2816998" y="3951984"/>
            <a:ext cx="764356" cy="37226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748D5F2-D460-EE2E-7ADC-6FBD7EA3B454}"/>
              </a:ext>
              <a:ext uri="{C183D7F6-B498-43B3-948B-1728B52AA6E4}">
                <adec:decorative xmlns:adec="http://schemas.microsoft.com/office/drawing/2017/decorative" val="1"/>
              </a:ext>
            </a:extLst>
          </p:cNvPr>
          <p:cNvCxnSpPr>
            <a:cxnSpLocks/>
          </p:cNvCxnSpPr>
          <p:nvPr/>
        </p:nvCxnSpPr>
        <p:spPr>
          <a:xfrm flipH="1" flipV="1">
            <a:off x="2816998" y="4314552"/>
            <a:ext cx="764356" cy="479177"/>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359C708C-C0B8-EE2E-3094-CD6602F19BB3}"/>
              </a:ext>
            </a:extLst>
          </p:cNvPr>
          <p:cNvSpPr txBox="1"/>
          <p:nvPr/>
        </p:nvSpPr>
        <p:spPr>
          <a:xfrm>
            <a:off x="3853285" y="6270928"/>
            <a:ext cx="6618287" cy="369332"/>
          </a:xfrm>
          <a:prstGeom prst="rect">
            <a:avLst/>
          </a:prstGeom>
          <a:noFill/>
        </p:spPr>
        <p:txBody>
          <a:bodyPr wrap="none" rtlCol="0">
            <a:spAutoFit/>
          </a:bodyPr>
          <a:lstStyle/>
          <a:p>
            <a:r>
              <a:rPr lang="en-US" dirty="0"/>
              <a:t>Calculated once, does not change unless SNP cluster changes</a:t>
            </a:r>
          </a:p>
        </p:txBody>
      </p:sp>
    </p:spTree>
    <p:extLst>
      <p:ext uri="{BB962C8B-B14F-4D97-AF65-F5344CB8AC3E}">
        <p14:creationId xmlns:p14="http://schemas.microsoft.com/office/powerpoint/2010/main" val="4082942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17E32-AEBE-43C9-AA6A-1391E3644454}"/>
              </a:ext>
            </a:extLst>
          </p:cNvPr>
          <p:cNvSpPr txBox="1">
            <a:spLocks/>
          </p:cNvSpPr>
          <p:nvPr/>
        </p:nvSpPr>
        <p:spPr>
          <a:xfrm>
            <a:off x="443595" y="180869"/>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Helvetica" charset="0"/>
                <a:ea typeface="Helvetica" charset="0"/>
                <a:cs typeface="Helvetica" charset="0"/>
              </a:defRPr>
            </a:lvl1pPr>
          </a:lstStyle>
          <a:p>
            <a:r>
              <a:rPr lang="en-US">
                <a:latin typeface="Arial" panose="020B0604020202020204" pitchFamily="34" charset="0"/>
                <a:cs typeface="Arial" panose="020B0604020202020204" pitchFamily="34" charset="0"/>
              </a:rPr>
              <a:t>Web browsers</a:t>
            </a:r>
            <a:endParaRPr lang="en-US" dirty="0">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B6E5A99F-DE26-47A2-8195-2EA45A876418}"/>
              </a:ext>
            </a:extLst>
          </p:cNvPr>
          <p:cNvGrpSpPr/>
          <p:nvPr/>
        </p:nvGrpSpPr>
        <p:grpSpPr>
          <a:xfrm>
            <a:off x="493680" y="1077144"/>
            <a:ext cx="4198349" cy="1505528"/>
            <a:chOff x="275020" y="652292"/>
            <a:chExt cx="4016761" cy="2005193"/>
          </a:xfrm>
        </p:grpSpPr>
        <p:sp>
          <p:nvSpPr>
            <p:cNvPr id="4" name="TextBox 3">
              <a:extLst>
                <a:ext uri="{FF2B5EF4-FFF2-40B4-BE49-F238E27FC236}">
                  <a16:creationId xmlns:a16="http://schemas.microsoft.com/office/drawing/2014/main" id="{87030516-D3A8-4389-B6A8-B494F83590A4}"/>
                </a:ext>
              </a:extLst>
            </p:cNvPr>
            <p:cNvSpPr txBox="1"/>
            <p:nvPr/>
          </p:nvSpPr>
          <p:spPr>
            <a:xfrm>
              <a:off x="2807135" y="652292"/>
              <a:ext cx="1484646" cy="1598702"/>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 reference gene or point mutation</a:t>
              </a:r>
            </a:p>
          </p:txBody>
        </p:sp>
        <p:sp>
          <p:nvSpPr>
            <p:cNvPr id="5" name="Rectangle 4">
              <a:extLst>
                <a:ext uri="{FF2B5EF4-FFF2-40B4-BE49-F238E27FC236}">
                  <a16:creationId xmlns:a16="http://schemas.microsoft.com/office/drawing/2014/main" id="{56E7E8BD-ADEF-46C2-95D4-BE55B1933CA3}"/>
                </a:ext>
              </a:extLst>
            </p:cNvPr>
            <p:cNvSpPr/>
            <p:nvPr/>
          </p:nvSpPr>
          <p:spPr>
            <a:xfrm>
              <a:off x="275020" y="653743"/>
              <a:ext cx="4016761" cy="19648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sp>
          <p:nvSpPr>
            <p:cNvPr id="6" name="TextBox 5">
              <a:extLst>
                <a:ext uri="{FF2B5EF4-FFF2-40B4-BE49-F238E27FC236}">
                  <a16:creationId xmlns:a16="http://schemas.microsoft.com/office/drawing/2014/main" id="{0117BC94-A695-471E-A0D1-0C648454DCB9}"/>
                </a:ext>
              </a:extLst>
            </p:cNvPr>
            <p:cNvSpPr txBox="1"/>
            <p:nvPr/>
          </p:nvSpPr>
          <p:spPr>
            <a:xfrm>
              <a:off x="2855054" y="2165577"/>
              <a:ext cx="1268830" cy="491908"/>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1,000 X N</a:t>
              </a:r>
            </a:p>
          </p:txBody>
        </p:sp>
        <p:sp>
          <p:nvSpPr>
            <p:cNvPr id="7" name="Document 5">
              <a:extLst>
                <a:ext uri="{FF2B5EF4-FFF2-40B4-BE49-F238E27FC236}">
                  <a16:creationId xmlns:a16="http://schemas.microsoft.com/office/drawing/2014/main" id="{31566C26-C3E5-487B-B9D1-74B93F6E99E8}"/>
                </a:ext>
              </a:extLst>
            </p:cNvPr>
            <p:cNvSpPr/>
            <p:nvPr/>
          </p:nvSpPr>
          <p:spPr>
            <a:xfrm>
              <a:off x="362672" y="749127"/>
              <a:ext cx="2444463" cy="1668665"/>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Reference Gene Catalog</a:t>
              </a:r>
            </a:p>
          </p:txBody>
        </p:sp>
      </p:grpSp>
      <p:grpSp>
        <p:nvGrpSpPr>
          <p:cNvPr id="8" name="Group 7">
            <a:extLst>
              <a:ext uri="{FF2B5EF4-FFF2-40B4-BE49-F238E27FC236}">
                <a16:creationId xmlns:a16="http://schemas.microsoft.com/office/drawing/2014/main" id="{61E64664-F269-4FE9-96B9-0178920E61FF}"/>
              </a:ext>
            </a:extLst>
          </p:cNvPr>
          <p:cNvGrpSpPr/>
          <p:nvPr/>
        </p:nvGrpSpPr>
        <p:grpSpPr>
          <a:xfrm>
            <a:off x="493680" y="4777641"/>
            <a:ext cx="4198349" cy="1505528"/>
            <a:chOff x="275020" y="652292"/>
            <a:chExt cx="4016761" cy="2005193"/>
          </a:xfrm>
        </p:grpSpPr>
        <p:sp>
          <p:nvSpPr>
            <p:cNvPr id="9" name="TextBox 8">
              <a:extLst>
                <a:ext uri="{FF2B5EF4-FFF2-40B4-BE49-F238E27FC236}">
                  <a16:creationId xmlns:a16="http://schemas.microsoft.com/office/drawing/2014/main" id="{C411ABBC-4EA2-4468-9041-038C1130CE27}"/>
                </a:ext>
              </a:extLst>
            </p:cNvPr>
            <p:cNvSpPr txBox="1"/>
            <p:nvPr/>
          </p:nvSpPr>
          <p:spPr>
            <a:xfrm>
              <a:off x="2807135" y="652292"/>
              <a:ext cx="1484646" cy="860840"/>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an HMM</a:t>
              </a:r>
            </a:p>
          </p:txBody>
        </p:sp>
        <p:sp>
          <p:nvSpPr>
            <p:cNvPr id="10" name="Rectangle 9">
              <a:extLst>
                <a:ext uri="{FF2B5EF4-FFF2-40B4-BE49-F238E27FC236}">
                  <a16:creationId xmlns:a16="http://schemas.microsoft.com/office/drawing/2014/main" id="{A07118FC-26F5-487A-98AC-2620777B8DAF}"/>
                </a:ext>
              </a:extLst>
            </p:cNvPr>
            <p:cNvSpPr/>
            <p:nvPr/>
          </p:nvSpPr>
          <p:spPr>
            <a:xfrm>
              <a:off x="275020" y="653743"/>
              <a:ext cx="4016761" cy="19648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sp>
          <p:nvSpPr>
            <p:cNvPr id="11" name="TextBox 10">
              <a:extLst>
                <a:ext uri="{FF2B5EF4-FFF2-40B4-BE49-F238E27FC236}">
                  <a16:creationId xmlns:a16="http://schemas.microsoft.com/office/drawing/2014/main" id="{9419A56C-7F28-4EC4-AF93-E31EA71192C6}"/>
                </a:ext>
              </a:extLst>
            </p:cNvPr>
            <p:cNvSpPr txBox="1"/>
            <p:nvPr/>
          </p:nvSpPr>
          <p:spPr>
            <a:xfrm>
              <a:off x="2987034" y="2165577"/>
              <a:ext cx="1136850" cy="491908"/>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100 X N</a:t>
              </a:r>
            </a:p>
          </p:txBody>
        </p:sp>
        <p:sp>
          <p:nvSpPr>
            <p:cNvPr id="12" name="Document 5">
              <a:extLst>
                <a:ext uri="{FF2B5EF4-FFF2-40B4-BE49-F238E27FC236}">
                  <a16:creationId xmlns:a16="http://schemas.microsoft.com/office/drawing/2014/main" id="{F45E7311-BD09-4B7C-9813-176892D8A5A2}"/>
                </a:ext>
              </a:extLst>
            </p:cNvPr>
            <p:cNvSpPr/>
            <p:nvPr/>
          </p:nvSpPr>
          <p:spPr>
            <a:xfrm>
              <a:off x="362672" y="749127"/>
              <a:ext cx="2444463" cy="1668665"/>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Reference HMM Catalog</a:t>
              </a:r>
            </a:p>
          </p:txBody>
        </p:sp>
      </p:grpSp>
      <p:grpSp>
        <p:nvGrpSpPr>
          <p:cNvPr id="13" name="Group 12">
            <a:extLst>
              <a:ext uri="{FF2B5EF4-FFF2-40B4-BE49-F238E27FC236}">
                <a16:creationId xmlns:a16="http://schemas.microsoft.com/office/drawing/2014/main" id="{86B23C0B-CF6C-4E22-B99E-64A293EB7159}"/>
              </a:ext>
            </a:extLst>
          </p:cNvPr>
          <p:cNvGrpSpPr/>
          <p:nvPr/>
        </p:nvGrpSpPr>
        <p:grpSpPr>
          <a:xfrm>
            <a:off x="493679" y="2912249"/>
            <a:ext cx="4198349" cy="1505528"/>
            <a:chOff x="275020" y="652292"/>
            <a:chExt cx="4016761" cy="2005193"/>
          </a:xfrm>
        </p:grpSpPr>
        <p:sp>
          <p:nvSpPr>
            <p:cNvPr id="14" name="TextBox 13">
              <a:extLst>
                <a:ext uri="{FF2B5EF4-FFF2-40B4-BE49-F238E27FC236}">
                  <a16:creationId xmlns:a16="http://schemas.microsoft.com/office/drawing/2014/main" id="{A4FCCF70-9329-4F99-A637-1E20A4104F33}"/>
                </a:ext>
              </a:extLst>
            </p:cNvPr>
            <p:cNvSpPr txBox="1"/>
            <p:nvPr/>
          </p:nvSpPr>
          <p:spPr>
            <a:xfrm>
              <a:off x="2807135" y="652292"/>
              <a:ext cx="1484646" cy="1229771"/>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 node in our hierarchy</a:t>
              </a:r>
            </a:p>
          </p:txBody>
        </p:sp>
        <p:sp>
          <p:nvSpPr>
            <p:cNvPr id="15" name="Rectangle 14">
              <a:extLst>
                <a:ext uri="{FF2B5EF4-FFF2-40B4-BE49-F238E27FC236}">
                  <a16:creationId xmlns:a16="http://schemas.microsoft.com/office/drawing/2014/main" id="{A5668040-9CCA-4104-B0E7-EDC3F55AE2A5}"/>
                </a:ext>
              </a:extLst>
            </p:cNvPr>
            <p:cNvSpPr/>
            <p:nvPr/>
          </p:nvSpPr>
          <p:spPr>
            <a:xfrm>
              <a:off x="275020" y="653743"/>
              <a:ext cx="4016761" cy="19648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sp>
          <p:nvSpPr>
            <p:cNvPr id="16" name="TextBox 15">
              <a:extLst>
                <a:ext uri="{FF2B5EF4-FFF2-40B4-BE49-F238E27FC236}">
                  <a16:creationId xmlns:a16="http://schemas.microsoft.com/office/drawing/2014/main" id="{8017C030-A438-4C2F-8EC7-57CF7BB56923}"/>
                </a:ext>
              </a:extLst>
            </p:cNvPr>
            <p:cNvSpPr txBox="1"/>
            <p:nvPr/>
          </p:nvSpPr>
          <p:spPr>
            <a:xfrm>
              <a:off x="2987034" y="2165577"/>
              <a:ext cx="1136850" cy="491908"/>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1000 X N</a:t>
              </a:r>
            </a:p>
          </p:txBody>
        </p:sp>
        <p:sp>
          <p:nvSpPr>
            <p:cNvPr id="17" name="Document 5">
              <a:extLst>
                <a:ext uri="{FF2B5EF4-FFF2-40B4-BE49-F238E27FC236}">
                  <a16:creationId xmlns:a16="http://schemas.microsoft.com/office/drawing/2014/main" id="{B2696EAC-ECC9-4975-AC23-4D4C3D9D6436}"/>
                </a:ext>
              </a:extLst>
            </p:cNvPr>
            <p:cNvSpPr/>
            <p:nvPr/>
          </p:nvSpPr>
          <p:spPr>
            <a:xfrm>
              <a:off x="362672" y="749127"/>
              <a:ext cx="2444463" cy="1668665"/>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Reference Gene Hierarchy</a:t>
              </a:r>
            </a:p>
          </p:txBody>
        </p:sp>
      </p:grpSp>
      <p:cxnSp>
        <p:nvCxnSpPr>
          <p:cNvPr id="18" name="Straight Arrow Connector 17">
            <a:extLst>
              <a:ext uri="{FF2B5EF4-FFF2-40B4-BE49-F238E27FC236}">
                <a16:creationId xmlns:a16="http://schemas.microsoft.com/office/drawing/2014/main" id="{3EBDB9C5-7E24-4858-9D4F-06601AE6CF0C}"/>
              </a:ext>
            </a:extLst>
          </p:cNvPr>
          <p:cNvCxnSpPr>
            <a:stCxn id="5" idx="2"/>
            <a:endCxn id="15" idx="0"/>
          </p:cNvCxnSpPr>
          <p:nvPr/>
        </p:nvCxnSpPr>
        <p:spPr>
          <a:xfrm flipH="1">
            <a:off x="2592854" y="2553474"/>
            <a:ext cx="1" cy="359864"/>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6B4AB62-E38A-4A9E-9CCB-76EFD48BAEF8}"/>
              </a:ext>
            </a:extLst>
          </p:cNvPr>
          <p:cNvCxnSpPr>
            <a:cxnSpLocks/>
            <a:stCxn id="15" idx="2"/>
            <a:endCxn id="10" idx="0"/>
          </p:cNvCxnSpPr>
          <p:nvPr/>
        </p:nvCxnSpPr>
        <p:spPr>
          <a:xfrm>
            <a:off x="2592854" y="4388578"/>
            <a:ext cx="1" cy="390152"/>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Document 5">
            <a:extLst>
              <a:ext uri="{FF2B5EF4-FFF2-40B4-BE49-F238E27FC236}">
                <a16:creationId xmlns:a16="http://schemas.microsoft.com/office/drawing/2014/main" id="{67F838D2-D0A6-40DB-A979-504167168978}"/>
              </a:ext>
            </a:extLst>
          </p:cNvPr>
          <p:cNvSpPr/>
          <p:nvPr/>
        </p:nvSpPr>
        <p:spPr>
          <a:xfrm>
            <a:off x="5701395" y="888660"/>
            <a:ext cx="3284985" cy="1081319"/>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Pathogen Detection Isolate Browser</a:t>
            </a:r>
          </a:p>
        </p:txBody>
      </p:sp>
      <p:sp>
        <p:nvSpPr>
          <p:cNvPr id="21" name="TextBox 20">
            <a:extLst>
              <a:ext uri="{FF2B5EF4-FFF2-40B4-BE49-F238E27FC236}">
                <a16:creationId xmlns:a16="http://schemas.microsoft.com/office/drawing/2014/main" id="{4B68EE55-79FE-4A83-85EC-7762BE8FCF70}"/>
              </a:ext>
            </a:extLst>
          </p:cNvPr>
          <p:cNvSpPr txBox="1"/>
          <p:nvPr/>
        </p:nvSpPr>
        <p:spPr>
          <a:xfrm>
            <a:off x="9148127" y="849786"/>
            <a:ext cx="2788427" cy="1754326"/>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an assembled isolate, possibly with AMR, virulence, and/or stress response genes and AST data</a:t>
            </a:r>
          </a:p>
        </p:txBody>
      </p:sp>
      <p:sp>
        <p:nvSpPr>
          <p:cNvPr id="22" name="Rectangle 21">
            <a:extLst>
              <a:ext uri="{FF2B5EF4-FFF2-40B4-BE49-F238E27FC236}">
                <a16:creationId xmlns:a16="http://schemas.microsoft.com/office/drawing/2014/main" id="{E7FF999B-79A3-4059-848A-42AE7D2D7237}"/>
              </a:ext>
            </a:extLst>
          </p:cNvPr>
          <p:cNvSpPr/>
          <p:nvPr/>
        </p:nvSpPr>
        <p:spPr>
          <a:xfrm>
            <a:off x="5616044" y="791533"/>
            <a:ext cx="6474542" cy="1933385"/>
          </a:xfrm>
          <a:prstGeom prst="rect">
            <a:avLst/>
          </a:prstGeom>
          <a:no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sp>
        <p:nvSpPr>
          <p:cNvPr id="23" name="TextBox 22">
            <a:extLst>
              <a:ext uri="{FF2B5EF4-FFF2-40B4-BE49-F238E27FC236}">
                <a16:creationId xmlns:a16="http://schemas.microsoft.com/office/drawing/2014/main" id="{AB925C9B-BD0C-4CA2-A34F-C0F30DACA933}"/>
              </a:ext>
            </a:extLst>
          </p:cNvPr>
          <p:cNvSpPr txBox="1"/>
          <p:nvPr/>
        </p:nvSpPr>
        <p:spPr>
          <a:xfrm>
            <a:off x="9862157" y="2248649"/>
            <a:ext cx="1757212" cy="369332"/>
          </a:xfrm>
          <a:prstGeom prst="rect">
            <a:avLst/>
          </a:prstGeom>
          <a:noFill/>
        </p:spPr>
        <p:txBody>
          <a:bodyPr wrap="non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1, 000,000 X N</a:t>
            </a:r>
          </a:p>
        </p:txBody>
      </p:sp>
      <p:cxnSp>
        <p:nvCxnSpPr>
          <p:cNvPr id="24" name="Straight Arrow Connector 23">
            <a:extLst>
              <a:ext uri="{FF2B5EF4-FFF2-40B4-BE49-F238E27FC236}">
                <a16:creationId xmlns:a16="http://schemas.microsoft.com/office/drawing/2014/main" id="{91BC447B-9DD9-4B5F-9012-75732AF56EE0}"/>
              </a:ext>
            </a:extLst>
          </p:cNvPr>
          <p:cNvCxnSpPr>
            <a:cxnSpLocks/>
          </p:cNvCxnSpPr>
          <p:nvPr/>
        </p:nvCxnSpPr>
        <p:spPr>
          <a:xfrm>
            <a:off x="8514369" y="2818706"/>
            <a:ext cx="0" cy="485092"/>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9819F78-FA27-42D4-9853-6554D96A21E4}"/>
              </a:ext>
            </a:extLst>
          </p:cNvPr>
          <p:cNvCxnSpPr>
            <a:cxnSpLocks/>
          </p:cNvCxnSpPr>
          <p:nvPr/>
        </p:nvCxnSpPr>
        <p:spPr>
          <a:xfrm flipV="1">
            <a:off x="8713473" y="2818706"/>
            <a:ext cx="0" cy="485092"/>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A50C908-8A01-490E-80DC-C5D77FE2FD40}"/>
              </a:ext>
            </a:extLst>
          </p:cNvPr>
          <p:cNvSpPr txBox="1"/>
          <p:nvPr/>
        </p:nvSpPr>
        <p:spPr>
          <a:xfrm>
            <a:off x="10039640" y="2948002"/>
            <a:ext cx="2223686"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Download genomes</a:t>
            </a:r>
          </a:p>
        </p:txBody>
      </p:sp>
      <p:cxnSp>
        <p:nvCxnSpPr>
          <p:cNvPr id="27" name="Straight Arrow Connector 26">
            <a:extLst>
              <a:ext uri="{FF2B5EF4-FFF2-40B4-BE49-F238E27FC236}">
                <a16:creationId xmlns:a16="http://schemas.microsoft.com/office/drawing/2014/main" id="{58A25CC3-BE39-4D06-8974-68BEE728FB18}"/>
              </a:ext>
            </a:extLst>
          </p:cNvPr>
          <p:cNvCxnSpPr>
            <a:cxnSpLocks/>
            <a:stCxn id="5" idx="3"/>
            <a:endCxn id="22" idx="1"/>
          </p:cNvCxnSpPr>
          <p:nvPr/>
        </p:nvCxnSpPr>
        <p:spPr>
          <a:xfrm flipV="1">
            <a:off x="4692029" y="1758226"/>
            <a:ext cx="924015" cy="576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4100AC3-3409-4393-BD56-37BF017B76E8}"/>
              </a:ext>
            </a:extLst>
          </p:cNvPr>
          <p:cNvCxnSpPr>
            <a:stCxn id="5" idx="3"/>
            <a:endCxn id="40" idx="1"/>
          </p:cNvCxnSpPr>
          <p:nvPr/>
        </p:nvCxnSpPr>
        <p:spPr>
          <a:xfrm>
            <a:off x="4692029" y="1815854"/>
            <a:ext cx="924015" cy="2821535"/>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7E501E3-5683-4E42-B929-E60F8F4E0B29}"/>
              </a:ext>
            </a:extLst>
          </p:cNvPr>
          <p:cNvCxnSpPr>
            <a:stCxn id="15" idx="3"/>
            <a:endCxn id="22" idx="1"/>
          </p:cNvCxnSpPr>
          <p:nvPr/>
        </p:nvCxnSpPr>
        <p:spPr>
          <a:xfrm flipV="1">
            <a:off x="4692028" y="1758226"/>
            <a:ext cx="924016" cy="18927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1D1584F-AD31-4F45-B291-4EB6352241AE}"/>
              </a:ext>
            </a:extLst>
          </p:cNvPr>
          <p:cNvCxnSpPr>
            <a:stCxn id="15" idx="3"/>
            <a:endCxn id="40" idx="1"/>
          </p:cNvCxnSpPr>
          <p:nvPr/>
        </p:nvCxnSpPr>
        <p:spPr>
          <a:xfrm>
            <a:off x="4692028" y="3650958"/>
            <a:ext cx="924016" cy="9864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05C274A-4506-4D2E-BA97-38F48CBD177E}"/>
              </a:ext>
            </a:extLst>
          </p:cNvPr>
          <p:cNvCxnSpPr>
            <a:stCxn id="10" idx="3"/>
            <a:endCxn id="22" idx="1"/>
          </p:cNvCxnSpPr>
          <p:nvPr/>
        </p:nvCxnSpPr>
        <p:spPr>
          <a:xfrm flipV="1">
            <a:off x="4692029" y="1758226"/>
            <a:ext cx="924015" cy="37581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086E105-4059-452C-B68C-352DB1DBFABB}"/>
              </a:ext>
            </a:extLst>
          </p:cNvPr>
          <p:cNvCxnSpPr>
            <a:stCxn id="10" idx="3"/>
            <a:endCxn id="40" idx="1"/>
          </p:cNvCxnSpPr>
          <p:nvPr/>
        </p:nvCxnSpPr>
        <p:spPr>
          <a:xfrm flipV="1">
            <a:off x="4692029" y="4637389"/>
            <a:ext cx="924015" cy="8789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3F4A2DBA-A5B0-4FF0-A17D-EC3410346793}"/>
              </a:ext>
            </a:extLst>
          </p:cNvPr>
          <p:cNvGrpSpPr/>
          <p:nvPr/>
        </p:nvGrpSpPr>
        <p:grpSpPr>
          <a:xfrm>
            <a:off x="5616044" y="3367190"/>
            <a:ext cx="6622234" cy="3258714"/>
            <a:chOff x="5614700" y="3200285"/>
            <a:chExt cx="6622234" cy="3258714"/>
          </a:xfrm>
        </p:grpSpPr>
        <p:grpSp>
          <p:nvGrpSpPr>
            <p:cNvPr id="34" name="Group 33">
              <a:extLst>
                <a:ext uri="{FF2B5EF4-FFF2-40B4-BE49-F238E27FC236}">
                  <a16:creationId xmlns:a16="http://schemas.microsoft.com/office/drawing/2014/main" id="{BE7E74AA-29C0-4B72-AEE7-2F9F6C7C8723}"/>
                </a:ext>
              </a:extLst>
            </p:cNvPr>
            <p:cNvGrpSpPr/>
            <p:nvPr/>
          </p:nvGrpSpPr>
          <p:grpSpPr>
            <a:xfrm>
              <a:off x="5614700" y="3200285"/>
              <a:ext cx="6622234" cy="2540398"/>
              <a:chOff x="5614700" y="3200285"/>
              <a:chExt cx="6622234" cy="2540398"/>
            </a:xfrm>
          </p:grpSpPr>
          <p:sp>
            <p:nvSpPr>
              <p:cNvPr id="37" name="Document 5">
                <a:extLst>
                  <a:ext uri="{FF2B5EF4-FFF2-40B4-BE49-F238E27FC236}">
                    <a16:creationId xmlns:a16="http://schemas.microsoft.com/office/drawing/2014/main" id="{865DD377-0799-40D7-B2E1-4B7966CF92A3}"/>
                  </a:ext>
                </a:extLst>
              </p:cNvPr>
              <p:cNvSpPr/>
              <p:nvPr/>
            </p:nvSpPr>
            <p:spPr>
              <a:xfrm>
                <a:off x="5795142" y="3327577"/>
                <a:ext cx="3559618" cy="1954840"/>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err="1">
                    <a:solidFill>
                      <a:schemeClr val="bg1"/>
                    </a:solidFill>
                    <a:latin typeface="Arial" panose="020B0604020202020204" pitchFamily="34" charset="0"/>
                    <a:ea typeface="Cambria" panose="02040503050406030204" pitchFamily="18" charset="0"/>
                    <a:cs typeface="Arial" panose="020B0604020202020204" pitchFamily="34" charset="0"/>
                  </a:rPr>
                  <a:t>MicroBIGG</a:t>
                </a: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-E (Microbial Browser for Identification of Genetic and Genomic Elements)</a:t>
                </a:r>
              </a:p>
            </p:txBody>
          </p:sp>
          <p:sp>
            <p:nvSpPr>
              <p:cNvPr id="38" name="TextBox 37">
                <a:extLst>
                  <a:ext uri="{FF2B5EF4-FFF2-40B4-BE49-F238E27FC236}">
                    <a16:creationId xmlns:a16="http://schemas.microsoft.com/office/drawing/2014/main" id="{B479ACFD-A9D1-4E53-832E-22F48C91E7D7}"/>
                  </a:ext>
                </a:extLst>
              </p:cNvPr>
              <p:cNvSpPr txBox="1"/>
              <p:nvPr/>
            </p:nvSpPr>
            <p:spPr>
              <a:xfrm>
                <a:off x="9448507" y="3314747"/>
                <a:ext cx="2788427" cy="1754326"/>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an AMR, virulence, and/or stress response genes with method, type, subtype, class, subclass, and supporting evidence</a:t>
                </a:r>
              </a:p>
            </p:txBody>
          </p:sp>
          <p:sp>
            <p:nvSpPr>
              <p:cNvPr id="39" name="TextBox 38">
                <a:extLst>
                  <a:ext uri="{FF2B5EF4-FFF2-40B4-BE49-F238E27FC236}">
                    <a16:creationId xmlns:a16="http://schemas.microsoft.com/office/drawing/2014/main" id="{14431974-E110-4063-809C-B290F7F1D240}"/>
                  </a:ext>
                </a:extLst>
              </p:cNvPr>
              <p:cNvSpPr txBox="1"/>
              <p:nvPr/>
            </p:nvSpPr>
            <p:spPr>
              <a:xfrm>
                <a:off x="9749086" y="5371351"/>
                <a:ext cx="1896673" cy="369332"/>
              </a:xfrm>
              <a:prstGeom prst="rect">
                <a:avLst/>
              </a:prstGeom>
              <a:noFill/>
            </p:spPr>
            <p:txBody>
              <a:bodyPr wrap="none" rtlCol="0">
                <a:spAutoFit/>
              </a:bodyPr>
              <a:lstStyle/>
              <a:p>
                <a:r>
                  <a:rPr lang="en-US">
                    <a:latin typeface="Arial" panose="020B0604020202020204" pitchFamily="34" charset="0"/>
                    <a:ea typeface="Cambria" panose="02040503050406030204" pitchFamily="18" charset="0"/>
                    <a:cs typeface="Arial" panose="020B0604020202020204" pitchFamily="34" charset="0"/>
                  </a:rPr>
                  <a:t>10, 000,000 X N</a:t>
                </a:r>
              </a:p>
            </p:txBody>
          </p:sp>
          <p:sp>
            <p:nvSpPr>
              <p:cNvPr id="40" name="Rectangle 39">
                <a:extLst>
                  <a:ext uri="{FF2B5EF4-FFF2-40B4-BE49-F238E27FC236}">
                    <a16:creationId xmlns:a16="http://schemas.microsoft.com/office/drawing/2014/main" id="{2A15B5DB-94B8-492D-8F41-DA15912C37EF}"/>
                  </a:ext>
                </a:extLst>
              </p:cNvPr>
              <p:cNvSpPr/>
              <p:nvPr/>
            </p:nvSpPr>
            <p:spPr>
              <a:xfrm>
                <a:off x="5614700" y="3200285"/>
                <a:ext cx="6474542" cy="25403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grpSp>
        <p:sp>
          <p:nvSpPr>
            <p:cNvPr id="35" name="TextBox 34">
              <a:extLst>
                <a:ext uri="{FF2B5EF4-FFF2-40B4-BE49-F238E27FC236}">
                  <a16:creationId xmlns:a16="http://schemas.microsoft.com/office/drawing/2014/main" id="{021D6686-C30D-4FEC-9EDF-865CF4000B4A}"/>
                </a:ext>
              </a:extLst>
            </p:cNvPr>
            <p:cNvSpPr txBox="1"/>
            <p:nvPr/>
          </p:nvSpPr>
          <p:spPr>
            <a:xfrm>
              <a:off x="6096000" y="6089667"/>
              <a:ext cx="438453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Download genes, genes + flanks, contigs</a:t>
              </a:r>
            </a:p>
          </p:txBody>
        </p:sp>
        <p:cxnSp>
          <p:nvCxnSpPr>
            <p:cNvPr id="36" name="Straight Arrow Connector 35">
              <a:extLst>
                <a:ext uri="{FF2B5EF4-FFF2-40B4-BE49-F238E27FC236}">
                  <a16:creationId xmlns:a16="http://schemas.microsoft.com/office/drawing/2014/main" id="{47BAAD7C-A902-48CF-BB0E-6B733E260A62}"/>
                </a:ext>
              </a:extLst>
            </p:cNvPr>
            <p:cNvCxnSpPr/>
            <p:nvPr/>
          </p:nvCxnSpPr>
          <p:spPr>
            <a:xfrm>
              <a:off x="8090946" y="5815795"/>
              <a:ext cx="0" cy="355479"/>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1" name="Straight Arrow Connector 40">
            <a:extLst>
              <a:ext uri="{FF2B5EF4-FFF2-40B4-BE49-F238E27FC236}">
                <a16:creationId xmlns:a16="http://schemas.microsoft.com/office/drawing/2014/main" id="{B2802E70-CABB-4A6B-A960-A9E1557DAD7B}"/>
              </a:ext>
            </a:extLst>
          </p:cNvPr>
          <p:cNvCxnSpPr>
            <a:cxnSpLocks/>
          </p:cNvCxnSpPr>
          <p:nvPr/>
        </p:nvCxnSpPr>
        <p:spPr>
          <a:xfrm>
            <a:off x="10893608" y="2741529"/>
            <a:ext cx="0" cy="319723"/>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0452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645EC-83CD-016E-F125-93876BE186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34911-8B51-1BAA-6B22-72F76E42AA3D}"/>
              </a:ext>
            </a:extLst>
          </p:cNvPr>
          <p:cNvSpPr txBox="1">
            <a:spLocks/>
          </p:cNvSpPr>
          <p:nvPr/>
        </p:nvSpPr>
        <p:spPr>
          <a:xfrm>
            <a:off x="443595" y="180869"/>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Helvetica" charset="0"/>
                <a:ea typeface="Helvetica" charset="0"/>
                <a:cs typeface="Helvetica" charset="0"/>
              </a:defRPr>
            </a:lvl1pPr>
          </a:lstStyle>
          <a:p>
            <a:r>
              <a:rPr lang="en-US">
                <a:latin typeface="Arial" panose="020B0604020202020204" pitchFamily="34" charset="0"/>
                <a:cs typeface="Arial" panose="020B0604020202020204" pitchFamily="34" charset="0"/>
              </a:rPr>
              <a:t>Web browsers</a:t>
            </a:r>
            <a:endParaRPr lang="en-US" dirty="0">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C5182C5F-01F7-8997-0EDD-A44A917676D8}"/>
              </a:ext>
            </a:extLst>
          </p:cNvPr>
          <p:cNvGrpSpPr/>
          <p:nvPr/>
        </p:nvGrpSpPr>
        <p:grpSpPr>
          <a:xfrm>
            <a:off x="493680" y="1077144"/>
            <a:ext cx="4198349" cy="1505528"/>
            <a:chOff x="275020" y="652292"/>
            <a:chExt cx="4016761" cy="2005193"/>
          </a:xfrm>
        </p:grpSpPr>
        <p:sp>
          <p:nvSpPr>
            <p:cNvPr id="4" name="TextBox 3">
              <a:extLst>
                <a:ext uri="{FF2B5EF4-FFF2-40B4-BE49-F238E27FC236}">
                  <a16:creationId xmlns:a16="http://schemas.microsoft.com/office/drawing/2014/main" id="{24C455DA-4EA0-5EDE-1BBD-6B3821E539E5}"/>
                </a:ext>
              </a:extLst>
            </p:cNvPr>
            <p:cNvSpPr txBox="1"/>
            <p:nvPr/>
          </p:nvSpPr>
          <p:spPr>
            <a:xfrm>
              <a:off x="2807135" y="652292"/>
              <a:ext cx="1484646" cy="1598702"/>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 reference gene or point mutation</a:t>
              </a:r>
            </a:p>
          </p:txBody>
        </p:sp>
        <p:sp>
          <p:nvSpPr>
            <p:cNvPr id="5" name="Rectangle 4">
              <a:extLst>
                <a:ext uri="{FF2B5EF4-FFF2-40B4-BE49-F238E27FC236}">
                  <a16:creationId xmlns:a16="http://schemas.microsoft.com/office/drawing/2014/main" id="{7D70D483-E6A1-959E-4AB0-6A4D0B7FED1E}"/>
                </a:ext>
              </a:extLst>
            </p:cNvPr>
            <p:cNvSpPr/>
            <p:nvPr/>
          </p:nvSpPr>
          <p:spPr>
            <a:xfrm>
              <a:off x="275020" y="653743"/>
              <a:ext cx="4016761" cy="19648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sp>
          <p:nvSpPr>
            <p:cNvPr id="6" name="TextBox 5">
              <a:extLst>
                <a:ext uri="{FF2B5EF4-FFF2-40B4-BE49-F238E27FC236}">
                  <a16:creationId xmlns:a16="http://schemas.microsoft.com/office/drawing/2014/main" id="{7D7A0D9B-F09C-2F65-F713-D2F486AE366D}"/>
                </a:ext>
              </a:extLst>
            </p:cNvPr>
            <p:cNvSpPr txBox="1"/>
            <p:nvPr/>
          </p:nvSpPr>
          <p:spPr>
            <a:xfrm>
              <a:off x="2855054" y="2165577"/>
              <a:ext cx="1268830" cy="491908"/>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1,000 X N</a:t>
              </a:r>
            </a:p>
          </p:txBody>
        </p:sp>
        <p:sp>
          <p:nvSpPr>
            <p:cNvPr id="7" name="Document 5">
              <a:extLst>
                <a:ext uri="{FF2B5EF4-FFF2-40B4-BE49-F238E27FC236}">
                  <a16:creationId xmlns:a16="http://schemas.microsoft.com/office/drawing/2014/main" id="{B1E75B61-A15F-BC94-3538-E1D1834DD987}"/>
                </a:ext>
              </a:extLst>
            </p:cNvPr>
            <p:cNvSpPr/>
            <p:nvPr/>
          </p:nvSpPr>
          <p:spPr>
            <a:xfrm>
              <a:off x="362672" y="749127"/>
              <a:ext cx="2444463" cy="1668665"/>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Reference Gene Catalog</a:t>
              </a:r>
            </a:p>
          </p:txBody>
        </p:sp>
      </p:grpSp>
      <p:grpSp>
        <p:nvGrpSpPr>
          <p:cNvPr id="8" name="Group 7">
            <a:extLst>
              <a:ext uri="{FF2B5EF4-FFF2-40B4-BE49-F238E27FC236}">
                <a16:creationId xmlns:a16="http://schemas.microsoft.com/office/drawing/2014/main" id="{1686180A-985E-621D-9BD5-296D1F1C485D}"/>
              </a:ext>
            </a:extLst>
          </p:cNvPr>
          <p:cNvGrpSpPr/>
          <p:nvPr/>
        </p:nvGrpSpPr>
        <p:grpSpPr>
          <a:xfrm>
            <a:off x="493680" y="4777641"/>
            <a:ext cx="4198349" cy="1505528"/>
            <a:chOff x="275020" y="652292"/>
            <a:chExt cx="4016761" cy="2005193"/>
          </a:xfrm>
        </p:grpSpPr>
        <p:sp>
          <p:nvSpPr>
            <p:cNvPr id="9" name="TextBox 8">
              <a:extLst>
                <a:ext uri="{FF2B5EF4-FFF2-40B4-BE49-F238E27FC236}">
                  <a16:creationId xmlns:a16="http://schemas.microsoft.com/office/drawing/2014/main" id="{A8FBA42C-B6F3-07F4-504B-6618DFB2B597}"/>
                </a:ext>
              </a:extLst>
            </p:cNvPr>
            <p:cNvSpPr txBox="1"/>
            <p:nvPr/>
          </p:nvSpPr>
          <p:spPr>
            <a:xfrm>
              <a:off x="2807135" y="652292"/>
              <a:ext cx="1484646" cy="860840"/>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an HMM</a:t>
              </a:r>
            </a:p>
          </p:txBody>
        </p:sp>
        <p:sp>
          <p:nvSpPr>
            <p:cNvPr id="10" name="Rectangle 9">
              <a:extLst>
                <a:ext uri="{FF2B5EF4-FFF2-40B4-BE49-F238E27FC236}">
                  <a16:creationId xmlns:a16="http://schemas.microsoft.com/office/drawing/2014/main" id="{D8CCF2F6-279F-68B7-F570-876F12079228}"/>
                </a:ext>
              </a:extLst>
            </p:cNvPr>
            <p:cNvSpPr/>
            <p:nvPr/>
          </p:nvSpPr>
          <p:spPr>
            <a:xfrm>
              <a:off x="275020" y="653743"/>
              <a:ext cx="4016761" cy="19648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sp>
          <p:nvSpPr>
            <p:cNvPr id="11" name="TextBox 10">
              <a:extLst>
                <a:ext uri="{FF2B5EF4-FFF2-40B4-BE49-F238E27FC236}">
                  <a16:creationId xmlns:a16="http://schemas.microsoft.com/office/drawing/2014/main" id="{C4C297C7-4A3D-995C-ABD5-93DD69D2E148}"/>
                </a:ext>
              </a:extLst>
            </p:cNvPr>
            <p:cNvSpPr txBox="1"/>
            <p:nvPr/>
          </p:nvSpPr>
          <p:spPr>
            <a:xfrm>
              <a:off x="2987034" y="2165577"/>
              <a:ext cx="1136850" cy="491908"/>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100 X N</a:t>
              </a:r>
            </a:p>
          </p:txBody>
        </p:sp>
        <p:sp>
          <p:nvSpPr>
            <p:cNvPr id="12" name="Document 5">
              <a:extLst>
                <a:ext uri="{FF2B5EF4-FFF2-40B4-BE49-F238E27FC236}">
                  <a16:creationId xmlns:a16="http://schemas.microsoft.com/office/drawing/2014/main" id="{58BBD735-05F7-7919-C044-C5D519B69B87}"/>
                </a:ext>
              </a:extLst>
            </p:cNvPr>
            <p:cNvSpPr/>
            <p:nvPr/>
          </p:nvSpPr>
          <p:spPr>
            <a:xfrm>
              <a:off x="362672" y="749127"/>
              <a:ext cx="2444463" cy="1668665"/>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Reference HMM Catalog</a:t>
              </a:r>
            </a:p>
          </p:txBody>
        </p:sp>
      </p:grpSp>
      <p:grpSp>
        <p:nvGrpSpPr>
          <p:cNvPr id="13" name="Group 12">
            <a:extLst>
              <a:ext uri="{FF2B5EF4-FFF2-40B4-BE49-F238E27FC236}">
                <a16:creationId xmlns:a16="http://schemas.microsoft.com/office/drawing/2014/main" id="{AAA44FAB-09CE-0EA9-2632-10BC490577FB}"/>
              </a:ext>
            </a:extLst>
          </p:cNvPr>
          <p:cNvGrpSpPr/>
          <p:nvPr/>
        </p:nvGrpSpPr>
        <p:grpSpPr>
          <a:xfrm>
            <a:off x="493679" y="2912249"/>
            <a:ext cx="4198349" cy="1505528"/>
            <a:chOff x="275020" y="652292"/>
            <a:chExt cx="4016761" cy="2005193"/>
          </a:xfrm>
        </p:grpSpPr>
        <p:sp>
          <p:nvSpPr>
            <p:cNvPr id="14" name="TextBox 13">
              <a:extLst>
                <a:ext uri="{FF2B5EF4-FFF2-40B4-BE49-F238E27FC236}">
                  <a16:creationId xmlns:a16="http://schemas.microsoft.com/office/drawing/2014/main" id="{C1AE73A0-98E5-98EA-ADBF-45BB2B3864EC}"/>
                </a:ext>
              </a:extLst>
            </p:cNvPr>
            <p:cNvSpPr txBox="1"/>
            <p:nvPr/>
          </p:nvSpPr>
          <p:spPr>
            <a:xfrm>
              <a:off x="2807135" y="652292"/>
              <a:ext cx="1484646" cy="1229771"/>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 node in our hierarchy</a:t>
              </a:r>
            </a:p>
          </p:txBody>
        </p:sp>
        <p:sp>
          <p:nvSpPr>
            <p:cNvPr id="15" name="Rectangle 14">
              <a:extLst>
                <a:ext uri="{FF2B5EF4-FFF2-40B4-BE49-F238E27FC236}">
                  <a16:creationId xmlns:a16="http://schemas.microsoft.com/office/drawing/2014/main" id="{66A2E3D9-821A-C0A8-296A-A051A9E72787}"/>
                </a:ext>
              </a:extLst>
            </p:cNvPr>
            <p:cNvSpPr/>
            <p:nvPr/>
          </p:nvSpPr>
          <p:spPr>
            <a:xfrm>
              <a:off x="275020" y="653743"/>
              <a:ext cx="4016761" cy="19648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sp>
          <p:nvSpPr>
            <p:cNvPr id="16" name="TextBox 15">
              <a:extLst>
                <a:ext uri="{FF2B5EF4-FFF2-40B4-BE49-F238E27FC236}">
                  <a16:creationId xmlns:a16="http://schemas.microsoft.com/office/drawing/2014/main" id="{020250AD-610A-D067-9B42-50018284DCA2}"/>
                </a:ext>
              </a:extLst>
            </p:cNvPr>
            <p:cNvSpPr txBox="1"/>
            <p:nvPr/>
          </p:nvSpPr>
          <p:spPr>
            <a:xfrm>
              <a:off x="2987034" y="2165577"/>
              <a:ext cx="1136850" cy="491908"/>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1000 X N</a:t>
              </a:r>
            </a:p>
          </p:txBody>
        </p:sp>
        <p:sp>
          <p:nvSpPr>
            <p:cNvPr id="17" name="Document 5">
              <a:extLst>
                <a:ext uri="{FF2B5EF4-FFF2-40B4-BE49-F238E27FC236}">
                  <a16:creationId xmlns:a16="http://schemas.microsoft.com/office/drawing/2014/main" id="{165364BB-1EE9-9A77-5CE9-707E7297081A}"/>
                </a:ext>
              </a:extLst>
            </p:cNvPr>
            <p:cNvSpPr/>
            <p:nvPr/>
          </p:nvSpPr>
          <p:spPr>
            <a:xfrm>
              <a:off x="362672" y="749127"/>
              <a:ext cx="2444463" cy="1668665"/>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Reference Gene Hierarchy</a:t>
              </a:r>
            </a:p>
          </p:txBody>
        </p:sp>
      </p:grpSp>
      <p:cxnSp>
        <p:nvCxnSpPr>
          <p:cNvPr id="18" name="Straight Arrow Connector 17">
            <a:extLst>
              <a:ext uri="{FF2B5EF4-FFF2-40B4-BE49-F238E27FC236}">
                <a16:creationId xmlns:a16="http://schemas.microsoft.com/office/drawing/2014/main" id="{87F51D25-5527-B986-707F-23EB11F9047D}"/>
              </a:ext>
            </a:extLst>
          </p:cNvPr>
          <p:cNvCxnSpPr>
            <a:stCxn id="5" idx="2"/>
            <a:endCxn id="15" idx="0"/>
          </p:cNvCxnSpPr>
          <p:nvPr/>
        </p:nvCxnSpPr>
        <p:spPr>
          <a:xfrm flipH="1">
            <a:off x="2592854" y="2553474"/>
            <a:ext cx="1" cy="359864"/>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4269AF3-9FA8-9929-577D-EC9911FBECE5}"/>
              </a:ext>
            </a:extLst>
          </p:cNvPr>
          <p:cNvCxnSpPr>
            <a:cxnSpLocks/>
            <a:stCxn id="15" idx="2"/>
            <a:endCxn id="10" idx="0"/>
          </p:cNvCxnSpPr>
          <p:nvPr/>
        </p:nvCxnSpPr>
        <p:spPr>
          <a:xfrm>
            <a:off x="2592854" y="4388578"/>
            <a:ext cx="1" cy="390152"/>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Document 5">
            <a:extLst>
              <a:ext uri="{FF2B5EF4-FFF2-40B4-BE49-F238E27FC236}">
                <a16:creationId xmlns:a16="http://schemas.microsoft.com/office/drawing/2014/main" id="{EB816858-89E9-8A67-EF5E-FD78C6A74C57}"/>
              </a:ext>
            </a:extLst>
          </p:cNvPr>
          <p:cNvSpPr/>
          <p:nvPr/>
        </p:nvSpPr>
        <p:spPr>
          <a:xfrm>
            <a:off x="5701395" y="888660"/>
            <a:ext cx="3284985" cy="1081319"/>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Pathogen Detection Isolate Browser</a:t>
            </a:r>
          </a:p>
        </p:txBody>
      </p:sp>
      <p:sp>
        <p:nvSpPr>
          <p:cNvPr id="21" name="TextBox 20">
            <a:extLst>
              <a:ext uri="{FF2B5EF4-FFF2-40B4-BE49-F238E27FC236}">
                <a16:creationId xmlns:a16="http://schemas.microsoft.com/office/drawing/2014/main" id="{CEAB9DAD-92D0-0674-AAF0-1D55FFFE3A8A}"/>
              </a:ext>
            </a:extLst>
          </p:cNvPr>
          <p:cNvSpPr txBox="1"/>
          <p:nvPr/>
        </p:nvSpPr>
        <p:spPr>
          <a:xfrm>
            <a:off x="9148127" y="849786"/>
            <a:ext cx="2788427" cy="1754326"/>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an assembled isolate, possibly with AMR, virulence, and/or stress response genes and AST data</a:t>
            </a:r>
          </a:p>
        </p:txBody>
      </p:sp>
      <p:sp>
        <p:nvSpPr>
          <p:cNvPr id="22" name="Rectangle 21">
            <a:extLst>
              <a:ext uri="{FF2B5EF4-FFF2-40B4-BE49-F238E27FC236}">
                <a16:creationId xmlns:a16="http://schemas.microsoft.com/office/drawing/2014/main" id="{63D6C766-DAAA-C8AB-42AA-E7456C8EF595}"/>
              </a:ext>
            </a:extLst>
          </p:cNvPr>
          <p:cNvSpPr/>
          <p:nvPr/>
        </p:nvSpPr>
        <p:spPr>
          <a:xfrm>
            <a:off x="5616044" y="791533"/>
            <a:ext cx="6474542" cy="1933385"/>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sp>
        <p:nvSpPr>
          <p:cNvPr id="23" name="TextBox 22">
            <a:extLst>
              <a:ext uri="{FF2B5EF4-FFF2-40B4-BE49-F238E27FC236}">
                <a16:creationId xmlns:a16="http://schemas.microsoft.com/office/drawing/2014/main" id="{37D37B85-4CE1-0B28-C49C-6A888C4B1C7A}"/>
              </a:ext>
            </a:extLst>
          </p:cNvPr>
          <p:cNvSpPr txBox="1"/>
          <p:nvPr/>
        </p:nvSpPr>
        <p:spPr>
          <a:xfrm>
            <a:off x="9862157" y="2248649"/>
            <a:ext cx="1757212" cy="369332"/>
          </a:xfrm>
          <a:prstGeom prst="rect">
            <a:avLst/>
          </a:prstGeom>
          <a:noFill/>
        </p:spPr>
        <p:txBody>
          <a:bodyPr wrap="non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1, 000,000 X N</a:t>
            </a:r>
          </a:p>
        </p:txBody>
      </p:sp>
      <p:cxnSp>
        <p:nvCxnSpPr>
          <p:cNvPr id="24" name="Straight Arrow Connector 23">
            <a:extLst>
              <a:ext uri="{FF2B5EF4-FFF2-40B4-BE49-F238E27FC236}">
                <a16:creationId xmlns:a16="http://schemas.microsoft.com/office/drawing/2014/main" id="{9FA43689-6108-0F1E-BFD7-EEDBA13505DC}"/>
              </a:ext>
            </a:extLst>
          </p:cNvPr>
          <p:cNvCxnSpPr>
            <a:cxnSpLocks/>
          </p:cNvCxnSpPr>
          <p:nvPr/>
        </p:nvCxnSpPr>
        <p:spPr>
          <a:xfrm>
            <a:off x="8514369" y="2818706"/>
            <a:ext cx="0" cy="485092"/>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6189D21-C6E2-0E29-3D33-0B89054D544B}"/>
              </a:ext>
            </a:extLst>
          </p:cNvPr>
          <p:cNvCxnSpPr>
            <a:cxnSpLocks/>
          </p:cNvCxnSpPr>
          <p:nvPr/>
        </p:nvCxnSpPr>
        <p:spPr>
          <a:xfrm flipV="1">
            <a:off x="8713473" y="2818706"/>
            <a:ext cx="0" cy="485092"/>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076DFA0-D35F-1161-178E-4BC88A2313CB}"/>
              </a:ext>
            </a:extLst>
          </p:cNvPr>
          <p:cNvSpPr txBox="1"/>
          <p:nvPr/>
        </p:nvSpPr>
        <p:spPr>
          <a:xfrm>
            <a:off x="10039640" y="2948002"/>
            <a:ext cx="2223686"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Download genomes</a:t>
            </a:r>
          </a:p>
        </p:txBody>
      </p:sp>
      <p:cxnSp>
        <p:nvCxnSpPr>
          <p:cNvPr id="27" name="Straight Arrow Connector 26">
            <a:extLst>
              <a:ext uri="{FF2B5EF4-FFF2-40B4-BE49-F238E27FC236}">
                <a16:creationId xmlns:a16="http://schemas.microsoft.com/office/drawing/2014/main" id="{BFBE9AD7-6569-4A32-B5A3-BEFD2056261A}"/>
              </a:ext>
            </a:extLst>
          </p:cNvPr>
          <p:cNvCxnSpPr>
            <a:cxnSpLocks/>
            <a:stCxn id="5" idx="3"/>
            <a:endCxn id="22" idx="1"/>
          </p:cNvCxnSpPr>
          <p:nvPr/>
        </p:nvCxnSpPr>
        <p:spPr>
          <a:xfrm flipV="1">
            <a:off x="4692029" y="1758226"/>
            <a:ext cx="924015" cy="576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DBAC553-FC26-0E36-1EC4-249A97786A71}"/>
              </a:ext>
            </a:extLst>
          </p:cNvPr>
          <p:cNvCxnSpPr>
            <a:stCxn id="5" idx="3"/>
            <a:endCxn id="40" idx="1"/>
          </p:cNvCxnSpPr>
          <p:nvPr/>
        </p:nvCxnSpPr>
        <p:spPr>
          <a:xfrm>
            <a:off x="4692029" y="1815854"/>
            <a:ext cx="924015" cy="2821535"/>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118A91B-5CE1-0FB4-9F17-509DE150BF2E}"/>
              </a:ext>
            </a:extLst>
          </p:cNvPr>
          <p:cNvCxnSpPr>
            <a:cxnSpLocks/>
            <a:stCxn id="15" idx="3"/>
            <a:endCxn id="22" idx="1"/>
          </p:cNvCxnSpPr>
          <p:nvPr/>
        </p:nvCxnSpPr>
        <p:spPr>
          <a:xfrm flipV="1">
            <a:off x="4692028" y="1758226"/>
            <a:ext cx="924016" cy="18927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12B2D6D-A01E-53A1-9845-3245AD34D179}"/>
              </a:ext>
            </a:extLst>
          </p:cNvPr>
          <p:cNvCxnSpPr>
            <a:stCxn id="15" idx="3"/>
            <a:endCxn id="40" idx="1"/>
          </p:cNvCxnSpPr>
          <p:nvPr/>
        </p:nvCxnSpPr>
        <p:spPr>
          <a:xfrm>
            <a:off x="4692028" y="3650958"/>
            <a:ext cx="924016" cy="9864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2B1F0A5-71B8-D49F-2EDB-3FEE65AD9172}"/>
              </a:ext>
            </a:extLst>
          </p:cNvPr>
          <p:cNvCxnSpPr>
            <a:cxnSpLocks/>
            <a:stCxn id="10" idx="3"/>
            <a:endCxn id="22" idx="1"/>
          </p:cNvCxnSpPr>
          <p:nvPr/>
        </p:nvCxnSpPr>
        <p:spPr>
          <a:xfrm flipV="1">
            <a:off x="4692029" y="1758226"/>
            <a:ext cx="924015" cy="37581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AA9D296-73DC-22F7-C10F-048FD97DE39F}"/>
              </a:ext>
            </a:extLst>
          </p:cNvPr>
          <p:cNvCxnSpPr>
            <a:stCxn id="10" idx="3"/>
            <a:endCxn id="40" idx="1"/>
          </p:cNvCxnSpPr>
          <p:nvPr/>
        </p:nvCxnSpPr>
        <p:spPr>
          <a:xfrm flipV="1">
            <a:off x="4692029" y="4637389"/>
            <a:ext cx="924015" cy="8789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FD56175F-6CAD-0305-C41C-1D4A9C9C4F9D}"/>
              </a:ext>
            </a:extLst>
          </p:cNvPr>
          <p:cNvGrpSpPr/>
          <p:nvPr/>
        </p:nvGrpSpPr>
        <p:grpSpPr>
          <a:xfrm>
            <a:off x="5616044" y="3367190"/>
            <a:ext cx="6622234" cy="3258714"/>
            <a:chOff x="5614700" y="3200285"/>
            <a:chExt cx="6622234" cy="3258714"/>
          </a:xfrm>
        </p:grpSpPr>
        <p:grpSp>
          <p:nvGrpSpPr>
            <p:cNvPr id="34" name="Group 33">
              <a:extLst>
                <a:ext uri="{FF2B5EF4-FFF2-40B4-BE49-F238E27FC236}">
                  <a16:creationId xmlns:a16="http://schemas.microsoft.com/office/drawing/2014/main" id="{4F92BDD5-AB12-5053-96F6-E066B9B293BF}"/>
                </a:ext>
              </a:extLst>
            </p:cNvPr>
            <p:cNvGrpSpPr/>
            <p:nvPr/>
          </p:nvGrpSpPr>
          <p:grpSpPr>
            <a:xfrm>
              <a:off x="5614700" y="3200285"/>
              <a:ext cx="6622234" cy="2540398"/>
              <a:chOff x="5614700" y="3200285"/>
              <a:chExt cx="6622234" cy="2540398"/>
            </a:xfrm>
          </p:grpSpPr>
          <p:sp>
            <p:nvSpPr>
              <p:cNvPr id="37" name="Document 5">
                <a:extLst>
                  <a:ext uri="{FF2B5EF4-FFF2-40B4-BE49-F238E27FC236}">
                    <a16:creationId xmlns:a16="http://schemas.microsoft.com/office/drawing/2014/main" id="{2F4006E8-E0F7-A5E7-75D1-A6B7F4ED57AB}"/>
                  </a:ext>
                </a:extLst>
              </p:cNvPr>
              <p:cNvSpPr/>
              <p:nvPr/>
            </p:nvSpPr>
            <p:spPr>
              <a:xfrm>
                <a:off x="5795142" y="3327577"/>
                <a:ext cx="3559618" cy="1954840"/>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err="1">
                    <a:solidFill>
                      <a:schemeClr val="bg1"/>
                    </a:solidFill>
                    <a:latin typeface="Arial" panose="020B0604020202020204" pitchFamily="34" charset="0"/>
                    <a:ea typeface="Cambria" panose="02040503050406030204" pitchFamily="18" charset="0"/>
                    <a:cs typeface="Arial" panose="020B0604020202020204" pitchFamily="34" charset="0"/>
                  </a:rPr>
                  <a:t>MicroBIGG</a:t>
                </a: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-E (Microbial Browser for Identification of Genetic and Genomic Elements)</a:t>
                </a:r>
              </a:p>
            </p:txBody>
          </p:sp>
          <p:sp>
            <p:nvSpPr>
              <p:cNvPr id="38" name="TextBox 37">
                <a:extLst>
                  <a:ext uri="{FF2B5EF4-FFF2-40B4-BE49-F238E27FC236}">
                    <a16:creationId xmlns:a16="http://schemas.microsoft.com/office/drawing/2014/main" id="{36EA5C50-8E61-BE3C-9D98-461FED61C319}"/>
                  </a:ext>
                </a:extLst>
              </p:cNvPr>
              <p:cNvSpPr txBox="1"/>
              <p:nvPr/>
            </p:nvSpPr>
            <p:spPr>
              <a:xfrm>
                <a:off x="9448507" y="3314747"/>
                <a:ext cx="2788427" cy="1754326"/>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an AMR, virulence, and/or stress response genes with method, type, subtype, class, subclass, and supporting evidence</a:t>
                </a:r>
              </a:p>
            </p:txBody>
          </p:sp>
          <p:sp>
            <p:nvSpPr>
              <p:cNvPr id="39" name="TextBox 38">
                <a:extLst>
                  <a:ext uri="{FF2B5EF4-FFF2-40B4-BE49-F238E27FC236}">
                    <a16:creationId xmlns:a16="http://schemas.microsoft.com/office/drawing/2014/main" id="{0E82E6C0-8DC9-BC93-424B-34813D9F3AFA}"/>
                  </a:ext>
                </a:extLst>
              </p:cNvPr>
              <p:cNvSpPr txBox="1"/>
              <p:nvPr/>
            </p:nvSpPr>
            <p:spPr>
              <a:xfrm>
                <a:off x="9749086" y="5371351"/>
                <a:ext cx="1896673" cy="369332"/>
              </a:xfrm>
              <a:prstGeom prst="rect">
                <a:avLst/>
              </a:prstGeom>
              <a:noFill/>
            </p:spPr>
            <p:txBody>
              <a:bodyPr wrap="none" rtlCol="0">
                <a:spAutoFit/>
              </a:bodyPr>
              <a:lstStyle/>
              <a:p>
                <a:r>
                  <a:rPr lang="en-US">
                    <a:latin typeface="Arial" panose="020B0604020202020204" pitchFamily="34" charset="0"/>
                    <a:ea typeface="Cambria" panose="02040503050406030204" pitchFamily="18" charset="0"/>
                    <a:cs typeface="Arial" panose="020B0604020202020204" pitchFamily="34" charset="0"/>
                  </a:rPr>
                  <a:t>10, 000,000 X N</a:t>
                </a:r>
              </a:p>
            </p:txBody>
          </p:sp>
          <p:sp>
            <p:nvSpPr>
              <p:cNvPr id="40" name="Rectangle 39">
                <a:extLst>
                  <a:ext uri="{FF2B5EF4-FFF2-40B4-BE49-F238E27FC236}">
                    <a16:creationId xmlns:a16="http://schemas.microsoft.com/office/drawing/2014/main" id="{59F6E64E-C22B-9B6C-BDCA-CDB63545040F}"/>
                  </a:ext>
                </a:extLst>
              </p:cNvPr>
              <p:cNvSpPr/>
              <p:nvPr/>
            </p:nvSpPr>
            <p:spPr>
              <a:xfrm>
                <a:off x="5614700" y="3200285"/>
                <a:ext cx="6474542" cy="25403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grpSp>
        <p:sp>
          <p:nvSpPr>
            <p:cNvPr id="35" name="TextBox 34">
              <a:extLst>
                <a:ext uri="{FF2B5EF4-FFF2-40B4-BE49-F238E27FC236}">
                  <a16:creationId xmlns:a16="http://schemas.microsoft.com/office/drawing/2014/main" id="{3D9AB937-0392-91EB-117C-0737C74E7754}"/>
                </a:ext>
              </a:extLst>
            </p:cNvPr>
            <p:cNvSpPr txBox="1"/>
            <p:nvPr/>
          </p:nvSpPr>
          <p:spPr>
            <a:xfrm>
              <a:off x="6096000" y="6089667"/>
              <a:ext cx="438453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Download genes, genes + flanks, contigs</a:t>
              </a:r>
            </a:p>
          </p:txBody>
        </p:sp>
        <p:cxnSp>
          <p:nvCxnSpPr>
            <p:cNvPr id="36" name="Straight Arrow Connector 35">
              <a:extLst>
                <a:ext uri="{FF2B5EF4-FFF2-40B4-BE49-F238E27FC236}">
                  <a16:creationId xmlns:a16="http://schemas.microsoft.com/office/drawing/2014/main" id="{86BE69C7-4F33-CD76-21FB-E29CF149C8D4}"/>
                </a:ext>
              </a:extLst>
            </p:cNvPr>
            <p:cNvCxnSpPr/>
            <p:nvPr/>
          </p:nvCxnSpPr>
          <p:spPr>
            <a:xfrm>
              <a:off x="8090946" y="5815795"/>
              <a:ext cx="0" cy="355479"/>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1" name="Straight Arrow Connector 40">
            <a:extLst>
              <a:ext uri="{FF2B5EF4-FFF2-40B4-BE49-F238E27FC236}">
                <a16:creationId xmlns:a16="http://schemas.microsoft.com/office/drawing/2014/main" id="{29B2268F-9846-A022-D1F7-1870D2133EA2}"/>
              </a:ext>
            </a:extLst>
          </p:cNvPr>
          <p:cNvCxnSpPr>
            <a:cxnSpLocks/>
          </p:cNvCxnSpPr>
          <p:nvPr/>
        </p:nvCxnSpPr>
        <p:spPr>
          <a:xfrm>
            <a:off x="10893608" y="2741529"/>
            <a:ext cx="0" cy="319723"/>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9671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5C98D76-CBB4-4606-82F6-EA3075EAEBBF}"/>
              </a:ext>
            </a:extLst>
          </p:cNvPr>
          <p:cNvSpPr>
            <a:spLocks noGrp="1"/>
          </p:cNvSpPr>
          <p:nvPr/>
        </p:nvSpPr>
        <p:spPr>
          <a:xfrm>
            <a:off x="-14288" y="0"/>
            <a:ext cx="5095875" cy="6858000"/>
          </a:xfrm>
          <a:prstGeom prst="rect">
            <a:avLst/>
          </a:prstGeom>
          <a:solidFill>
            <a:srgbClr val="FFFFFF"/>
          </a:solidFill>
          <a:ln w="0">
            <a:noFill/>
          </a:ln>
        </p:spPr>
        <p:txBody>
          <a:bodyPr/>
          <a:lstStyle/>
          <a:p>
            <a:endParaRPr lang="en-US" dirty="0"/>
          </a:p>
        </p:txBody>
      </p:sp>
      <p:sp>
        <p:nvSpPr>
          <p:cNvPr id="4" name="Rectangle 3">
            <a:extLst>
              <a:ext uri="{FF2B5EF4-FFF2-40B4-BE49-F238E27FC236}">
                <a16:creationId xmlns:a16="http://schemas.microsoft.com/office/drawing/2014/main" id="{28964D11-06B8-431C-B078-151A383B3911}"/>
              </a:ext>
            </a:extLst>
          </p:cNvPr>
          <p:cNvSpPr>
            <a:spLocks noGrp="1"/>
          </p:cNvSpPr>
          <p:nvPr/>
        </p:nvSpPr>
        <p:spPr>
          <a:xfrm>
            <a:off x="647700" y="1590675"/>
            <a:ext cx="3905250" cy="819150"/>
          </a:xfrm>
          <a:prstGeom prst="rect">
            <a:avLst/>
          </a:prstGeom>
          <a:noFill/>
          <a:ln w="0">
            <a:noFill/>
          </a:ln>
        </p:spPr>
        <p:txBody>
          <a:bodyPr anchor="ctr">
            <a:noAutofit/>
          </a:bodyPr>
          <a:lstStyle/>
          <a:p>
            <a:pPr>
              <a:defRPr sz="4125" b="1">
                <a:solidFill>
                  <a:srgbClr val="15263A"/>
                </a:solidFill>
                <a:latin typeface="Arial"/>
                <a:ea typeface="Arial"/>
                <a:cs typeface="Arial"/>
              </a:defRPr>
            </a:pPr>
            <a:r>
              <a:rPr sz="4125" b="1" dirty="0">
                <a:solidFill>
                  <a:srgbClr val="15263A"/>
                </a:solidFill>
                <a:latin typeface="Arial"/>
                <a:ea typeface="Arial"/>
                <a:cs typeface="Arial"/>
              </a:rPr>
              <a:t>To </a:t>
            </a:r>
            <a:r>
              <a:rPr sz="4125" b="1" dirty="0">
                <a:solidFill>
                  <a:srgbClr val="15263A"/>
                </a:solidFill>
                <a:latin typeface="Arial"/>
                <a:ea typeface="Arial"/>
                <a:cs typeface="Arial"/>
                <a:hlinkClick r:id="rId4"/>
              </a:rPr>
              <a:t>Exercise 1</a:t>
            </a:r>
            <a:endParaRPr sz="4125" b="1" dirty="0">
              <a:solidFill>
                <a:srgbClr val="15263A"/>
              </a:solidFill>
              <a:latin typeface="Arial"/>
              <a:ea typeface="Arial"/>
              <a:cs typeface="Arial"/>
            </a:endParaRPr>
          </a:p>
        </p:txBody>
      </p:sp>
      <p:sp>
        <p:nvSpPr>
          <p:cNvPr id="5" name="Rectangle 4">
            <a:extLst>
              <a:ext uri="{FF2B5EF4-FFF2-40B4-BE49-F238E27FC236}">
                <a16:creationId xmlns:a16="http://schemas.microsoft.com/office/drawing/2014/main" id="{1B69AE6C-35E2-4F7D-AC1C-29A19596178B}"/>
              </a:ext>
            </a:extLst>
          </p:cNvPr>
          <p:cNvSpPr>
            <a:spLocks noGrp="1"/>
          </p:cNvSpPr>
          <p:nvPr/>
        </p:nvSpPr>
        <p:spPr>
          <a:xfrm>
            <a:off x="676275" y="2628900"/>
            <a:ext cx="3810000" cy="476250"/>
          </a:xfrm>
          <a:prstGeom prst="rect">
            <a:avLst/>
          </a:prstGeom>
          <a:noFill/>
          <a:ln w="0">
            <a:noFill/>
          </a:ln>
        </p:spPr>
        <p:txBody>
          <a:bodyPr anchor="ctr">
            <a:noAutofit/>
          </a:bodyPr>
          <a:lstStyle/>
          <a:p>
            <a:pPr>
              <a:defRPr sz="2175" b="0">
                <a:solidFill>
                  <a:srgbClr val="587086"/>
                </a:solidFill>
                <a:latin typeface="Arial"/>
                <a:ea typeface="Arial"/>
                <a:cs typeface="Arial"/>
              </a:defRPr>
            </a:pPr>
            <a:r>
              <a:rPr sz="2175" b="0" dirty="0">
                <a:solidFill>
                  <a:srgbClr val="587086"/>
                </a:solidFill>
                <a:latin typeface="Arial"/>
                <a:ea typeface="Arial"/>
                <a:cs typeface="Arial"/>
              </a:rPr>
              <a:t>Outbreak investigation</a:t>
            </a:r>
            <a:endParaRPr lang="en-US" sz="2175" b="0" dirty="0">
              <a:solidFill>
                <a:srgbClr val="587086"/>
              </a:solidFill>
              <a:latin typeface="Arial"/>
              <a:ea typeface="Arial"/>
              <a:cs typeface="Arial"/>
            </a:endParaRPr>
          </a:p>
        </p:txBody>
      </p:sp>
      <p:sp>
        <p:nvSpPr>
          <p:cNvPr id="6" name="Rectangle 5">
            <a:extLst>
              <a:ext uri="{FF2B5EF4-FFF2-40B4-BE49-F238E27FC236}">
                <a16:creationId xmlns:a16="http://schemas.microsoft.com/office/drawing/2014/main" id="{557C3F1B-06C4-4D1D-B172-F9AB8196535F}"/>
              </a:ext>
            </a:extLst>
          </p:cNvPr>
          <p:cNvSpPr>
            <a:spLocks noGrp="1"/>
          </p:cNvSpPr>
          <p:nvPr/>
        </p:nvSpPr>
        <p:spPr>
          <a:xfrm>
            <a:off x="676275" y="3666066"/>
            <a:ext cx="3714750" cy="620183"/>
          </a:xfrm>
          <a:prstGeom prst="rect">
            <a:avLst/>
          </a:prstGeom>
          <a:noFill/>
          <a:ln w="0">
            <a:noFill/>
          </a:ln>
        </p:spPr>
        <p:txBody>
          <a:bodyPr anchor="ctr">
            <a:noAutofit/>
          </a:bodyPr>
          <a:lstStyle/>
          <a:p>
            <a:pPr>
              <a:defRPr sz="1650" b="0">
                <a:solidFill>
                  <a:srgbClr val="587086"/>
                </a:solidFill>
                <a:latin typeface="Arial"/>
                <a:ea typeface="Arial"/>
                <a:cs typeface="Arial"/>
              </a:defRPr>
            </a:pPr>
            <a:r>
              <a:rPr sz="1650" b="0" dirty="0">
                <a:solidFill>
                  <a:srgbClr val="587086"/>
                </a:solidFill>
                <a:latin typeface="Arial"/>
                <a:ea typeface="Arial"/>
                <a:cs typeface="Arial"/>
              </a:rPr>
              <a:t>Follow evidence from</a:t>
            </a:r>
            <a:r>
              <a:rPr lang="en-US" sz="1650" b="0" dirty="0">
                <a:solidFill>
                  <a:srgbClr val="587086"/>
                </a:solidFill>
                <a:latin typeface="Arial"/>
                <a:ea typeface="Arial"/>
                <a:cs typeface="Arial"/>
              </a:rPr>
              <a:t> case to possible source</a:t>
            </a:r>
            <a:endParaRPr sz="1650" b="0" dirty="0">
              <a:solidFill>
                <a:srgbClr val="587086"/>
              </a:solidFill>
              <a:latin typeface="Arial"/>
              <a:ea typeface="Arial"/>
              <a:cs typeface="Arial"/>
            </a:endParaRPr>
          </a:p>
        </p:txBody>
      </p:sp>
      <p:sp>
        <p:nvSpPr>
          <p:cNvPr id="10" name="TextBox 9">
            <a:extLst>
              <a:ext uri="{FF2B5EF4-FFF2-40B4-BE49-F238E27FC236}">
                <a16:creationId xmlns:a16="http://schemas.microsoft.com/office/drawing/2014/main" id="{F7BFFDE6-F2D5-C3DE-F2DF-001E75338EBD}"/>
              </a:ext>
            </a:extLst>
          </p:cNvPr>
          <p:cNvSpPr txBox="1"/>
          <p:nvPr/>
        </p:nvSpPr>
        <p:spPr>
          <a:xfrm>
            <a:off x="455083" y="4612243"/>
            <a:ext cx="4461933" cy="369332"/>
          </a:xfrm>
          <a:prstGeom prst="rect">
            <a:avLst/>
          </a:prstGeom>
          <a:noFill/>
        </p:spPr>
        <p:txBody>
          <a:bodyPr wrap="square" rtlCol="0">
            <a:spAutoFit/>
          </a:bodyPr>
          <a:lstStyle/>
          <a:p>
            <a:r>
              <a:rPr lang="en-US" sz="900" dirty="0">
                <a:hlinkClick r:id="rId4"/>
              </a:rPr>
              <a:t>https://github.com/ncbi/workshop-asm-big-2026/blob/main/outbreak/README.md</a:t>
            </a:r>
            <a:endParaRPr lang="en-US" sz="900" dirty="0"/>
          </a:p>
          <a:p>
            <a:endParaRPr lang="en-US" sz="900" dirty="0"/>
          </a:p>
        </p:txBody>
      </p:sp>
      <p:pic>
        <p:nvPicPr>
          <p:cNvPr id="11" name="Picture 10">
            <a:extLst>
              <a:ext uri="{FF2B5EF4-FFF2-40B4-BE49-F238E27FC236}">
                <a16:creationId xmlns:a16="http://schemas.microsoft.com/office/drawing/2014/main" id="{5FB7C444-A3A3-BD96-6207-604962643382}"/>
              </a:ext>
            </a:extLst>
          </p:cNvPr>
          <p:cNvPicPr>
            <a:picLocks noChangeAspect="1"/>
          </p:cNvPicPr>
          <p:nvPr/>
        </p:nvPicPr>
        <p:blipFill>
          <a:blip r:embed="rId5"/>
          <a:stretch>
            <a:fillRect/>
          </a:stretch>
        </p:blipFill>
        <p:spPr>
          <a:xfrm>
            <a:off x="837141" y="6351507"/>
            <a:ext cx="2304589" cy="274320"/>
          </a:xfrm>
          <a:prstGeom prst="rect">
            <a:avLst/>
          </a:prstGeom>
        </p:spPr>
      </p:pic>
    </p:spTree>
    <p:extLst>
      <p:ext uri="{BB962C8B-B14F-4D97-AF65-F5344CB8AC3E}">
        <p14:creationId xmlns:p14="http://schemas.microsoft.com/office/powerpoint/2010/main" val="1447370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76F105-EA13-A053-CEC2-C9027B194BA6}"/>
              </a:ext>
            </a:extLst>
          </p:cNvPr>
          <p:cNvSpPr>
            <a:spLocks noGrp="1"/>
          </p:cNvSpPr>
          <p:nvPr>
            <p:ph type="title"/>
          </p:nvPr>
        </p:nvSpPr>
        <p:spPr/>
        <p:txBody>
          <a:bodyPr/>
          <a:lstStyle/>
          <a:p>
            <a:r>
              <a:rPr lang="en-US" dirty="0"/>
              <a:t>Antimicrobial Resistance (AMR)</a:t>
            </a:r>
          </a:p>
        </p:txBody>
      </p:sp>
    </p:spTree>
    <p:extLst>
      <p:ext uri="{BB962C8B-B14F-4D97-AF65-F5344CB8AC3E}">
        <p14:creationId xmlns:p14="http://schemas.microsoft.com/office/powerpoint/2010/main" val="4053132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1A289-B8A8-87D6-27C6-D28A49CEB8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FE1233-15EC-BCA9-BAF6-DA2E003733CB}"/>
              </a:ext>
            </a:extLst>
          </p:cNvPr>
          <p:cNvSpPr>
            <a:spLocks noGrp="1"/>
          </p:cNvSpPr>
          <p:nvPr>
            <p:ph type="title" idx="4294967295"/>
          </p:nvPr>
        </p:nvSpPr>
        <p:spPr/>
        <p:txBody>
          <a:bodyPr/>
          <a:lstStyle/>
          <a:p>
            <a:r>
              <a:rPr lang="en-US" dirty="0"/>
              <a:t>Pathogen</a:t>
            </a:r>
            <a:r>
              <a:rPr lang="en-US" baseline="0" dirty="0"/>
              <a:t> Detection Analysis Goals</a:t>
            </a:r>
            <a:endParaRPr lang="en-US" dirty="0"/>
          </a:p>
        </p:txBody>
      </p:sp>
      <p:sp>
        <p:nvSpPr>
          <p:cNvPr id="5" name="Content Placeholder 2">
            <a:extLst>
              <a:ext uri="{FF2B5EF4-FFF2-40B4-BE49-F238E27FC236}">
                <a16:creationId xmlns:a16="http://schemas.microsoft.com/office/drawing/2014/main" id="{3AD23681-D988-023D-AB28-07542E0B1060}"/>
              </a:ext>
            </a:extLst>
          </p:cNvPr>
          <p:cNvSpPr txBox="1">
            <a:spLocks/>
          </p:cNvSpPr>
          <p:nvPr/>
        </p:nvSpPr>
        <p:spPr>
          <a:xfrm>
            <a:off x="1264597" y="1830593"/>
            <a:ext cx="10089204" cy="3571864"/>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548626" indent="-548626">
              <a:buFont typeface="+mj-lt"/>
              <a:buAutoNum type="arabicPeriod"/>
            </a:pPr>
            <a:r>
              <a:rPr lang="en-US" sz="3600" dirty="0">
                <a:latin typeface="Helvetica" pitchFamily="2" charset="0"/>
              </a:rPr>
              <a:t>Are these isolates clonally related?</a:t>
            </a:r>
            <a:br>
              <a:rPr lang="en-US" sz="3600" dirty="0">
                <a:latin typeface="Helvetica" pitchFamily="2" charset="0"/>
              </a:rPr>
            </a:br>
            <a:endParaRPr lang="en-US" sz="3600" dirty="0">
              <a:latin typeface="Helvetica" pitchFamily="2" charset="0"/>
            </a:endParaRPr>
          </a:p>
          <a:p>
            <a:pPr marL="548626" indent="-548626">
              <a:buFont typeface="+mj-lt"/>
              <a:buAutoNum type="arabicPeriod"/>
            </a:pPr>
            <a:r>
              <a:rPr lang="en-US" sz="3600" dirty="0">
                <a:latin typeface="Helvetica" pitchFamily="2" charset="0"/>
                <a:ea typeface="Cambria" panose="02040503050406030204" pitchFamily="18" charset="0"/>
                <a:cs typeface="Arial" panose="020B0604020202020204" pitchFamily="34" charset="0"/>
              </a:rPr>
              <a:t>What is the anti-microbial resistance, stress response, and virulence gene repertoire of this isolate?</a:t>
            </a:r>
          </a:p>
          <a:p>
            <a:pPr marL="548626" indent="-548626">
              <a:buFont typeface="+mj-lt"/>
              <a:buAutoNum type="arabicPeriod"/>
            </a:pPr>
            <a:endParaRPr lang="en-US" sz="3600" dirty="0">
              <a:latin typeface="Helvetica" pitchFamily="2" charset="0"/>
              <a:ea typeface="Cambria" panose="02040503050406030204" pitchFamily="18" charset="0"/>
              <a:cs typeface="Arial" panose="020B0604020202020204" pitchFamily="34" charset="0"/>
            </a:endParaRPr>
          </a:p>
        </p:txBody>
      </p:sp>
      <p:sp>
        <p:nvSpPr>
          <p:cNvPr id="3" name="Rounded Rectangle 2">
            <a:extLst>
              <a:ext uri="{FF2B5EF4-FFF2-40B4-BE49-F238E27FC236}">
                <a16:creationId xmlns:a16="http://schemas.microsoft.com/office/drawing/2014/main" id="{010A6BF6-904C-ADED-EC69-59D34CB49DB5}"/>
              </a:ext>
            </a:extLst>
          </p:cNvPr>
          <p:cNvSpPr/>
          <p:nvPr/>
        </p:nvSpPr>
        <p:spPr>
          <a:xfrm>
            <a:off x="1189703" y="2852588"/>
            <a:ext cx="9737700" cy="1660417"/>
          </a:xfrm>
          <a:prstGeom prst="round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8456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2">
            <a:extLst>
              <a:ext uri="{FF2B5EF4-FFF2-40B4-BE49-F238E27FC236}">
                <a16:creationId xmlns:a16="http://schemas.microsoft.com/office/drawing/2014/main" id="{3E477744-B5BA-27B5-B42C-B3B436394241}"/>
              </a:ext>
            </a:extLst>
          </p:cNvPr>
          <p:cNvSpPr txBox="1">
            <a:spLocks noGrp="1"/>
          </p:cNvSpPr>
          <p:nvPr>
            <p:ph type="title" idx="4294967295"/>
          </p:nvPr>
        </p:nvSpPr>
        <p:spPr>
          <a:xfrm>
            <a:off x="838200" y="193268"/>
            <a:ext cx="10515600"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Helvetica" charset="0"/>
                <a:ea typeface="Helvetica" charset="0"/>
                <a:cs typeface="Helvetica"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schemeClr val="tx1"/>
                </a:solidFill>
                <a:effectLst/>
                <a:uLnTx/>
                <a:uFillTx/>
                <a:latin typeface="Helvetica" panose="020B0604020202020204" pitchFamily="34" charset="0"/>
                <a:ea typeface="Helvetica" charset="0"/>
                <a:cs typeface="Helvetica" panose="020B0604020202020204" pitchFamily="34" charset="0"/>
              </a:rPr>
              <a:t>AMRFinderPlus Uses a Curated Database, HMMs and BLAST to Identify AMR genes</a:t>
            </a:r>
          </a:p>
        </p:txBody>
      </p:sp>
      <p:grpSp>
        <p:nvGrpSpPr>
          <p:cNvPr id="3" name="Group 2" descr="AMRFinderPlus can be run on nucleotides or proteins, or annotated sequences. It uses a combination of the reference AMR sequence databases, HMMs, and blast, along with a hierarchy to make decisions on genes and proteins">
            <a:extLst>
              <a:ext uri="{FF2B5EF4-FFF2-40B4-BE49-F238E27FC236}">
                <a16:creationId xmlns:a16="http://schemas.microsoft.com/office/drawing/2014/main" id="{D6867D6A-4199-34A7-0328-599DA01297ED}"/>
              </a:ext>
            </a:extLst>
          </p:cNvPr>
          <p:cNvGrpSpPr/>
          <p:nvPr/>
        </p:nvGrpSpPr>
        <p:grpSpPr>
          <a:xfrm>
            <a:off x="3798278" y="1355476"/>
            <a:ext cx="4026123" cy="2685128"/>
            <a:chOff x="3798278" y="1355476"/>
            <a:chExt cx="4026123" cy="2685128"/>
          </a:xfrm>
        </p:grpSpPr>
        <p:sp>
          <p:nvSpPr>
            <p:cNvPr id="4" name="Magnetic Disk 3">
              <a:extLst>
                <a:ext uri="{FF2B5EF4-FFF2-40B4-BE49-F238E27FC236}">
                  <a16:creationId xmlns:a16="http://schemas.microsoft.com/office/drawing/2014/main" id="{BC5550AA-F265-45C4-7D18-2C1F3E2A8779}"/>
                </a:ext>
              </a:extLst>
            </p:cNvPr>
            <p:cNvSpPr/>
            <p:nvPr/>
          </p:nvSpPr>
          <p:spPr>
            <a:xfrm>
              <a:off x="4423820" y="2867149"/>
              <a:ext cx="1178725" cy="1173455"/>
            </a:xfrm>
            <a:prstGeom prst="flowChartMagneticDisk">
              <a:avLst/>
            </a:prstGeom>
            <a:solidFill>
              <a:schemeClr val="accent1">
                <a:lumMod val="40000"/>
                <a:lumOff val="60000"/>
              </a:schemeClr>
            </a:solidFill>
            <a:ln w="1270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latin typeface="Helvetica" panose="020B0604020202020204" pitchFamily="34" charset="0"/>
                  <a:cs typeface="Helvetica" panose="020B0604020202020204" pitchFamily="34" charset="0"/>
                </a:rPr>
                <a:t>AMR</a:t>
              </a:r>
            </a:p>
            <a:p>
              <a:pPr algn="ctr"/>
              <a:r>
                <a:rPr lang="en-US" dirty="0">
                  <a:solidFill>
                    <a:srgbClr val="000000"/>
                  </a:solidFill>
                  <a:latin typeface="Helvetica" panose="020B0604020202020204" pitchFamily="34" charset="0"/>
                  <a:cs typeface="Helvetica" panose="020B0604020202020204" pitchFamily="34" charset="0"/>
                </a:rPr>
                <a:t>database</a:t>
              </a:r>
            </a:p>
          </p:txBody>
        </p:sp>
        <p:sp>
          <p:nvSpPr>
            <p:cNvPr id="5" name="Process 4">
              <a:extLst>
                <a:ext uri="{FF2B5EF4-FFF2-40B4-BE49-F238E27FC236}">
                  <a16:creationId xmlns:a16="http://schemas.microsoft.com/office/drawing/2014/main" id="{5EBD85ED-5150-BDFC-8A5A-9ED8B01EBA8F}"/>
                </a:ext>
              </a:extLst>
            </p:cNvPr>
            <p:cNvSpPr/>
            <p:nvPr/>
          </p:nvSpPr>
          <p:spPr>
            <a:xfrm>
              <a:off x="6062500" y="2172509"/>
              <a:ext cx="1103447" cy="1102381"/>
            </a:xfrm>
            <a:prstGeom prst="flowChartProcess">
              <a:avLst/>
            </a:prstGeom>
            <a:solidFill>
              <a:schemeClr val="accent1">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rgbClr val="000000"/>
                  </a:solidFill>
                  <a:latin typeface="Helvetica" panose="020B0604020202020204" pitchFamily="34" charset="0"/>
                  <a:cs typeface="Helvetica" panose="020B0604020202020204" pitchFamily="34" charset="0"/>
                </a:rPr>
                <a:t>HMMs and</a:t>
              </a:r>
            </a:p>
            <a:p>
              <a:pPr algn="ctr"/>
              <a:r>
                <a:rPr lang="en-US" sz="1600" dirty="0">
                  <a:solidFill>
                    <a:srgbClr val="000000"/>
                  </a:solidFill>
                  <a:latin typeface="Helvetica" panose="020B0604020202020204" pitchFamily="34" charset="0"/>
                  <a:cs typeface="Helvetica" panose="020B0604020202020204" pitchFamily="34" charset="0"/>
                </a:rPr>
                <a:t>BLAST</a:t>
              </a:r>
            </a:p>
          </p:txBody>
        </p:sp>
        <p:sp>
          <p:nvSpPr>
            <p:cNvPr id="6" name="Data 14">
              <a:extLst>
                <a:ext uri="{FF2B5EF4-FFF2-40B4-BE49-F238E27FC236}">
                  <a16:creationId xmlns:a16="http://schemas.microsoft.com/office/drawing/2014/main" id="{CC4E4530-31DD-3210-B264-06381245DB51}"/>
                </a:ext>
              </a:extLst>
            </p:cNvPr>
            <p:cNvSpPr/>
            <p:nvPr/>
          </p:nvSpPr>
          <p:spPr>
            <a:xfrm>
              <a:off x="3798278" y="1355476"/>
              <a:ext cx="2123664" cy="819213"/>
            </a:xfrm>
            <a:prstGeom prst="flowChartInputOutput">
              <a:avLst/>
            </a:prstGeom>
            <a:solidFill>
              <a:schemeClr val="accent1">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latin typeface="Helvetica" panose="020B0604020202020204" pitchFamily="34" charset="0"/>
                  <a:cs typeface="Helvetica" panose="020B0604020202020204" pitchFamily="34" charset="0"/>
                </a:rPr>
                <a:t>Proteins</a:t>
              </a:r>
            </a:p>
            <a:p>
              <a:pPr algn="ctr"/>
              <a:r>
                <a:rPr lang="en-US" dirty="0">
                  <a:solidFill>
                    <a:srgbClr val="000000"/>
                  </a:solidFill>
                  <a:latin typeface="Helvetica" panose="020B0604020202020204" pitchFamily="34" charset="0"/>
                  <a:cs typeface="Helvetica" panose="020B0604020202020204" pitchFamily="34" charset="0"/>
                </a:rPr>
                <a:t>Nucleotide</a:t>
              </a:r>
            </a:p>
          </p:txBody>
        </p:sp>
        <p:cxnSp>
          <p:nvCxnSpPr>
            <p:cNvPr id="7" name="Straight Arrow Connector 6">
              <a:extLst>
                <a:ext uri="{FF2B5EF4-FFF2-40B4-BE49-F238E27FC236}">
                  <a16:creationId xmlns:a16="http://schemas.microsoft.com/office/drawing/2014/main" id="{C5988580-FB03-8D62-63EE-D682E2D2D0C5}"/>
                </a:ext>
              </a:extLst>
            </p:cNvPr>
            <p:cNvCxnSpPr/>
            <p:nvPr/>
          </p:nvCxnSpPr>
          <p:spPr>
            <a:xfrm>
              <a:off x="5858783" y="1666634"/>
              <a:ext cx="283780" cy="425743"/>
            </a:xfrm>
            <a:prstGeom prst="straightConnector1">
              <a:avLst/>
            </a:prstGeom>
            <a:ln w="285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A067438-42B3-FF52-9329-83767AA786B4}"/>
                </a:ext>
              </a:extLst>
            </p:cNvPr>
            <p:cNvCxnSpPr/>
            <p:nvPr/>
          </p:nvCxnSpPr>
          <p:spPr>
            <a:xfrm flipV="1">
              <a:off x="5720072" y="3296169"/>
              <a:ext cx="283780" cy="264344"/>
            </a:xfrm>
            <a:prstGeom prst="straightConnector1">
              <a:avLst/>
            </a:prstGeom>
            <a:ln w="285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2D5FB26-7106-5AC4-21CE-492223A1A55E}"/>
                </a:ext>
              </a:extLst>
            </p:cNvPr>
            <p:cNvCxnSpPr/>
            <p:nvPr/>
          </p:nvCxnSpPr>
          <p:spPr>
            <a:xfrm>
              <a:off x="7333449" y="2810521"/>
              <a:ext cx="490952" cy="0"/>
            </a:xfrm>
            <a:prstGeom prst="straightConnector1">
              <a:avLst/>
            </a:prstGeom>
            <a:ln w="285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0" name="Document 5" descr="AMRFinderPlus results are integrated into the Pathogen Detection Isolates Browser and MicroBIGG-E">
            <a:extLst>
              <a:ext uri="{FF2B5EF4-FFF2-40B4-BE49-F238E27FC236}">
                <a16:creationId xmlns:a16="http://schemas.microsoft.com/office/drawing/2014/main" id="{78055806-F005-B7D7-8E25-DFC275BFEFC4}"/>
              </a:ext>
            </a:extLst>
          </p:cNvPr>
          <p:cNvSpPr/>
          <p:nvPr/>
        </p:nvSpPr>
        <p:spPr>
          <a:xfrm>
            <a:off x="7899225" y="869106"/>
            <a:ext cx="4244454" cy="3521903"/>
          </a:xfrm>
          <a:prstGeom prst="flowChartDocument">
            <a:avLst/>
          </a:prstGeom>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US" sz="2400" dirty="0">
                <a:solidFill>
                  <a:schemeClr val="bg1"/>
                </a:solidFill>
                <a:latin typeface="Helvetica"/>
                <a:cs typeface="Helvetica"/>
              </a:rPr>
              <a:t>Report on</a:t>
            </a:r>
          </a:p>
          <a:p>
            <a:r>
              <a:rPr lang="en-US" sz="2400" dirty="0">
                <a:solidFill>
                  <a:schemeClr val="bg1"/>
                </a:solidFill>
                <a:latin typeface="Helvetica"/>
                <a:cs typeface="Helvetica"/>
              </a:rPr>
              <a:t>resistance genes</a:t>
            </a:r>
          </a:p>
          <a:p>
            <a:r>
              <a:rPr lang="en-US" sz="2400" dirty="0">
                <a:solidFill>
                  <a:schemeClr val="bg1"/>
                </a:solidFill>
                <a:latin typeface="Helvetica"/>
                <a:cs typeface="Helvetica"/>
              </a:rPr>
              <a:t>- integrated into Pathogen Detection Isolate Browser for &gt;2.9 million pathogen isolates</a:t>
            </a:r>
          </a:p>
        </p:txBody>
      </p:sp>
      <p:sp>
        <p:nvSpPr>
          <p:cNvPr id="11" name="TextBox 10">
            <a:extLst>
              <a:ext uri="{FF2B5EF4-FFF2-40B4-BE49-F238E27FC236}">
                <a16:creationId xmlns:a16="http://schemas.microsoft.com/office/drawing/2014/main" id="{A6AC1CCB-4112-86E4-A8DE-93F4E42E10E5}"/>
              </a:ext>
            </a:extLst>
          </p:cNvPr>
          <p:cNvSpPr txBox="1"/>
          <p:nvPr/>
        </p:nvSpPr>
        <p:spPr>
          <a:xfrm>
            <a:off x="4264600" y="4511569"/>
            <a:ext cx="2429277" cy="954107"/>
          </a:xfrm>
          <a:prstGeom prst="rect">
            <a:avLst/>
          </a:prstGeom>
          <a:solidFill>
            <a:schemeClr val="accent1">
              <a:lumMod val="40000"/>
              <a:lumOff val="60000"/>
            </a:schemeClr>
          </a:solidFill>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spAutoFit/>
          </a:bodyPr>
          <a:lstStyle/>
          <a:p>
            <a:r>
              <a:rPr lang="en-US" sz="1400" dirty="0">
                <a:solidFill>
                  <a:srgbClr val="000000"/>
                </a:solidFill>
                <a:latin typeface="Helvetica"/>
                <a:cs typeface="Helvetica"/>
              </a:rPr>
              <a:t>8,545 resistance proteins</a:t>
            </a:r>
          </a:p>
          <a:p>
            <a:r>
              <a:rPr lang="en-US" sz="1400" dirty="0">
                <a:solidFill>
                  <a:srgbClr val="000000"/>
                </a:solidFill>
                <a:latin typeface="Helvetica"/>
                <a:cs typeface="Helvetica"/>
              </a:rPr>
              <a:t>784 HMMs</a:t>
            </a:r>
            <a:endParaRPr lang="en-US" sz="1400" dirty="0">
              <a:solidFill>
                <a:srgbClr val="000000"/>
              </a:solidFill>
              <a:latin typeface="Helvetica" panose="020B0604020202020204" pitchFamily="34" charset="0"/>
              <a:cs typeface="Helvetica" panose="020B0604020202020204" pitchFamily="34" charset="0"/>
            </a:endParaRPr>
          </a:p>
          <a:p>
            <a:r>
              <a:rPr lang="en-US" sz="1400" dirty="0">
                <a:solidFill>
                  <a:srgbClr val="000000"/>
                </a:solidFill>
                <a:latin typeface="Helvetica"/>
                <a:cs typeface="Helvetica"/>
              </a:rPr>
              <a:t>114 drug classes</a:t>
            </a:r>
          </a:p>
          <a:p>
            <a:r>
              <a:rPr lang="en-US" sz="1400" dirty="0">
                <a:solidFill>
                  <a:srgbClr val="000000"/>
                </a:solidFill>
                <a:latin typeface="Helvetica"/>
                <a:cs typeface="Helvetica"/>
              </a:rPr>
              <a:t>~70% beta-lactamases</a:t>
            </a:r>
          </a:p>
        </p:txBody>
      </p:sp>
      <p:sp>
        <p:nvSpPr>
          <p:cNvPr id="12" name="TextBox 11">
            <a:extLst>
              <a:ext uri="{FF2B5EF4-FFF2-40B4-BE49-F238E27FC236}">
                <a16:creationId xmlns:a16="http://schemas.microsoft.com/office/drawing/2014/main" id="{2AA9D170-B5B8-C6B7-7AAB-57AAA5B76F61}"/>
              </a:ext>
            </a:extLst>
          </p:cNvPr>
          <p:cNvSpPr txBox="1"/>
          <p:nvPr/>
        </p:nvSpPr>
        <p:spPr>
          <a:xfrm>
            <a:off x="322626" y="3825149"/>
            <a:ext cx="2852037" cy="1169551"/>
          </a:xfrm>
          <a:prstGeom prst="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spAutoFit/>
          </a:bodyPr>
          <a:lstStyle/>
          <a:p>
            <a:r>
              <a:rPr lang="en-US" sz="1400" dirty="0">
                <a:solidFill>
                  <a:srgbClr val="000000"/>
                </a:solidFill>
                <a:latin typeface="Helvetica"/>
                <a:cs typeface="Helvetica"/>
              </a:rPr>
              <a:t>”Plus” contains:</a:t>
            </a:r>
          </a:p>
          <a:p>
            <a:r>
              <a:rPr lang="en-US" sz="1400" dirty="0">
                <a:solidFill>
                  <a:srgbClr val="000000"/>
                </a:solidFill>
                <a:latin typeface="Helvetica"/>
                <a:cs typeface="Helvetica"/>
              </a:rPr>
              <a:t>1,034 virulence factor proteins</a:t>
            </a:r>
          </a:p>
          <a:p>
            <a:r>
              <a:rPr lang="en-US" sz="1400" dirty="0">
                <a:solidFill>
                  <a:srgbClr val="000000"/>
                </a:solidFill>
                <a:latin typeface="Helvetica"/>
                <a:cs typeface="Helvetica"/>
              </a:rPr>
              <a:t>259 acid, biocide, metal, and heat resistance proteins</a:t>
            </a:r>
          </a:p>
          <a:p>
            <a:r>
              <a:rPr lang="en-US" sz="1400" dirty="0">
                <a:solidFill>
                  <a:srgbClr val="000000"/>
                </a:solidFill>
                <a:latin typeface="Helvetica"/>
                <a:cs typeface="Helvetica"/>
              </a:rPr>
              <a:t>Optional for users</a:t>
            </a:r>
          </a:p>
        </p:txBody>
      </p:sp>
      <p:grpSp>
        <p:nvGrpSpPr>
          <p:cNvPr id="13" name="Group 12" descr="AMRFinderPlus also identifies point mutations that confers resistance in a number of organisms">
            <a:extLst>
              <a:ext uri="{FF2B5EF4-FFF2-40B4-BE49-F238E27FC236}">
                <a16:creationId xmlns:a16="http://schemas.microsoft.com/office/drawing/2014/main" id="{317011A1-82B4-7E79-14D9-11C3840502F3}"/>
              </a:ext>
            </a:extLst>
          </p:cNvPr>
          <p:cNvGrpSpPr/>
          <p:nvPr/>
        </p:nvGrpSpPr>
        <p:grpSpPr>
          <a:xfrm>
            <a:off x="8219175" y="4279560"/>
            <a:ext cx="3768915" cy="1209628"/>
            <a:chOff x="8307929" y="4040604"/>
            <a:chExt cx="3768915" cy="1209627"/>
          </a:xfrm>
        </p:grpSpPr>
        <p:sp>
          <p:nvSpPr>
            <p:cNvPr id="14" name="TextBox 13">
              <a:extLst>
                <a:ext uri="{FF2B5EF4-FFF2-40B4-BE49-F238E27FC236}">
                  <a16:creationId xmlns:a16="http://schemas.microsoft.com/office/drawing/2014/main" id="{6B27DC6C-F60B-2FC1-2C66-63EC7D572F53}"/>
                </a:ext>
              </a:extLst>
            </p:cNvPr>
            <p:cNvSpPr txBox="1"/>
            <p:nvPr/>
          </p:nvSpPr>
          <p:spPr>
            <a:xfrm>
              <a:off x="8307929" y="4511568"/>
              <a:ext cx="3768915" cy="738663"/>
            </a:xfrm>
            <a:prstGeom prst="rect">
              <a:avLst/>
            </a:prstGeom>
            <a:solidFill>
              <a:schemeClr val="accent1">
                <a:lumMod val="40000"/>
                <a:lumOff val="60000"/>
              </a:schemeClr>
            </a:solidFill>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spAutoFit/>
            </a:bodyPr>
            <a:lstStyle/>
            <a:p>
              <a:r>
                <a:rPr lang="en-US" sz="1400" dirty="0">
                  <a:solidFill>
                    <a:srgbClr val="000000"/>
                  </a:solidFill>
                  <a:latin typeface="Helvetica"/>
                  <a:cs typeface="Helvetica"/>
                </a:rPr>
                <a:t>AMRFinderPlus finds point mutations </a:t>
              </a:r>
              <a:endParaRPr lang="en-US" sz="1400" dirty="0">
                <a:solidFill>
                  <a:srgbClr val="000000"/>
                </a:solidFill>
                <a:latin typeface="Helvetica" panose="020B0604020202020204" pitchFamily="34" charset="0"/>
                <a:cs typeface="Helvetica" panose="020B0604020202020204" pitchFamily="34" charset="0"/>
              </a:endParaRPr>
            </a:p>
            <a:p>
              <a:r>
                <a:rPr lang="en-US" sz="1400" dirty="0">
                  <a:solidFill>
                    <a:srgbClr val="000000"/>
                  </a:solidFill>
                  <a:latin typeface="Helvetica"/>
                  <a:cs typeface="Helvetica"/>
                </a:rPr>
                <a:t>1,618 resistance mutations and 26 disrupted genes for 32 taxa</a:t>
              </a:r>
              <a:endParaRPr lang="en-US" sz="1400" i="1" dirty="0">
                <a:solidFill>
                  <a:srgbClr val="000000"/>
                </a:solidFill>
                <a:latin typeface="Helvetica"/>
                <a:cs typeface="Helvetica"/>
              </a:endParaRPr>
            </a:p>
          </p:txBody>
        </p:sp>
        <p:cxnSp>
          <p:nvCxnSpPr>
            <p:cNvPr id="15" name="Straight Arrow Connector 14">
              <a:extLst>
                <a:ext uri="{FF2B5EF4-FFF2-40B4-BE49-F238E27FC236}">
                  <a16:creationId xmlns:a16="http://schemas.microsoft.com/office/drawing/2014/main" id="{69EA6A21-7CCE-E8A7-6725-3A9F957A5BAB}"/>
                </a:ext>
              </a:extLst>
            </p:cNvPr>
            <p:cNvCxnSpPr>
              <a:cxnSpLocks/>
            </p:cNvCxnSpPr>
            <p:nvPr/>
          </p:nvCxnSpPr>
          <p:spPr>
            <a:xfrm flipH="1" flipV="1">
              <a:off x="10705803" y="4040604"/>
              <a:ext cx="277473" cy="417884"/>
            </a:xfrm>
            <a:prstGeom prst="straightConnector1">
              <a:avLst/>
            </a:prstGeom>
            <a:ln w="285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6" name="TextBox 15">
            <a:extLst>
              <a:ext uri="{FF2B5EF4-FFF2-40B4-BE49-F238E27FC236}">
                <a16:creationId xmlns:a16="http://schemas.microsoft.com/office/drawing/2014/main" id="{0EB63BEE-B519-13E1-D1D9-D88174562F53}"/>
              </a:ext>
            </a:extLst>
          </p:cNvPr>
          <p:cNvSpPr txBox="1"/>
          <p:nvPr/>
        </p:nvSpPr>
        <p:spPr>
          <a:xfrm>
            <a:off x="69431" y="2413389"/>
            <a:ext cx="3816769" cy="707886"/>
          </a:xfrm>
          <a:prstGeom prst="rect">
            <a:avLst/>
          </a:prstGeom>
          <a:noFill/>
          <a:ln w="38100">
            <a:solidFill>
              <a:srgbClr val="C00000"/>
            </a:solidFill>
          </a:ln>
        </p:spPr>
        <p:txBody>
          <a:bodyPr wrap="square" rtlCol="0">
            <a:spAutoFit/>
          </a:bodyPr>
          <a:lstStyle/>
          <a:p>
            <a:r>
              <a:rPr lang="en-US" sz="2200" b="1">
                <a:latin typeface="Helvetica" panose="020B0604020202020204" pitchFamily="34" charset="0"/>
                <a:cs typeface="Helvetica" panose="020B0604020202020204" pitchFamily="34" charset="0"/>
              </a:rPr>
              <a:t>Available at:</a:t>
            </a:r>
          </a:p>
          <a:p>
            <a:r>
              <a:rPr lang="en-US" b="1">
                <a:latin typeface="Helvetica" panose="020B0604020202020204" pitchFamily="34" charset="0"/>
                <a:cs typeface="Helvetica" panose="020B0604020202020204" pitchFamily="34" charset="0"/>
              </a:rPr>
              <a:t>https://</a:t>
            </a:r>
            <a:r>
              <a:rPr lang="en-US" b="1" err="1">
                <a:latin typeface="Helvetica" panose="020B0604020202020204" pitchFamily="34" charset="0"/>
                <a:cs typeface="Helvetica" panose="020B0604020202020204" pitchFamily="34" charset="0"/>
              </a:rPr>
              <a:t>github.com</a:t>
            </a:r>
            <a:r>
              <a:rPr lang="en-US" b="1">
                <a:latin typeface="Helvetica" panose="020B0604020202020204" pitchFamily="34" charset="0"/>
                <a:cs typeface="Helvetica" panose="020B0604020202020204" pitchFamily="34" charset="0"/>
              </a:rPr>
              <a:t>/</a:t>
            </a:r>
            <a:r>
              <a:rPr lang="en-US" b="1" err="1">
                <a:latin typeface="Helvetica" panose="020B0604020202020204" pitchFamily="34" charset="0"/>
                <a:cs typeface="Helvetica" panose="020B0604020202020204" pitchFamily="34" charset="0"/>
              </a:rPr>
              <a:t>ncbi</a:t>
            </a:r>
            <a:r>
              <a:rPr lang="en-US" b="1">
                <a:latin typeface="Helvetica" panose="020B0604020202020204" pitchFamily="34" charset="0"/>
                <a:cs typeface="Helvetica" panose="020B0604020202020204" pitchFamily="34" charset="0"/>
              </a:rPr>
              <a:t>/</a:t>
            </a:r>
            <a:r>
              <a:rPr lang="en-US" b="1" err="1">
                <a:latin typeface="Helvetica" panose="020B0604020202020204" pitchFamily="34" charset="0"/>
                <a:cs typeface="Helvetica" panose="020B0604020202020204" pitchFamily="34" charset="0"/>
              </a:rPr>
              <a:t>amr</a:t>
            </a:r>
            <a:r>
              <a:rPr lang="en-US" b="1">
                <a:latin typeface="Helvetica" panose="020B0604020202020204" pitchFamily="34" charset="0"/>
                <a:cs typeface="Helvetica" panose="020B0604020202020204" pitchFamily="34" charset="0"/>
              </a:rPr>
              <a:t>/wiki</a:t>
            </a:r>
          </a:p>
        </p:txBody>
      </p:sp>
      <p:sp>
        <p:nvSpPr>
          <p:cNvPr id="18" name="TextBox 17">
            <a:extLst>
              <a:ext uri="{FF2B5EF4-FFF2-40B4-BE49-F238E27FC236}">
                <a16:creationId xmlns:a16="http://schemas.microsoft.com/office/drawing/2014/main" id="{DC72E5EC-9D9D-1CFB-87FD-DDE3B05FF8C1}"/>
              </a:ext>
            </a:extLst>
          </p:cNvPr>
          <p:cNvSpPr txBox="1"/>
          <p:nvPr/>
        </p:nvSpPr>
        <p:spPr>
          <a:xfrm>
            <a:off x="3962400" y="6302759"/>
            <a:ext cx="6102096" cy="369332"/>
          </a:xfrm>
          <a:prstGeom prst="rect">
            <a:avLst/>
          </a:prstGeom>
          <a:noFill/>
        </p:spPr>
        <p:txBody>
          <a:bodyPr wrap="square">
            <a:spAutoFit/>
          </a:bodyPr>
          <a:lstStyle/>
          <a:p>
            <a:r>
              <a:rPr lang="en-US">
                <a:latin typeface="Helvetica" panose="020B0604020202020204" pitchFamily="34" charset="0"/>
                <a:cs typeface="Helvetica" panose="020B0604020202020204" pitchFamily="34" charset="0"/>
              </a:rPr>
              <a:t>https://github.com/ncbi/amr/wiki/Curated-organisms</a:t>
            </a:r>
          </a:p>
        </p:txBody>
      </p:sp>
      <p:sp>
        <p:nvSpPr>
          <p:cNvPr id="17" name="Rectangle 1">
            <a:extLst>
              <a:ext uri="{FF2B5EF4-FFF2-40B4-BE49-F238E27FC236}">
                <a16:creationId xmlns:a16="http://schemas.microsoft.com/office/drawing/2014/main" id="{CACF706E-50A3-BC04-C56E-23041204294E}"/>
              </a:ext>
            </a:extLst>
          </p:cNvPr>
          <p:cNvSpPr>
            <a:spLocks noChangeArrowheads="1"/>
          </p:cNvSpPr>
          <p:nvPr/>
        </p:nvSpPr>
        <p:spPr bwMode="auto">
          <a:xfrm>
            <a:off x="409264" y="5698574"/>
            <a:ext cx="9834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000" dirty="0">
                <a:solidFill>
                  <a:srgbClr val="000000"/>
                </a:solidFill>
                <a:latin typeface="Helvetica"/>
                <a:cs typeface="Helvetica"/>
              </a:rPr>
              <a:t>Database: </a:t>
            </a:r>
            <a:r>
              <a:rPr lang="en-US" altLang="en-US" sz="1000" dirty="0">
                <a:solidFill>
                  <a:srgbClr val="000000"/>
                </a:solidFill>
                <a:ea typeface="Tahoma"/>
                <a:cs typeface="Helvetica"/>
              </a:rPr>
              <a:t>2026-08-07.1</a:t>
            </a:r>
            <a:endParaRPr lang="en-US" altLang="en-US" b="0" i="0" u="none" strike="noStrike" cap="none" normalizeH="0" baseline="0" dirty="0">
              <a:ln>
                <a:noFill/>
              </a:ln>
              <a:effectLst/>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404804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Data Resources">
            <a:extLst>
              <a:ext uri="{FF2B5EF4-FFF2-40B4-BE49-F238E27FC236}">
                <a16:creationId xmlns:a16="http://schemas.microsoft.com/office/drawing/2014/main" id="{64E17E32-AEBE-43C9-AA6A-1391E3644454}"/>
              </a:ext>
            </a:extLst>
          </p:cNvPr>
          <p:cNvSpPr txBox="1">
            <a:spLocks noGrp="1"/>
          </p:cNvSpPr>
          <p:nvPr>
            <p:ph type="title" idx="4294967295"/>
          </p:nvPr>
        </p:nvSpPr>
        <p:spPr>
          <a:xfrm>
            <a:off x="6264652" y="271736"/>
            <a:ext cx="4660232"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Helvetica" charset="0"/>
                <a:ea typeface="Helvetica" charset="0"/>
                <a:cs typeface="Helvetica"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schemeClr val="tx1"/>
                </a:solidFill>
                <a:effectLst/>
                <a:uLnTx/>
                <a:uFillTx/>
                <a:latin typeface="+mj-lt"/>
                <a:ea typeface="Helvetica" charset="0"/>
                <a:cs typeface="Helvetica"/>
              </a:rPr>
              <a:t>Reference tables</a:t>
            </a:r>
            <a:br>
              <a:rPr kumimoji="0" lang="en-US" sz="4000" b="0" i="0" u="none" strike="noStrike" kern="1200" cap="none" spc="0" normalizeH="0" baseline="0" noProof="0" dirty="0">
                <a:ln>
                  <a:noFill/>
                </a:ln>
                <a:solidFill>
                  <a:schemeClr val="tx1"/>
                </a:solidFill>
                <a:effectLst/>
                <a:uLnTx/>
                <a:uFillTx/>
                <a:latin typeface="+mj-lt"/>
                <a:ea typeface="Helvetica" charset="0"/>
                <a:cs typeface="Helvetica"/>
              </a:rPr>
            </a:br>
            <a:br>
              <a:rPr kumimoji="0" lang="en-US" sz="1100" b="0" i="0" u="none" strike="noStrike" kern="1200" cap="none" spc="0" normalizeH="0" baseline="0" noProof="0" dirty="0">
                <a:ln>
                  <a:noFill/>
                </a:ln>
                <a:solidFill>
                  <a:schemeClr val="tx1"/>
                </a:solidFill>
                <a:effectLst/>
                <a:uLnTx/>
                <a:uFillTx/>
                <a:latin typeface="+mj-lt"/>
                <a:ea typeface="Helvetica" charset="0"/>
                <a:cs typeface="Helvetica"/>
              </a:rPr>
            </a:br>
            <a:r>
              <a:rPr kumimoji="0" lang="en-US" sz="2400" b="0" i="0" u="none" strike="noStrike" kern="1200" cap="none" spc="0" normalizeH="0" baseline="0" noProof="0" dirty="0">
                <a:ln>
                  <a:noFill/>
                </a:ln>
                <a:solidFill>
                  <a:schemeClr val="tx1"/>
                </a:solidFill>
                <a:effectLst/>
                <a:uLnTx/>
                <a:uFillTx/>
                <a:latin typeface="+mj-lt"/>
                <a:ea typeface="Helvetica" charset="0"/>
                <a:cs typeface="Helvetica"/>
              </a:rPr>
              <a:t>Data used by AMRFinderPlus to identify genes and point mutations</a:t>
            </a:r>
            <a:endParaRPr kumimoji="0" lang="en-US" sz="4000" b="0" i="0" u="none" strike="noStrike" kern="1200" cap="none" spc="0" normalizeH="0" baseline="0" noProof="0" dirty="0">
              <a:ln>
                <a:noFill/>
              </a:ln>
              <a:solidFill>
                <a:schemeClr val="tx1"/>
              </a:solidFill>
              <a:effectLst/>
              <a:uLnTx/>
              <a:uFillTx/>
              <a:latin typeface="+mj-lt"/>
              <a:ea typeface="Helvetica" charset="0"/>
              <a:cs typeface="Helvetica" charset="0"/>
            </a:endParaRPr>
          </a:p>
        </p:txBody>
      </p:sp>
      <p:grpSp>
        <p:nvGrpSpPr>
          <p:cNvPr id="47" name="Group 46" descr="Reference Gene Catalog where every row is a reference gene or point mutation. You can download reference sequences from here.">
            <a:extLst>
              <a:ext uri="{FF2B5EF4-FFF2-40B4-BE49-F238E27FC236}">
                <a16:creationId xmlns:a16="http://schemas.microsoft.com/office/drawing/2014/main" id="{BE02FA1B-6A74-1228-D782-1324FF8B11A4}"/>
              </a:ext>
            </a:extLst>
          </p:cNvPr>
          <p:cNvGrpSpPr/>
          <p:nvPr/>
        </p:nvGrpSpPr>
        <p:grpSpPr>
          <a:xfrm>
            <a:off x="399498" y="893567"/>
            <a:ext cx="4292531" cy="2256159"/>
            <a:chOff x="399498" y="893567"/>
            <a:chExt cx="4292531" cy="2256159"/>
          </a:xfrm>
        </p:grpSpPr>
        <p:grpSp>
          <p:nvGrpSpPr>
            <p:cNvPr id="3" name="Group 2" descr="Reference Gene Catalog: Every row is a reference gene or point mutation">
              <a:extLst>
                <a:ext uri="{FF2B5EF4-FFF2-40B4-BE49-F238E27FC236}">
                  <a16:creationId xmlns:a16="http://schemas.microsoft.com/office/drawing/2014/main" id="{B6E5A99F-DE26-47A2-8195-2EA45A876418}"/>
                </a:ext>
              </a:extLst>
            </p:cNvPr>
            <p:cNvGrpSpPr/>
            <p:nvPr/>
          </p:nvGrpSpPr>
          <p:grpSpPr>
            <a:xfrm>
              <a:off x="493680" y="893567"/>
              <a:ext cx="4198349" cy="1659907"/>
              <a:chOff x="275020" y="407788"/>
              <a:chExt cx="4016761" cy="2210807"/>
            </a:xfrm>
          </p:grpSpPr>
          <p:sp>
            <p:nvSpPr>
              <p:cNvPr id="4" name="TextBox 3">
                <a:extLst>
                  <a:ext uri="{FF2B5EF4-FFF2-40B4-BE49-F238E27FC236}">
                    <a16:creationId xmlns:a16="http://schemas.microsoft.com/office/drawing/2014/main" id="{87030516-D3A8-4389-B6A8-B494F83590A4}"/>
                  </a:ext>
                </a:extLst>
              </p:cNvPr>
              <p:cNvSpPr txBox="1"/>
              <p:nvPr/>
            </p:nvSpPr>
            <p:spPr>
              <a:xfrm>
                <a:off x="2807135" y="545728"/>
                <a:ext cx="1484646" cy="1598703"/>
              </a:xfrm>
              <a:prstGeom prst="rect">
                <a:avLst/>
              </a:prstGeom>
              <a:noFill/>
            </p:spPr>
            <p:txBody>
              <a:bodyPr wrap="square" rtlCol="0">
                <a:spAutoFit/>
              </a:bodyPr>
              <a:lstStyle/>
              <a:p>
                <a:r>
                  <a:rPr lang="en-US" dirty="0">
                    <a:latin typeface="+mj-lt"/>
                    <a:ea typeface="Cambria" panose="02040503050406030204" pitchFamily="18" charset="0"/>
                  </a:rPr>
                  <a:t>Every row is a reference gene or point mutation</a:t>
                </a:r>
              </a:p>
            </p:txBody>
          </p:sp>
          <p:sp>
            <p:nvSpPr>
              <p:cNvPr id="5" name="Rectangle 4">
                <a:extLst>
                  <a:ext uri="{FF2B5EF4-FFF2-40B4-BE49-F238E27FC236}">
                    <a16:creationId xmlns:a16="http://schemas.microsoft.com/office/drawing/2014/main" id="{56E7E8BD-ADEF-46C2-95D4-BE55B1933CA3}"/>
                  </a:ext>
                </a:extLst>
              </p:cNvPr>
              <p:cNvSpPr/>
              <p:nvPr/>
            </p:nvSpPr>
            <p:spPr>
              <a:xfrm>
                <a:off x="275020" y="407788"/>
                <a:ext cx="4016761" cy="22108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a typeface="Cambria" panose="02040503050406030204" pitchFamily="18" charset="0"/>
                </a:endParaRPr>
              </a:p>
            </p:txBody>
          </p:sp>
          <p:sp>
            <p:nvSpPr>
              <p:cNvPr id="6" name="TextBox 5">
                <a:extLst>
                  <a:ext uri="{FF2B5EF4-FFF2-40B4-BE49-F238E27FC236}">
                    <a16:creationId xmlns:a16="http://schemas.microsoft.com/office/drawing/2014/main" id="{0117BC94-A695-471E-A0D1-0C648454DCB9}"/>
                  </a:ext>
                </a:extLst>
              </p:cNvPr>
              <p:cNvSpPr txBox="1"/>
              <p:nvPr/>
            </p:nvSpPr>
            <p:spPr>
              <a:xfrm>
                <a:off x="2855054" y="2119905"/>
                <a:ext cx="1268830" cy="491908"/>
              </a:xfrm>
              <a:prstGeom prst="rect">
                <a:avLst/>
              </a:prstGeom>
              <a:noFill/>
            </p:spPr>
            <p:txBody>
              <a:bodyPr wrap="square" rtlCol="0">
                <a:spAutoFit/>
              </a:bodyPr>
              <a:lstStyle/>
              <a:p>
                <a:r>
                  <a:rPr lang="en-US" dirty="0">
                    <a:latin typeface="+mj-lt"/>
                    <a:ea typeface="Cambria" panose="02040503050406030204" pitchFamily="18" charset="0"/>
                  </a:rPr>
                  <a:t>1,000 X N</a:t>
                </a:r>
              </a:p>
            </p:txBody>
          </p:sp>
          <p:sp>
            <p:nvSpPr>
              <p:cNvPr id="7" name="Document 5">
                <a:extLst>
                  <a:ext uri="{FF2B5EF4-FFF2-40B4-BE49-F238E27FC236}">
                    <a16:creationId xmlns:a16="http://schemas.microsoft.com/office/drawing/2014/main" id="{31566C26-C3E5-487B-B9D1-74B93F6E99E8}"/>
                  </a:ext>
                </a:extLst>
              </p:cNvPr>
              <p:cNvSpPr/>
              <p:nvPr/>
            </p:nvSpPr>
            <p:spPr>
              <a:xfrm>
                <a:off x="362672" y="642562"/>
                <a:ext cx="2444463" cy="1668665"/>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mj-lt"/>
                    <a:ea typeface="Cambria" panose="02040503050406030204" pitchFamily="18" charset="0"/>
                  </a:rPr>
                  <a:t>Reference Gene Catalog</a:t>
                </a:r>
              </a:p>
            </p:txBody>
          </p:sp>
        </p:grpSp>
        <p:sp>
          <p:nvSpPr>
            <p:cNvPr id="45" name="TextBox 44">
              <a:extLst>
                <a:ext uri="{FF2B5EF4-FFF2-40B4-BE49-F238E27FC236}">
                  <a16:creationId xmlns:a16="http://schemas.microsoft.com/office/drawing/2014/main" id="{932387E8-7234-0D44-B8A7-73D6B43DC991}"/>
                </a:ext>
              </a:extLst>
            </p:cNvPr>
            <p:cNvSpPr txBox="1"/>
            <p:nvPr/>
          </p:nvSpPr>
          <p:spPr>
            <a:xfrm>
              <a:off x="399498" y="2841949"/>
              <a:ext cx="2740768" cy="307777"/>
            </a:xfrm>
            <a:prstGeom prst="rect">
              <a:avLst/>
            </a:prstGeom>
            <a:noFill/>
          </p:spPr>
          <p:txBody>
            <a:bodyPr wrap="square" rtlCol="0">
              <a:spAutoFit/>
            </a:bodyPr>
            <a:lstStyle/>
            <a:p>
              <a:r>
                <a:rPr lang="en-US" sz="1400" b="1" dirty="0">
                  <a:latin typeface="+mj-lt"/>
                </a:rPr>
                <a:t>Download reference sequences</a:t>
              </a:r>
            </a:p>
          </p:txBody>
        </p:sp>
        <p:cxnSp>
          <p:nvCxnSpPr>
            <p:cNvPr id="46" name="Straight Arrow Connector 45">
              <a:extLst>
                <a:ext uri="{FF2B5EF4-FFF2-40B4-BE49-F238E27FC236}">
                  <a16:creationId xmlns:a16="http://schemas.microsoft.com/office/drawing/2014/main" id="{194B5BE2-58F1-5F4F-AFFB-814875098C85}"/>
                </a:ext>
                <a:ext uri="{C183D7F6-B498-43B3-948B-1728B52AA6E4}">
                  <adec:decorative xmlns:adec="http://schemas.microsoft.com/office/drawing/2017/decorative" val="1"/>
                </a:ext>
              </a:extLst>
            </p:cNvPr>
            <p:cNvCxnSpPr>
              <a:cxnSpLocks/>
            </p:cNvCxnSpPr>
            <p:nvPr/>
          </p:nvCxnSpPr>
          <p:spPr>
            <a:xfrm>
              <a:off x="1349478" y="2566895"/>
              <a:ext cx="0" cy="319723"/>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 name="Group 7" descr="Reference HMM Catalog: Every row is an HMM">
            <a:extLst>
              <a:ext uri="{FF2B5EF4-FFF2-40B4-BE49-F238E27FC236}">
                <a16:creationId xmlns:a16="http://schemas.microsoft.com/office/drawing/2014/main" id="{61E64664-F269-4FE9-96B9-0178920E61FF}"/>
              </a:ext>
            </a:extLst>
          </p:cNvPr>
          <p:cNvGrpSpPr/>
          <p:nvPr/>
        </p:nvGrpSpPr>
        <p:grpSpPr>
          <a:xfrm>
            <a:off x="497029" y="4707268"/>
            <a:ext cx="4278997" cy="1475240"/>
            <a:chOff x="278224" y="558563"/>
            <a:chExt cx="4093921" cy="1964853"/>
          </a:xfrm>
        </p:grpSpPr>
        <p:sp>
          <p:nvSpPr>
            <p:cNvPr id="9" name="TextBox 8">
              <a:extLst>
                <a:ext uri="{FF2B5EF4-FFF2-40B4-BE49-F238E27FC236}">
                  <a16:creationId xmlns:a16="http://schemas.microsoft.com/office/drawing/2014/main" id="{C411ABBC-4EA2-4468-9041-038C1130CE27}"/>
                </a:ext>
              </a:extLst>
            </p:cNvPr>
            <p:cNvSpPr txBox="1"/>
            <p:nvPr/>
          </p:nvSpPr>
          <p:spPr>
            <a:xfrm>
              <a:off x="2887499" y="749127"/>
              <a:ext cx="1484646" cy="860840"/>
            </a:xfrm>
            <a:prstGeom prst="rect">
              <a:avLst/>
            </a:prstGeom>
            <a:noFill/>
          </p:spPr>
          <p:txBody>
            <a:bodyPr wrap="square" rtlCol="0">
              <a:spAutoFit/>
            </a:bodyPr>
            <a:lstStyle/>
            <a:p>
              <a:r>
                <a:rPr lang="en-US" dirty="0">
                  <a:latin typeface="+mj-lt"/>
                  <a:ea typeface="Cambria" panose="02040503050406030204" pitchFamily="18" charset="0"/>
                </a:rPr>
                <a:t>Every row is an HMM</a:t>
              </a:r>
            </a:p>
          </p:txBody>
        </p:sp>
        <p:sp>
          <p:nvSpPr>
            <p:cNvPr id="10" name="Rectangle 9">
              <a:extLst>
                <a:ext uri="{FF2B5EF4-FFF2-40B4-BE49-F238E27FC236}">
                  <a16:creationId xmlns:a16="http://schemas.microsoft.com/office/drawing/2014/main" id="{A07118FC-26F5-487A-98AC-2620777B8DAF}"/>
                </a:ext>
              </a:extLst>
            </p:cNvPr>
            <p:cNvSpPr/>
            <p:nvPr/>
          </p:nvSpPr>
          <p:spPr>
            <a:xfrm>
              <a:off x="278224" y="558563"/>
              <a:ext cx="4016761" cy="19648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a typeface="Cambria" panose="02040503050406030204" pitchFamily="18" charset="0"/>
              </a:endParaRPr>
            </a:p>
          </p:txBody>
        </p:sp>
        <p:sp>
          <p:nvSpPr>
            <p:cNvPr id="11" name="TextBox 10">
              <a:extLst>
                <a:ext uri="{FF2B5EF4-FFF2-40B4-BE49-F238E27FC236}">
                  <a16:creationId xmlns:a16="http://schemas.microsoft.com/office/drawing/2014/main" id="{9419A56C-7F28-4EC4-AF93-E31EA71192C6}"/>
                </a:ext>
              </a:extLst>
            </p:cNvPr>
            <p:cNvSpPr txBox="1"/>
            <p:nvPr/>
          </p:nvSpPr>
          <p:spPr>
            <a:xfrm>
              <a:off x="2921044" y="1741056"/>
              <a:ext cx="1136850" cy="491908"/>
            </a:xfrm>
            <a:prstGeom prst="rect">
              <a:avLst/>
            </a:prstGeom>
            <a:noFill/>
          </p:spPr>
          <p:txBody>
            <a:bodyPr wrap="square" rtlCol="0">
              <a:spAutoFit/>
            </a:bodyPr>
            <a:lstStyle/>
            <a:p>
              <a:r>
                <a:rPr lang="en-US" dirty="0">
                  <a:latin typeface="+mj-lt"/>
                  <a:ea typeface="Cambria" panose="02040503050406030204" pitchFamily="18" charset="0"/>
                </a:rPr>
                <a:t>100 X N</a:t>
              </a:r>
            </a:p>
          </p:txBody>
        </p:sp>
        <p:sp>
          <p:nvSpPr>
            <p:cNvPr id="12" name="Document 5">
              <a:extLst>
                <a:ext uri="{FF2B5EF4-FFF2-40B4-BE49-F238E27FC236}">
                  <a16:creationId xmlns:a16="http://schemas.microsoft.com/office/drawing/2014/main" id="{F45E7311-BD09-4B7C-9813-176892D8A5A2}"/>
                </a:ext>
              </a:extLst>
            </p:cNvPr>
            <p:cNvSpPr/>
            <p:nvPr/>
          </p:nvSpPr>
          <p:spPr>
            <a:xfrm>
              <a:off x="362672" y="749127"/>
              <a:ext cx="2444463" cy="1668665"/>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mj-lt"/>
                  <a:ea typeface="Cambria" panose="02040503050406030204" pitchFamily="18" charset="0"/>
                </a:rPr>
                <a:t>Reference HMM Catalog</a:t>
              </a:r>
            </a:p>
          </p:txBody>
        </p:sp>
      </p:grpSp>
      <p:grpSp>
        <p:nvGrpSpPr>
          <p:cNvPr id="13" name="Group 12" descr="Reference Gene Hierarchy: Every row is a node in our hierarchy.">
            <a:extLst>
              <a:ext uri="{FF2B5EF4-FFF2-40B4-BE49-F238E27FC236}">
                <a16:creationId xmlns:a16="http://schemas.microsoft.com/office/drawing/2014/main" id="{86B23C0B-CF6C-4E22-B99E-64A293EB7159}"/>
              </a:ext>
            </a:extLst>
          </p:cNvPr>
          <p:cNvGrpSpPr/>
          <p:nvPr/>
        </p:nvGrpSpPr>
        <p:grpSpPr>
          <a:xfrm>
            <a:off x="6173037" y="2726757"/>
            <a:ext cx="4287452" cy="1475241"/>
            <a:chOff x="275020" y="653743"/>
            <a:chExt cx="4102010" cy="1964853"/>
          </a:xfrm>
        </p:grpSpPr>
        <p:sp>
          <p:nvSpPr>
            <p:cNvPr id="14" name="TextBox 13">
              <a:extLst>
                <a:ext uri="{FF2B5EF4-FFF2-40B4-BE49-F238E27FC236}">
                  <a16:creationId xmlns:a16="http://schemas.microsoft.com/office/drawing/2014/main" id="{A4FCCF70-9329-4F99-A637-1E20A4104F33}"/>
                </a:ext>
              </a:extLst>
            </p:cNvPr>
            <p:cNvSpPr txBox="1"/>
            <p:nvPr/>
          </p:nvSpPr>
          <p:spPr>
            <a:xfrm>
              <a:off x="2892384" y="749127"/>
              <a:ext cx="1484646" cy="1229771"/>
            </a:xfrm>
            <a:prstGeom prst="rect">
              <a:avLst/>
            </a:prstGeom>
            <a:noFill/>
          </p:spPr>
          <p:txBody>
            <a:bodyPr wrap="square" rtlCol="0">
              <a:spAutoFit/>
            </a:bodyPr>
            <a:lstStyle/>
            <a:p>
              <a:r>
                <a:rPr lang="en-US" dirty="0">
                  <a:latin typeface="+mj-lt"/>
                  <a:ea typeface="Cambria" panose="02040503050406030204" pitchFamily="18" charset="0"/>
                </a:rPr>
                <a:t>Every row is a node in our hierarchy</a:t>
              </a:r>
            </a:p>
          </p:txBody>
        </p:sp>
        <p:sp>
          <p:nvSpPr>
            <p:cNvPr id="15" name="Rectangle 14">
              <a:extLst>
                <a:ext uri="{FF2B5EF4-FFF2-40B4-BE49-F238E27FC236}">
                  <a16:creationId xmlns:a16="http://schemas.microsoft.com/office/drawing/2014/main" id="{A5668040-9CCA-4104-B0E7-EDC3F55AE2A5}"/>
                </a:ext>
              </a:extLst>
            </p:cNvPr>
            <p:cNvSpPr/>
            <p:nvPr/>
          </p:nvSpPr>
          <p:spPr>
            <a:xfrm>
              <a:off x="275020" y="653743"/>
              <a:ext cx="4016761" cy="19648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a typeface="Cambria" panose="02040503050406030204" pitchFamily="18" charset="0"/>
              </a:endParaRPr>
            </a:p>
          </p:txBody>
        </p:sp>
        <p:sp>
          <p:nvSpPr>
            <p:cNvPr id="16" name="TextBox 15">
              <a:extLst>
                <a:ext uri="{FF2B5EF4-FFF2-40B4-BE49-F238E27FC236}">
                  <a16:creationId xmlns:a16="http://schemas.microsoft.com/office/drawing/2014/main" id="{8017C030-A438-4C2F-8EC7-57CF7BB56923}"/>
                </a:ext>
              </a:extLst>
            </p:cNvPr>
            <p:cNvSpPr txBox="1"/>
            <p:nvPr/>
          </p:nvSpPr>
          <p:spPr>
            <a:xfrm>
              <a:off x="2981033" y="2035305"/>
              <a:ext cx="1136850" cy="491908"/>
            </a:xfrm>
            <a:prstGeom prst="rect">
              <a:avLst/>
            </a:prstGeom>
            <a:noFill/>
          </p:spPr>
          <p:txBody>
            <a:bodyPr wrap="square" rtlCol="0">
              <a:spAutoFit/>
            </a:bodyPr>
            <a:lstStyle/>
            <a:p>
              <a:r>
                <a:rPr lang="en-US" dirty="0">
                  <a:latin typeface="+mj-lt"/>
                  <a:ea typeface="Cambria" panose="02040503050406030204" pitchFamily="18" charset="0"/>
                </a:rPr>
                <a:t>1000 X N</a:t>
              </a:r>
            </a:p>
          </p:txBody>
        </p:sp>
        <p:sp>
          <p:nvSpPr>
            <p:cNvPr id="17" name="Document 5">
              <a:extLst>
                <a:ext uri="{FF2B5EF4-FFF2-40B4-BE49-F238E27FC236}">
                  <a16:creationId xmlns:a16="http://schemas.microsoft.com/office/drawing/2014/main" id="{B2696EAC-ECC9-4975-AC23-4D4C3D9D6436}"/>
                </a:ext>
              </a:extLst>
            </p:cNvPr>
            <p:cNvSpPr/>
            <p:nvPr/>
          </p:nvSpPr>
          <p:spPr>
            <a:xfrm>
              <a:off x="362672" y="749127"/>
              <a:ext cx="2444463" cy="1668665"/>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mj-lt"/>
                  <a:ea typeface="Cambria" panose="02040503050406030204" pitchFamily="18" charset="0"/>
                </a:rPr>
                <a:t>Reference Gene Hierarchy</a:t>
              </a:r>
            </a:p>
          </p:txBody>
        </p:sp>
      </p:grpSp>
      <p:cxnSp>
        <p:nvCxnSpPr>
          <p:cNvPr id="18" name="Straight Arrow Connector 17">
            <a:extLst>
              <a:ext uri="{FF2B5EF4-FFF2-40B4-BE49-F238E27FC236}">
                <a16:creationId xmlns:a16="http://schemas.microsoft.com/office/drawing/2014/main" id="{3EBDB9C5-7E24-4858-9D4F-06601AE6CF0C}"/>
              </a:ext>
              <a:ext uri="{C183D7F6-B498-43B3-948B-1728B52AA6E4}">
                <adec:decorative xmlns:adec="http://schemas.microsoft.com/office/drawing/2017/decorative" val="1"/>
              </a:ext>
            </a:extLst>
          </p:cNvPr>
          <p:cNvCxnSpPr>
            <a:cxnSpLocks/>
          </p:cNvCxnSpPr>
          <p:nvPr/>
        </p:nvCxnSpPr>
        <p:spPr>
          <a:xfrm>
            <a:off x="3619041" y="2574284"/>
            <a:ext cx="2553159" cy="535331"/>
          </a:xfrm>
          <a:prstGeom prst="straightConnector1">
            <a:avLst/>
          </a:prstGeom>
          <a:ln w="508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6B4AB62-E38A-4A9E-9CCB-76EFD48BAEF8}"/>
              </a:ext>
              <a:ext uri="{C183D7F6-B498-43B3-948B-1728B52AA6E4}">
                <adec:decorative xmlns:adec="http://schemas.microsoft.com/office/drawing/2017/decorative" val="1"/>
              </a:ext>
            </a:extLst>
          </p:cNvPr>
          <p:cNvCxnSpPr>
            <a:cxnSpLocks/>
          </p:cNvCxnSpPr>
          <p:nvPr/>
        </p:nvCxnSpPr>
        <p:spPr>
          <a:xfrm flipH="1">
            <a:off x="3681587" y="3764054"/>
            <a:ext cx="2493962" cy="934283"/>
          </a:xfrm>
          <a:prstGeom prst="straightConnector1">
            <a:avLst/>
          </a:prstGeom>
          <a:ln w="5080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7384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735123-3C6A-7687-DC51-A6A2EE38F4EE}"/>
              </a:ext>
            </a:extLst>
          </p:cNvPr>
          <p:cNvSpPr>
            <a:spLocks noGrp="1"/>
          </p:cNvSpPr>
          <p:nvPr>
            <p:ph type="sldNum" sz="quarter" idx="11"/>
          </p:nvPr>
        </p:nvSpPr>
        <p:spPr/>
        <p:txBody>
          <a:bodyPr/>
          <a:lstStyle/>
          <a:p>
            <a:pPr algn="ctr"/>
            <a:endParaRPr lang="en-US" dirty="0"/>
          </a:p>
        </p:txBody>
      </p:sp>
      <p:cxnSp>
        <p:nvCxnSpPr>
          <p:cNvPr id="7" name="Straight Arrow Connector 6">
            <a:extLst>
              <a:ext uri="{FF2B5EF4-FFF2-40B4-BE49-F238E27FC236}">
                <a16:creationId xmlns:a16="http://schemas.microsoft.com/office/drawing/2014/main" id="{169722F6-8DD7-3B34-94C4-F2D57A0BD245}"/>
              </a:ext>
              <a:ext uri="{C183D7F6-B498-43B3-948B-1728B52AA6E4}">
                <adec:decorative xmlns:adec="http://schemas.microsoft.com/office/drawing/2017/decorative" val="1"/>
              </a:ext>
            </a:extLst>
          </p:cNvPr>
          <p:cNvCxnSpPr>
            <a:cxnSpLocks/>
          </p:cNvCxnSpPr>
          <p:nvPr/>
        </p:nvCxnSpPr>
        <p:spPr>
          <a:xfrm>
            <a:off x="6743028" y="2971800"/>
            <a:ext cx="777096" cy="0"/>
          </a:xfrm>
          <a:prstGeom prst="straightConnector1">
            <a:avLst/>
          </a:prstGeom>
          <a:ln w="635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A6EFA3E-42FD-FD5D-01E8-0AC3A63128AD}"/>
              </a:ext>
              <a:ext uri="{C183D7F6-B498-43B3-948B-1728B52AA6E4}">
                <adec:decorative xmlns:adec="http://schemas.microsoft.com/office/drawing/2017/decorative" val="1"/>
              </a:ext>
            </a:extLst>
          </p:cNvPr>
          <p:cNvCxnSpPr>
            <a:cxnSpLocks/>
          </p:cNvCxnSpPr>
          <p:nvPr/>
        </p:nvCxnSpPr>
        <p:spPr>
          <a:xfrm flipH="1">
            <a:off x="6764494" y="3111821"/>
            <a:ext cx="660629" cy="0"/>
          </a:xfrm>
          <a:prstGeom prst="straightConnector1">
            <a:avLst/>
          </a:prstGeom>
          <a:ln w="635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10" name="Group 9" descr="MicroBIGG-E (Microbial Browser for Identification of Genetic and Genomic Elements): Every row is an AMR, virulence, and/or stress response gene with method, type, subtype, class, subclass, and supporting evidence">
            <a:extLst>
              <a:ext uri="{FF2B5EF4-FFF2-40B4-BE49-F238E27FC236}">
                <a16:creationId xmlns:a16="http://schemas.microsoft.com/office/drawing/2014/main" id="{556309CE-1085-6A82-4A0C-AD7BA08830FF}"/>
              </a:ext>
            </a:extLst>
          </p:cNvPr>
          <p:cNvGrpSpPr/>
          <p:nvPr/>
        </p:nvGrpSpPr>
        <p:grpSpPr>
          <a:xfrm>
            <a:off x="299978" y="2052047"/>
            <a:ext cx="6612208" cy="3326556"/>
            <a:chOff x="5624726" y="3420864"/>
            <a:chExt cx="6612208" cy="3326556"/>
          </a:xfrm>
        </p:grpSpPr>
        <p:grpSp>
          <p:nvGrpSpPr>
            <p:cNvPr id="11" name="Group 10">
              <a:extLst>
                <a:ext uri="{FF2B5EF4-FFF2-40B4-BE49-F238E27FC236}">
                  <a16:creationId xmlns:a16="http://schemas.microsoft.com/office/drawing/2014/main" id="{E887D8D0-E515-CF21-1863-D4A252E34D3D}"/>
                </a:ext>
              </a:extLst>
            </p:cNvPr>
            <p:cNvGrpSpPr/>
            <p:nvPr/>
          </p:nvGrpSpPr>
          <p:grpSpPr>
            <a:xfrm>
              <a:off x="5624726" y="3420864"/>
              <a:ext cx="6612208" cy="2259662"/>
              <a:chOff x="5624726" y="3420864"/>
              <a:chExt cx="6612208" cy="2259662"/>
            </a:xfrm>
          </p:grpSpPr>
          <p:sp>
            <p:nvSpPr>
              <p:cNvPr id="14" name="Document 5">
                <a:extLst>
                  <a:ext uri="{FF2B5EF4-FFF2-40B4-BE49-F238E27FC236}">
                    <a16:creationId xmlns:a16="http://schemas.microsoft.com/office/drawing/2014/main" id="{48364135-22A9-310A-CB10-50A3A8AF8177}"/>
                  </a:ext>
                </a:extLst>
              </p:cNvPr>
              <p:cNvSpPr/>
              <p:nvPr/>
            </p:nvSpPr>
            <p:spPr>
              <a:xfrm>
                <a:off x="5795142" y="3568208"/>
                <a:ext cx="3559618" cy="1954840"/>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err="1">
                    <a:solidFill>
                      <a:schemeClr val="bg1"/>
                    </a:solidFill>
                    <a:latin typeface="+mj-lt"/>
                    <a:ea typeface="Cambria" panose="02040503050406030204" pitchFamily="18" charset="0"/>
                  </a:rPr>
                  <a:t>MicroBIGG</a:t>
                </a:r>
                <a:r>
                  <a:rPr lang="en-US" sz="2400">
                    <a:solidFill>
                      <a:schemeClr val="bg1"/>
                    </a:solidFill>
                    <a:latin typeface="+mj-lt"/>
                    <a:ea typeface="Cambria" panose="02040503050406030204" pitchFamily="18" charset="0"/>
                  </a:rPr>
                  <a:t>-E (Microbial Browser for Identification of Genetic and Genomic Elements)</a:t>
                </a:r>
              </a:p>
            </p:txBody>
          </p:sp>
          <p:sp>
            <p:nvSpPr>
              <p:cNvPr id="15" name="TextBox 14">
                <a:extLst>
                  <a:ext uri="{FF2B5EF4-FFF2-40B4-BE49-F238E27FC236}">
                    <a16:creationId xmlns:a16="http://schemas.microsoft.com/office/drawing/2014/main" id="{C1E53059-3454-5129-4DE3-5855808D2BBC}"/>
                  </a:ext>
                </a:extLst>
              </p:cNvPr>
              <p:cNvSpPr txBox="1"/>
              <p:nvPr/>
            </p:nvSpPr>
            <p:spPr>
              <a:xfrm>
                <a:off x="9448507" y="3555378"/>
                <a:ext cx="2788427" cy="1754326"/>
              </a:xfrm>
              <a:prstGeom prst="rect">
                <a:avLst/>
              </a:prstGeom>
              <a:noFill/>
            </p:spPr>
            <p:txBody>
              <a:bodyPr wrap="square" rtlCol="0">
                <a:spAutoFit/>
              </a:bodyPr>
              <a:lstStyle/>
              <a:p>
                <a:r>
                  <a:rPr lang="en-US" dirty="0">
                    <a:latin typeface="+mj-lt"/>
                    <a:ea typeface="Cambria" panose="02040503050406030204" pitchFamily="18" charset="0"/>
                  </a:rPr>
                  <a:t>Every row is an AMR, virulence, and/or stress response genes with method, type, subtype, class, subclass, and supporting evidence</a:t>
                </a:r>
              </a:p>
            </p:txBody>
          </p:sp>
          <p:sp>
            <p:nvSpPr>
              <p:cNvPr id="16" name="TextBox 15">
                <a:extLst>
                  <a:ext uri="{FF2B5EF4-FFF2-40B4-BE49-F238E27FC236}">
                    <a16:creationId xmlns:a16="http://schemas.microsoft.com/office/drawing/2014/main" id="{1D0C9480-69FD-702E-FF72-F395C5E839A2}"/>
                  </a:ext>
                </a:extLst>
              </p:cNvPr>
              <p:cNvSpPr txBox="1"/>
              <p:nvPr/>
            </p:nvSpPr>
            <p:spPr>
              <a:xfrm>
                <a:off x="9749086" y="5311193"/>
                <a:ext cx="1654620" cy="369332"/>
              </a:xfrm>
              <a:prstGeom prst="rect">
                <a:avLst/>
              </a:prstGeom>
              <a:noFill/>
            </p:spPr>
            <p:txBody>
              <a:bodyPr wrap="none" rtlCol="0">
                <a:spAutoFit/>
              </a:bodyPr>
              <a:lstStyle/>
              <a:p>
                <a:r>
                  <a:rPr lang="en-US" dirty="0">
                    <a:latin typeface="+mj-lt"/>
                    <a:ea typeface="Cambria" panose="02040503050406030204" pitchFamily="18" charset="0"/>
                  </a:rPr>
                  <a:t>10,000,000 X N</a:t>
                </a:r>
              </a:p>
            </p:txBody>
          </p:sp>
          <p:sp>
            <p:nvSpPr>
              <p:cNvPr id="17" name="Rectangle 16">
                <a:extLst>
                  <a:ext uri="{FF2B5EF4-FFF2-40B4-BE49-F238E27FC236}">
                    <a16:creationId xmlns:a16="http://schemas.microsoft.com/office/drawing/2014/main" id="{10C5EE90-B1E8-F1B1-A2E4-E65F6A378BC4}"/>
                  </a:ext>
                </a:extLst>
              </p:cNvPr>
              <p:cNvSpPr/>
              <p:nvPr/>
            </p:nvSpPr>
            <p:spPr>
              <a:xfrm>
                <a:off x="5624726" y="3420864"/>
                <a:ext cx="6464516" cy="22596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a typeface="Cambria" panose="02040503050406030204" pitchFamily="18" charset="0"/>
                </a:endParaRPr>
              </a:p>
            </p:txBody>
          </p:sp>
        </p:grpSp>
        <p:sp>
          <p:nvSpPr>
            <p:cNvPr id="12" name="TextBox 11">
              <a:extLst>
                <a:ext uri="{FF2B5EF4-FFF2-40B4-BE49-F238E27FC236}">
                  <a16:creationId xmlns:a16="http://schemas.microsoft.com/office/drawing/2014/main" id="{DF1B144B-5B58-C383-9554-E6D2407DBD6C}"/>
                </a:ext>
              </a:extLst>
            </p:cNvPr>
            <p:cNvSpPr txBox="1"/>
            <p:nvPr/>
          </p:nvSpPr>
          <p:spPr>
            <a:xfrm>
              <a:off x="6188472" y="6101089"/>
              <a:ext cx="2690667" cy="646331"/>
            </a:xfrm>
            <a:prstGeom prst="rect">
              <a:avLst/>
            </a:prstGeom>
            <a:noFill/>
          </p:spPr>
          <p:txBody>
            <a:bodyPr wrap="square" lIns="91440" tIns="45720" rIns="91440" bIns="45720" rtlCol="0" anchor="t">
              <a:spAutoFit/>
            </a:bodyPr>
            <a:lstStyle/>
            <a:p>
              <a:r>
                <a:rPr lang="en-US" dirty="0">
                  <a:latin typeface="+mj-lt"/>
                </a:rPr>
                <a:t>Download genes,</a:t>
              </a:r>
              <a:endParaRPr lang="en-US" dirty="0">
                <a:cs typeface="Arial"/>
              </a:endParaRPr>
            </a:p>
            <a:p>
              <a:r>
                <a:rPr lang="en-US" dirty="0">
                  <a:latin typeface="+mj-lt"/>
                </a:rPr>
                <a:t>genes + flanks, contigs</a:t>
              </a:r>
              <a:endParaRPr lang="en-US" dirty="0">
                <a:cs typeface="Arial"/>
              </a:endParaRPr>
            </a:p>
          </p:txBody>
        </p:sp>
        <p:cxnSp>
          <p:nvCxnSpPr>
            <p:cNvPr id="13" name="Straight Arrow Connector 12">
              <a:extLst>
                <a:ext uri="{FF2B5EF4-FFF2-40B4-BE49-F238E27FC236}">
                  <a16:creationId xmlns:a16="http://schemas.microsoft.com/office/drawing/2014/main" id="{D270A109-A94A-7810-0613-8C20BE3EC35F}"/>
                </a:ext>
              </a:extLst>
            </p:cNvPr>
            <p:cNvCxnSpPr>
              <a:cxnSpLocks/>
            </p:cNvCxnSpPr>
            <p:nvPr/>
          </p:nvCxnSpPr>
          <p:spPr>
            <a:xfrm>
              <a:off x="7434222" y="5678231"/>
              <a:ext cx="0" cy="422858"/>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0" name="Group 29" descr="Pathogen Detection Isolate Browser. Every row is an assembled isolate">
            <a:extLst>
              <a:ext uri="{FF2B5EF4-FFF2-40B4-BE49-F238E27FC236}">
                <a16:creationId xmlns:a16="http://schemas.microsoft.com/office/drawing/2014/main" id="{542B794D-47F0-19AC-0111-1C65E116AF4B}"/>
              </a:ext>
            </a:extLst>
          </p:cNvPr>
          <p:cNvGrpSpPr/>
          <p:nvPr/>
        </p:nvGrpSpPr>
        <p:grpSpPr>
          <a:xfrm>
            <a:off x="4100957" y="291220"/>
            <a:ext cx="6464516" cy="1945493"/>
            <a:chOff x="5626070" y="129795"/>
            <a:chExt cx="6464516" cy="1945493"/>
          </a:xfrm>
        </p:grpSpPr>
        <p:sp>
          <p:nvSpPr>
            <p:cNvPr id="3" name="Document 5">
              <a:extLst>
                <a:ext uri="{FF2B5EF4-FFF2-40B4-BE49-F238E27FC236}">
                  <a16:creationId xmlns:a16="http://schemas.microsoft.com/office/drawing/2014/main" id="{B2A1027C-AA39-58D0-D84C-189C2DCB5AB5}"/>
                </a:ext>
              </a:extLst>
            </p:cNvPr>
            <p:cNvSpPr/>
            <p:nvPr/>
          </p:nvSpPr>
          <p:spPr>
            <a:xfrm>
              <a:off x="5701395" y="186818"/>
              <a:ext cx="3284985" cy="1081319"/>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solidFill>
                    <a:schemeClr val="bg1"/>
                  </a:solidFill>
                  <a:latin typeface="+mj-lt"/>
                  <a:ea typeface="Cambria" panose="02040503050406030204" pitchFamily="18" charset="0"/>
                </a:rPr>
                <a:t>Pathogen Detection Isolate Browser</a:t>
              </a:r>
            </a:p>
          </p:txBody>
        </p:sp>
        <p:sp>
          <p:nvSpPr>
            <p:cNvPr id="4" name="TextBox 3">
              <a:extLst>
                <a:ext uri="{FF2B5EF4-FFF2-40B4-BE49-F238E27FC236}">
                  <a16:creationId xmlns:a16="http://schemas.microsoft.com/office/drawing/2014/main" id="{FEA2BA4C-9C58-AF8E-FA23-EC67677FAE95}"/>
                </a:ext>
              </a:extLst>
            </p:cNvPr>
            <p:cNvSpPr txBox="1"/>
            <p:nvPr/>
          </p:nvSpPr>
          <p:spPr>
            <a:xfrm>
              <a:off x="9148127" y="178023"/>
              <a:ext cx="2788427" cy="646331"/>
            </a:xfrm>
            <a:prstGeom prst="rect">
              <a:avLst/>
            </a:prstGeom>
            <a:noFill/>
          </p:spPr>
          <p:txBody>
            <a:bodyPr wrap="square" lIns="91440" tIns="45720" rIns="91440" bIns="45720" rtlCol="0" anchor="t">
              <a:spAutoFit/>
            </a:bodyPr>
            <a:lstStyle/>
            <a:p>
              <a:r>
                <a:rPr lang="en-US" b="1" dirty="0">
                  <a:latin typeface="+mj-lt"/>
                  <a:ea typeface="Cambria"/>
                </a:rPr>
                <a:t>Every row is an assembled isolate </a:t>
              </a:r>
              <a:endParaRPr lang="en-US" b="1" dirty="0">
                <a:latin typeface="+mj-lt"/>
                <a:ea typeface="Cambria"/>
                <a:cs typeface="Arial"/>
              </a:endParaRPr>
            </a:p>
          </p:txBody>
        </p:sp>
        <p:sp>
          <p:nvSpPr>
            <p:cNvPr id="5" name="Rectangle 4" descr="Pathogen Detection Isolate Browser: Every row is an assembled isolate">
              <a:extLst>
                <a:ext uri="{FF2B5EF4-FFF2-40B4-BE49-F238E27FC236}">
                  <a16:creationId xmlns:a16="http://schemas.microsoft.com/office/drawing/2014/main" id="{6B8453B7-2C7F-6F72-D0FA-19966BF143CA}"/>
                </a:ext>
                <a:ext uri="{C183D7F6-B498-43B3-948B-1728B52AA6E4}">
                  <adec:decorative xmlns:adec="http://schemas.microsoft.com/office/drawing/2017/decorative" val="0"/>
                </a:ext>
              </a:extLst>
            </p:cNvPr>
            <p:cNvSpPr/>
            <p:nvPr/>
          </p:nvSpPr>
          <p:spPr>
            <a:xfrm>
              <a:off x="5626070" y="129795"/>
              <a:ext cx="6464516" cy="13217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mj-lt"/>
                <a:ea typeface="Cambria" panose="02040503050406030204" pitchFamily="18" charset="0"/>
              </a:endParaRPr>
            </a:p>
          </p:txBody>
        </p:sp>
        <p:sp>
          <p:nvSpPr>
            <p:cNvPr id="6" name="TextBox 5">
              <a:extLst>
                <a:ext uri="{FF2B5EF4-FFF2-40B4-BE49-F238E27FC236}">
                  <a16:creationId xmlns:a16="http://schemas.microsoft.com/office/drawing/2014/main" id="{E07076EF-BAFC-CF63-BAB5-8F8B854B6079}"/>
                </a:ext>
              </a:extLst>
            </p:cNvPr>
            <p:cNvSpPr txBox="1"/>
            <p:nvPr/>
          </p:nvSpPr>
          <p:spPr>
            <a:xfrm>
              <a:off x="9862157" y="1070557"/>
              <a:ext cx="1484702" cy="369332"/>
            </a:xfrm>
            <a:prstGeom prst="rect">
              <a:avLst/>
            </a:prstGeom>
            <a:noFill/>
          </p:spPr>
          <p:txBody>
            <a:bodyPr wrap="none" rtlCol="0">
              <a:spAutoFit/>
            </a:bodyPr>
            <a:lstStyle/>
            <a:p>
              <a:r>
                <a:rPr lang="en-US" dirty="0">
                  <a:latin typeface="+mj-lt"/>
                  <a:ea typeface="Cambria" panose="02040503050406030204" pitchFamily="18" charset="0"/>
                </a:rPr>
                <a:t>1,000,000 X N</a:t>
              </a:r>
            </a:p>
          </p:txBody>
        </p:sp>
        <p:sp>
          <p:nvSpPr>
            <p:cNvPr id="9" name="TextBox 8">
              <a:extLst>
                <a:ext uri="{FF2B5EF4-FFF2-40B4-BE49-F238E27FC236}">
                  <a16:creationId xmlns:a16="http://schemas.microsoft.com/office/drawing/2014/main" id="{8E8CB1E5-BFCD-CF4B-0DA4-C2276FDB58C1}"/>
                </a:ext>
              </a:extLst>
            </p:cNvPr>
            <p:cNvSpPr txBox="1"/>
            <p:nvPr/>
          </p:nvSpPr>
          <p:spPr>
            <a:xfrm>
              <a:off x="10036976" y="1705956"/>
              <a:ext cx="2026902" cy="369332"/>
            </a:xfrm>
            <a:prstGeom prst="rect">
              <a:avLst/>
            </a:prstGeom>
            <a:noFill/>
          </p:spPr>
          <p:txBody>
            <a:bodyPr wrap="none" rtlCol="0">
              <a:spAutoFit/>
            </a:bodyPr>
            <a:lstStyle/>
            <a:p>
              <a:r>
                <a:rPr lang="en-US" dirty="0">
                  <a:latin typeface="+mj-lt"/>
                </a:rPr>
                <a:t>Download genomes</a:t>
              </a:r>
            </a:p>
          </p:txBody>
        </p:sp>
        <p:cxnSp>
          <p:nvCxnSpPr>
            <p:cNvPr id="18" name="Straight Arrow Connector 17">
              <a:extLst>
                <a:ext uri="{FF2B5EF4-FFF2-40B4-BE49-F238E27FC236}">
                  <a16:creationId xmlns:a16="http://schemas.microsoft.com/office/drawing/2014/main" id="{62E15D8E-2ED0-E0FE-0DCA-61A35110445F}"/>
                </a:ext>
                <a:ext uri="{C183D7F6-B498-43B3-948B-1728B52AA6E4}">
                  <adec:decorative xmlns:adec="http://schemas.microsoft.com/office/drawing/2017/decorative" val="1"/>
                </a:ext>
              </a:extLst>
            </p:cNvPr>
            <p:cNvCxnSpPr>
              <a:cxnSpLocks/>
            </p:cNvCxnSpPr>
            <p:nvPr/>
          </p:nvCxnSpPr>
          <p:spPr>
            <a:xfrm>
              <a:off x="11178744" y="1451575"/>
              <a:ext cx="0" cy="319723"/>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 name="Group 18" descr="MicroBIGG-E Map: Graphic display of MicroBIGG-E data">
            <a:extLst>
              <a:ext uri="{FF2B5EF4-FFF2-40B4-BE49-F238E27FC236}">
                <a16:creationId xmlns:a16="http://schemas.microsoft.com/office/drawing/2014/main" id="{D7BA522C-359F-0F04-4D0C-DAD38AD572F4}"/>
              </a:ext>
            </a:extLst>
          </p:cNvPr>
          <p:cNvGrpSpPr/>
          <p:nvPr/>
        </p:nvGrpSpPr>
        <p:grpSpPr>
          <a:xfrm>
            <a:off x="4102539" y="5016662"/>
            <a:ext cx="4411988" cy="1475240"/>
            <a:chOff x="275020" y="653743"/>
            <a:chExt cx="4016761" cy="1964853"/>
          </a:xfrm>
        </p:grpSpPr>
        <p:sp>
          <p:nvSpPr>
            <p:cNvPr id="20" name="TextBox 19">
              <a:extLst>
                <a:ext uri="{FF2B5EF4-FFF2-40B4-BE49-F238E27FC236}">
                  <a16:creationId xmlns:a16="http://schemas.microsoft.com/office/drawing/2014/main" id="{2F080094-BC0A-FFA8-7D52-7A4F86E497EC}"/>
                </a:ext>
              </a:extLst>
            </p:cNvPr>
            <p:cNvSpPr txBox="1"/>
            <p:nvPr/>
          </p:nvSpPr>
          <p:spPr>
            <a:xfrm>
              <a:off x="2804710" y="795511"/>
              <a:ext cx="1484646" cy="1434733"/>
            </a:xfrm>
            <a:prstGeom prst="rect">
              <a:avLst/>
            </a:prstGeom>
            <a:noFill/>
          </p:spPr>
          <p:txBody>
            <a:bodyPr wrap="square" lIns="91440" tIns="45720" rIns="91440" bIns="45720" rtlCol="0" anchor="t">
              <a:spAutoFit/>
            </a:bodyPr>
            <a:lstStyle/>
            <a:p>
              <a:r>
                <a:rPr lang="en-US" sz="1600" dirty="0">
                  <a:latin typeface="+mj-lt"/>
                  <a:ea typeface="Cambria"/>
                </a:rPr>
                <a:t>Graphic display of MicroBIGG-E data</a:t>
              </a:r>
              <a:endParaRPr lang="en-US" sz="1600" dirty="0"/>
            </a:p>
          </p:txBody>
        </p:sp>
        <p:sp>
          <p:nvSpPr>
            <p:cNvPr id="21" name="Rectangle 20">
              <a:extLst>
                <a:ext uri="{FF2B5EF4-FFF2-40B4-BE49-F238E27FC236}">
                  <a16:creationId xmlns:a16="http://schemas.microsoft.com/office/drawing/2014/main" id="{6DD71725-24BE-A991-08C2-325466207E41}"/>
                </a:ext>
              </a:extLst>
            </p:cNvPr>
            <p:cNvSpPr/>
            <p:nvPr/>
          </p:nvSpPr>
          <p:spPr>
            <a:xfrm>
              <a:off x="275020" y="653743"/>
              <a:ext cx="4016761" cy="19648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a typeface="Cambria" panose="02040503050406030204" pitchFamily="18" charset="0"/>
              </a:endParaRPr>
            </a:p>
          </p:txBody>
        </p:sp>
        <p:sp>
          <p:nvSpPr>
            <p:cNvPr id="22" name="Document 5">
              <a:extLst>
                <a:ext uri="{FF2B5EF4-FFF2-40B4-BE49-F238E27FC236}">
                  <a16:creationId xmlns:a16="http://schemas.microsoft.com/office/drawing/2014/main" id="{60035ACA-7223-F3B5-328E-80945DA8F6E1}"/>
                </a:ext>
              </a:extLst>
            </p:cNvPr>
            <p:cNvSpPr/>
            <p:nvPr/>
          </p:nvSpPr>
          <p:spPr>
            <a:xfrm>
              <a:off x="362672" y="749127"/>
              <a:ext cx="2444463" cy="1668665"/>
            </a:xfrm>
            <a:prstGeom prst="flowChartDocument">
              <a:avLst/>
            </a:prstGeom>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2400" err="1">
                  <a:solidFill>
                    <a:schemeClr val="bg1"/>
                  </a:solidFill>
                  <a:latin typeface="+mj-lt"/>
                  <a:ea typeface="Cambria"/>
                </a:rPr>
                <a:t>MicroBIGG</a:t>
              </a:r>
              <a:r>
                <a:rPr lang="en-US" sz="2400">
                  <a:solidFill>
                    <a:schemeClr val="bg1"/>
                  </a:solidFill>
                  <a:latin typeface="+mj-lt"/>
                  <a:ea typeface="Cambria"/>
                </a:rPr>
                <a:t>-E Map</a:t>
              </a:r>
              <a:endParaRPr lang="en-US">
                <a:solidFill>
                  <a:schemeClr val="bg1"/>
                </a:solidFill>
              </a:endParaRPr>
            </a:p>
          </p:txBody>
        </p:sp>
      </p:grpSp>
      <p:cxnSp>
        <p:nvCxnSpPr>
          <p:cNvPr id="23" name="Straight Arrow Connector 22">
            <a:extLst>
              <a:ext uri="{FF2B5EF4-FFF2-40B4-BE49-F238E27FC236}">
                <a16:creationId xmlns:a16="http://schemas.microsoft.com/office/drawing/2014/main" id="{3C9E9C48-292E-1569-E3A9-1222D09D6D11}"/>
              </a:ext>
              <a:ext uri="{C183D7F6-B498-43B3-948B-1728B52AA6E4}">
                <adec:decorative xmlns:adec="http://schemas.microsoft.com/office/drawing/2017/decorative" val="1"/>
              </a:ext>
            </a:extLst>
          </p:cNvPr>
          <p:cNvCxnSpPr>
            <a:cxnSpLocks/>
          </p:cNvCxnSpPr>
          <p:nvPr/>
        </p:nvCxnSpPr>
        <p:spPr>
          <a:xfrm>
            <a:off x="5500576" y="4311567"/>
            <a:ext cx="0" cy="706158"/>
          </a:xfrm>
          <a:prstGeom prst="straightConnector1">
            <a:avLst/>
          </a:prstGeom>
          <a:ln w="635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7710036-295C-DBE9-EC57-7A4B4E310070}"/>
              </a:ext>
              <a:ext uri="{C183D7F6-B498-43B3-948B-1728B52AA6E4}">
                <adec:decorative xmlns:adec="http://schemas.microsoft.com/office/drawing/2017/decorative" val="1"/>
              </a:ext>
            </a:extLst>
          </p:cNvPr>
          <p:cNvCxnSpPr>
            <a:cxnSpLocks/>
          </p:cNvCxnSpPr>
          <p:nvPr/>
        </p:nvCxnSpPr>
        <p:spPr>
          <a:xfrm flipV="1">
            <a:off x="5296356" y="4309414"/>
            <a:ext cx="0" cy="706158"/>
          </a:xfrm>
          <a:prstGeom prst="straightConnector1">
            <a:avLst/>
          </a:prstGeom>
          <a:ln w="635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5" name="Title 24">
            <a:extLst>
              <a:ext uri="{FF2B5EF4-FFF2-40B4-BE49-F238E27FC236}">
                <a16:creationId xmlns:a16="http://schemas.microsoft.com/office/drawing/2014/main" id="{776BDD69-E3A0-AAFF-9C0F-F2ACDCBA6E57}"/>
              </a:ext>
            </a:extLst>
          </p:cNvPr>
          <p:cNvSpPr txBox="1">
            <a:spLocks noGrp="1"/>
          </p:cNvSpPr>
          <p:nvPr>
            <p:ph type="title" idx="4294967295"/>
          </p:nvPr>
        </p:nvSpPr>
        <p:spPr>
          <a:xfrm>
            <a:off x="394974" y="339448"/>
            <a:ext cx="3429000" cy="70788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solidFill>
                <a:effectLst/>
                <a:uLnTx/>
                <a:uFillTx/>
                <a:latin typeface="+mn-lt"/>
                <a:ea typeface="+mn-ea"/>
                <a:cs typeface="+mn-cs"/>
              </a:rPr>
              <a:t>Analysis results</a:t>
            </a:r>
          </a:p>
        </p:txBody>
      </p:sp>
      <p:grpSp>
        <p:nvGrpSpPr>
          <p:cNvPr id="26" name="Group 25" descr="MicroBIGG-E Map: Graphic display of MicroBIGG-E data">
            <a:extLst>
              <a:ext uri="{FF2B5EF4-FFF2-40B4-BE49-F238E27FC236}">
                <a16:creationId xmlns:a16="http://schemas.microsoft.com/office/drawing/2014/main" id="{8BCF8329-A159-A149-9B83-70FDAE9684B1}"/>
              </a:ext>
            </a:extLst>
          </p:cNvPr>
          <p:cNvGrpSpPr/>
          <p:nvPr/>
        </p:nvGrpSpPr>
        <p:grpSpPr>
          <a:xfrm>
            <a:off x="7461266" y="2577210"/>
            <a:ext cx="4652069" cy="1475240"/>
            <a:chOff x="447109" y="653742"/>
            <a:chExt cx="3680929" cy="1964854"/>
          </a:xfrm>
        </p:grpSpPr>
        <p:sp>
          <p:nvSpPr>
            <p:cNvPr id="27" name="TextBox 26">
              <a:extLst>
                <a:ext uri="{FF2B5EF4-FFF2-40B4-BE49-F238E27FC236}">
                  <a16:creationId xmlns:a16="http://schemas.microsoft.com/office/drawing/2014/main" id="{7FD4526A-5185-AD73-E37A-5F5A6C477701}"/>
                </a:ext>
              </a:extLst>
            </p:cNvPr>
            <p:cNvSpPr txBox="1"/>
            <p:nvPr/>
          </p:nvSpPr>
          <p:spPr>
            <a:xfrm>
              <a:off x="2509907" y="767813"/>
              <a:ext cx="1582380" cy="1106794"/>
            </a:xfrm>
            <a:prstGeom prst="rect">
              <a:avLst/>
            </a:prstGeom>
            <a:noFill/>
          </p:spPr>
          <p:txBody>
            <a:bodyPr wrap="square" lIns="91440" tIns="45720" rIns="91440" bIns="45720" rtlCol="0" anchor="t">
              <a:spAutoFit/>
            </a:bodyPr>
            <a:lstStyle/>
            <a:p>
              <a:r>
                <a:rPr lang="en-US" sz="1600" dirty="0">
                  <a:latin typeface="+mj-lt"/>
                  <a:ea typeface="Cambria"/>
                </a:rPr>
                <a:t>Submitted Antibiotic Susceptibility test results</a:t>
              </a:r>
              <a:endParaRPr lang="en-US" sz="1600" dirty="0"/>
            </a:p>
          </p:txBody>
        </p:sp>
        <p:sp>
          <p:nvSpPr>
            <p:cNvPr id="28" name="Rectangle 27">
              <a:extLst>
                <a:ext uri="{FF2B5EF4-FFF2-40B4-BE49-F238E27FC236}">
                  <a16:creationId xmlns:a16="http://schemas.microsoft.com/office/drawing/2014/main" id="{4E0D4913-E38D-4304-D53F-F063A74A6F7F}"/>
                </a:ext>
              </a:extLst>
            </p:cNvPr>
            <p:cNvSpPr/>
            <p:nvPr/>
          </p:nvSpPr>
          <p:spPr>
            <a:xfrm>
              <a:off x="447109" y="653742"/>
              <a:ext cx="3680929" cy="19648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a typeface="Cambria" panose="02040503050406030204" pitchFamily="18" charset="0"/>
              </a:endParaRPr>
            </a:p>
          </p:txBody>
        </p:sp>
        <p:sp>
          <p:nvSpPr>
            <p:cNvPr id="29" name="Document 5">
              <a:extLst>
                <a:ext uri="{FF2B5EF4-FFF2-40B4-BE49-F238E27FC236}">
                  <a16:creationId xmlns:a16="http://schemas.microsoft.com/office/drawing/2014/main" id="{BE2560E7-2D23-8938-2803-24056B045537}"/>
                </a:ext>
              </a:extLst>
            </p:cNvPr>
            <p:cNvSpPr/>
            <p:nvPr/>
          </p:nvSpPr>
          <p:spPr>
            <a:xfrm>
              <a:off x="580946" y="749127"/>
              <a:ext cx="1889668" cy="1668664"/>
            </a:xfrm>
            <a:prstGeom prst="flowChartDocument">
              <a:avLst/>
            </a:prstGeom>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2400" dirty="0">
                  <a:solidFill>
                    <a:schemeClr val="bg1"/>
                  </a:solidFill>
                  <a:latin typeface="+mj-lt"/>
                  <a:ea typeface="Cambria"/>
                </a:rPr>
                <a:t>AST Browser</a:t>
              </a:r>
              <a:endParaRPr lang="en-US" dirty="0">
                <a:solidFill>
                  <a:schemeClr val="bg1"/>
                </a:solidFill>
              </a:endParaRPr>
            </a:p>
          </p:txBody>
        </p:sp>
      </p:grpSp>
      <p:cxnSp>
        <p:nvCxnSpPr>
          <p:cNvPr id="37" name="Straight Arrow Connector 36">
            <a:extLst>
              <a:ext uri="{FF2B5EF4-FFF2-40B4-BE49-F238E27FC236}">
                <a16:creationId xmlns:a16="http://schemas.microsoft.com/office/drawing/2014/main" id="{7028CF5B-4846-3CF7-C537-471F4132588A}"/>
              </a:ext>
              <a:ext uri="{C183D7F6-B498-43B3-948B-1728B52AA6E4}">
                <adec:decorative xmlns:adec="http://schemas.microsoft.com/office/drawing/2017/decorative" val="1"/>
              </a:ext>
            </a:extLst>
          </p:cNvPr>
          <p:cNvCxnSpPr>
            <a:cxnSpLocks/>
          </p:cNvCxnSpPr>
          <p:nvPr/>
        </p:nvCxnSpPr>
        <p:spPr>
          <a:xfrm>
            <a:off x="5744496" y="1584179"/>
            <a:ext cx="0" cy="495971"/>
          </a:xfrm>
          <a:prstGeom prst="straightConnector1">
            <a:avLst/>
          </a:prstGeom>
          <a:ln w="635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91B37FD9-56A6-DC88-4D8E-E064A3CBF32F}"/>
              </a:ext>
              <a:ext uri="{C183D7F6-B498-43B3-948B-1728B52AA6E4}">
                <adec:decorative xmlns:adec="http://schemas.microsoft.com/office/drawing/2017/decorative" val="1"/>
              </a:ext>
            </a:extLst>
          </p:cNvPr>
          <p:cNvCxnSpPr>
            <a:cxnSpLocks/>
          </p:cNvCxnSpPr>
          <p:nvPr/>
        </p:nvCxnSpPr>
        <p:spPr>
          <a:xfrm flipV="1">
            <a:off x="5943600" y="1584179"/>
            <a:ext cx="0" cy="467868"/>
          </a:xfrm>
          <a:prstGeom prst="straightConnector1">
            <a:avLst/>
          </a:prstGeom>
          <a:ln w="635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6DBC6EAC-0178-1528-FB48-A76272075000}"/>
              </a:ext>
              <a:ext uri="{C183D7F6-B498-43B3-948B-1728B52AA6E4}">
                <adec:decorative xmlns:adec="http://schemas.microsoft.com/office/drawing/2017/decorative" val="1"/>
              </a:ext>
            </a:extLst>
          </p:cNvPr>
          <p:cNvCxnSpPr>
            <a:cxnSpLocks/>
          </p:cNvCxnSpPr>
          <p:nvPr/>
        </p:nvCxnSpPr>
        <p:spPr>
          <a:xfrm>
            <a:off x="7954296" y="1613000"/>
            <a:ext cx="0" cy="963121"/>
          </a:xfrm>
          <a:prstGeom prst="straightConnector1">
            <a:avLst/>
          </a:prstGeom>
          <a:ln w="635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72B2F5E2-640D-B663-DA79-6977579B3FB5}"/>
              </a:ext>
              <a:ext uri="{C183D7F6-B498-43B3-948B-1728B52AA6E4}">
                <adec:decorative xmlns:adec="http://schemas.microsoft.com/office/drawing/2017/decorative" val="1"/>
              </a:ext>
            </a:extLst>
          </p:cNvPr>
          <p:cNvCxnSpPr>
            <a:cxnSpLocks/>
          </p:cNvCxnSpPr>
          <p:nvPr/>
        </p:nvCxnSpPr>
        <p:spPr>
          <a:xfrm flipV="1">
            <a:off x="8153400" y="1613000"/>
            <a:ext cx="0" cy="963121"/>
          </a:xfrm>
          <a:prstGeom prst="straightConnector1">
            <a:avLst/>
          </a:prstGeom>
          <a:ln w="635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CC64BDF-45D4-8CA9-58D2-9EB3EBC0808E}"/>
              </a:ext>
            </a:extLst>
          </p:cNvPr>
          <p:cNvSpPr txBox="1"/>
          <p:nvPr/>
        </p:nvSpPr>
        <p:spPr>
          <a:xfrm>
            <a:off x="10114472" y="3646662"/>
            <a:ext cx="6097904" cy="369332"/>
          </a:xfrm>
          <a:prstGeom prst="rect">
            <a:avLst/>
          </a:prstGeom>
          <a:noFill/>
        </p:spPr>
        <p:txBody>
          <a:bodyPr wrap="square">
            <a:spAutoFit/>
          </a:bodyPr>
          <a:lstStyle/>
          <a:p>
            <a:r>
              <a:rPr lang="en-US" dirty="0">
                <a:latin typeface="+mj-lt"/>
                <a:ea typeface="Cambria" panose="02040503050406030204" pitchFamily="18" charset="0"/>
              </a:rPr>
              <a:t>100,000 X N</a:t>
            </a:r>
          </a:p>
        </p:txBody>
      </p:sp>
      <p:sp>
        <p:nvSpPr>
          <p:cNvPr id="34" name="TextBox 33">
            <a:extLst>
              <a:ext uri="{FF2B5EF4-FFF2-40B4-BE49-F238E27FC236}">
                <a16:creationId xmlns:a16="http://schemas.microsoft.com/office/drawing/2014/main" id="{1E0E83D5-BAAB-26D5-EEA7-67D59D6982E1}"/>
              </a:ext>
            </a:extLst>
          </p:cNvPr>
          <p:cNvSpPr txBox="1"/>
          <p:nvPr/>
        </p:nvSpPr>
        <p:spPr>
          <a:xfrm>
            <a:off x="8361101" y="4349345"/>
            <a:ext cx="2273828" cy="369332"/>
          </a:xfrm>
          <a:prstGeom prst="rect">
            <a:avLst/>
          </a:prstGeom>
          <a:noFill/>
        </p:spPr>
        <p:txBody>
          <a:bodyPr wrap="none" rtlCol="0">
            <a:spAutoFit/>
          </a:bodyPr>
          <a:lstStyle/>
          <a:p>
            <a:r>
              <a:rPr lang="en-US" dirty="0">
                <a:latin typeface="+mj-lt"/>
              </a:rPr>
              <a:t>Download phenotypes</a:t>
            </a:r>
          </a:p>
        </p:txBody>
      </p:sp>
      <p:cxnSp>
        <p:nvCxnSpPr>
          <p:cNvPr id="35" name="Straight Arrow Connector 34">
            <a:extLst>
              <a:ext uri="{FF2B5EF4-FFF2-40B4-BE49-F238E27FC236}">
                <a16:creationId xmlns:a16="http://schemas.microsoft.com/office/drawing/2014/main" id="{822E370F-3D01-9E3B-BCAD-100AE5D37AF8}"/>
              </a:ext>
              <a:ext uri="{C183D7F6-B498-43B3-948B-1728B52AA6E4}">
                <adec:decorative xmlns:adec="http://schemas.microsoft.com/office/drawing/2017/decorative" val="1"/>
              </a:ext>
            </a:extLst>
          </p:cNvPr>
          <p:cNvCxnSpPr>
            <a:cxnSpLocks/>
          </p:cNvCxnSpPr>
          <p:nvPr/>
        </p:nvCxnSpPr>
        <p:spPr>
          <a:xfrm>
            <a:off x="9498015" y="4094604"/>
            <a:ext cx="0" cy="319723"/>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F784657B-786D-B915-DD4D-887CF4529505}"/>
              </a:ext>
            </a:extLst>
          </p:cNvPr>
          <p:cNvSpPr txBox="1"/>
          <p:nvPr/>
        </p:nvSpPr>
        <p:spPr>
          <a:xfrm>
            <a:off x="363794" y="98323"/>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626888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E64E35-084E-6D3E-1766-F817E7B8F884}"/>
              </a:ext>
            </a:extLst>
          </p:cNvPr>
          <p:cNvSpPr>
            <a:spLocks noGrp="1"/>
          </p:cNvSpPr>
          <p:nvPr>
            <p:ph type="title"/>
          </p:nvPr>
        </p:nvSpPr>
        <p:spPr>
          <a:xfrm>
            <a:off x="812800" y="35560"/>
            <a:ext cx="10515600" cy="1325563"/>
          </a:xfrm>
        </p:spPr>
        <p:txBody>
          <a:bodyPr/>
          <a:lstStyle/>
          <a:p>
            <a:r>
              <a:rPr lang="en-US" sz="3200">
                <a:latin typeface="Helvetica"/>
                <a:cs typeface="Helvetica"/>
              </a:rPr>
              <a:t>AST data from </a:t>
            </a:r>
            <a:r>
              <a:rPr lang="en-US" sz="3200" err="1">
                <a:latin typeface="Helvetica"/>
                <a:cs typeface="Helvetica"/>
              </a:rPr>
              <a:t>BioSample</a:t>
            </a:r>
            <a:endParaRPr lang="en-US" sz="3200">
              <a:latin typeface="Helvetica"/>
              <a:cs typeface="Helvetica"/>
            </a:endParaRPr>
          </a:p>
        </p:txBody>
      </p:sp>
      <p:sp>
        <p:nvSpPr>
          <p:cNvPr id="7" name="TextBox 6">
            <a:extLst>
              <a:ext uri="{FF2B5EF4-FFF2-40B4-BE49-F238E27FC236}">
                <a16:creationId xmlns:a16="http://schemas.microsoft.com/office/drawing/2014/main" id="{61BE6C93-165C-C545-B827-BD068B0E4142}"/>
              </a:ext>
            </a:extLst>
          </p:cNvPr>
          <p:cNvSpPr txBox="1"/>
          <p:nvPr/>
        </p:nvSpPr>
        <p:spPr>
          <a:xfrm>
            <a:off x="848743" y="5864729"/>
            <a:ext cx="11201400" cy="430887"/>
          </a:xfrm>
          <a:prstGeom prst="rect">
            <a:avLst/>
          </a:prstGeom>
          <a:noFill/>
        </p:spPr>
        <p:txBody>
          <a:bodyPr wrap="square" lIns="91440" tIns="45720" rIns="91440" bIns="45720" rtlCol="0" anchor="t">
            <a:spAutoFit/>
          </a:bodyPr>
          <a:lstStyle/>
          <a:p>
            <a:r>
              <a:rPr lang="en-US" sz="2200"/>
              <a:t>If you have AST data and want to submit them, contact </a:t>
            </a:r>
            <a:r>
              <a:rPr lang="en-US" sz="2200" b="1"/>
              <a:t>pd-help@ncbi.nlm.nih.gov</a:t>
            </a:r>
            <a:endParaRPr lang="en-US" sz="2200" b="1">
              <a:cs typeface="Arial"/>
            </a:endParaRPr>
          </a:p>
        </p:txBody>
      </p:sp>
      <p:pic>
        <p:nvPicPr>
          <p:cNvPr id="11" name="Content Placeholder 10" descr="Screenshot of the AST data from a BioSample record. Columns are Antibiotic, Resistance phenotype, Measurement sign, Measurement, Measurement units, Laboratory typing method, Laboratory typing platform, Vendor, Laboratory typing method version or reagent, Testing standard.">
            <a:extLst>
              <a:ext uri="{FF2B5EF4-FFF2-40B4-BE49-F238E27FC236}">
                <a16:creationId xmlns:a16="http://schemas.microsoft.com/office/drawing/2014/main" id="{2B84DDE7-5322-B5B2-3610-800C4EE43FE6}"/>
              </a:ext>
            </a:extLst>
          </p:cNvPr>
          <p:cNvPicPr>
            <a:picLocks noGrp="1" noChangeAspect="1"/>
          </p:cNvPicPr>
          <p:nvPr>
            <p:ph sz="quarter" idx="10"/>
          </p:nvPr>
        </p:nvPicPr>
        <p:blipFill>
          <a:blip r:embed="rId2"/>
          <a:stretch>
            <a:fillRect/>
          </a:stretch>
        </p:blipFill>
        <p:spPr>
          <a:xfrm>
            <a:off x="814035" y="967294"/>
            <a:ext cx="10693326" cy="4937759"/>
          </a:xfrm>
        </p:spPr>
      </p:pic>
    </p:spTree>
    <p:extLst>
      <p:ext uri="{BB962C8B-B14F-4D97-AF65-F5344CB8AC3E}">
        <p14:creationId xmlns:p14="http://schemas.microsoft.com/office/powerpoint/2010/main" val="3053481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437A7-1DC1-B339-ED32-E7D724AFB2C8}"/>
              </a:ext>
            </a:extLst>
          </p:cNvPr>
          <p:cNvSpPr>
            <a:spLocks noGrp="1"/>
          </p:cNvSpPr>
          <p:nvPr>
            <p:ph type="title"/>
          </p:nvPr>
        </p:nvSpPr>
        <p:spPr/>
        <p:txBody>
          <a:bodyPr/>
          <a:lstStyle/>
          <a:p>
            <a:r>
              <a:rPr lang="en-US" sz="3200">
                <a:latin typeface="Helvetica"/>
                <a:cs typeface="Helvetica"/>
              </a:rPr>
              <a:t>Understanding </a:t>
            </a:r>
            <a:r>
              <a:rPr lang="en-US" sz="3200" err="1">
                <a:latin typeface="Helvetica"/>
                <a:cs typeface="Helvetica"/>
              </a:rPr>
              <a:t>AMRFinderPlus</a:t>
            </a:r>
            <a:r>
              <a:rPr lang="en-US" sz="3200">
                <a:latin typeface="Helvetica"/>
                <a:cs typeface="Helvetica"/>
              </a:rPr>
              <a:t>: Class and Subclass</a:t>
            </a:r>
            <a:endParaRPr lang="en-US" sz="3200"/>
          </a:p>
        </p:txBody>
      </p:sp>
      <p:sp>
        <p:nvSpPr>
          <p:cNvPr id="3" name="Content Placeholder 2">
            <a:extLst>
              <a:ext uri="{FF2B5EF4-FFF2-40B4-BE49-F238E27FC236}">
                <a16:creationId xmlns:a16="http://schemas.microsoft.com/office/drawing/2014/main" id="{8109160A-DA1B-A79D-09A2-586B4AD566CE}"/>
              </a:ext>
            </a:extLst>
          </p:cNvPr>
          <p:cNvSpPr>
            <a:spLocks noGrp="1"/>
          </p:cNvSpPr>
          <p:nvPr>
            <p:ph sz="quarter" idx="10"/>
          </p:nvPr>
        </p:nvSpPr>
        <p:spPr>
          <a:xfrm>
            <a:off x="838200" y="1450898"/>
            <a:ext cx="10515600" cy="4568902"/>
          </a:xfrm>
        </p:spPr>
        <p:txBody>
          <a:bodyPr vert="horz" lIns="91440" tIns="45720" rIns="91440" bIns="45720" rtlCol="0" anchor="t">
            <a:normAutofit lnSpcReduction="10000"/>
          </a:bodyPr>
          <a:lstStyle/>
          <a:p>
            <a:r>
              <a:rPr lang="en-US" sz="2400">
                <a:latin typeface="Helvetica"/>
                <a:cs typeface="Helvetica"/>
              </a:rPr>
              <a:t>Class represents broad class of drugs to which resistance can be conferred; e.g., "AMINOGLYCOSIDE"</a:t>
            </a:r>
          </a:p>
          <a:p>
            <a:r>
              <a:rPr lang="en-US" sz="2400">
                <a:latin typeface="Helvetica"/>
                <a:cs typeface="Helvetica"/>
              </a:rPr>
              <a:t>Subclass has more specificity and can include groups of drugs or individual antibiotics; e.g., "AMIKACIN/TOBRAMYCIN"</a:t>
            </a:r>
          </a:p>
          <a:p>
            <a:r>
              <a:rPr lang="en-US" sz="2400">
                <a:latin typeface="Helvetica"/>
                <a:cs typeface="Helvetica"/>
              </a:rPr>
              <a:t>Beta-lactamase resistance (BETA-LACTAM) is divided into 3 subclasses:</a:t>
            </a:r>
          </a:p>
          <a:p>
            <a:pPr lvl="1"/>
            <a:r>
              <a:rPr lang="en-US" sz="2200">
                <a:latin typeface="Helvetica"/>
                <a:cs typeface="Helvetica"/>
              </a:rPr>
              <a:t>BETA-LACTAM: unknown/unclear resistance OR resistance to </a:t>
            </a:r>
            <a:r>
              <a:rPr lang="en-US" sz="2200" err="1">
                <a:latin typeface="Helvetica"/>
                <a:cs typeface="Helvetica"/>
              </a:rPr>
              <a:t>penicillins</a:t>
            </a:r>
            <a:endParaRPr lang="en-US" sz="2200">
              <a:latin typeface="Helvetica"/>
              <a:cs typeface="Helvetica"/>
            </a:endParaRPr>
          </a:p>
          <a:p>
            <a:pPr lvl="1"/>
            <a:r>
              <a:rPr lang="en-US" sz="2200">
                <a:latin typeface="Helvetica"/>
                <a:cs typeface="Helvetica"/>
              </a:rPr>
              <a:t>CEPHALOSPORINS: resistance to 2nd generation (or newer) cephalosporins</a:t>
            </a:r>
          </a:p>
          <a:p>
            <a:pPr lvl="1"/>
            <a:r>
              <a:rPr lang="en-US" sz="2200">
                <a:latin typeface="Helvetica"/>
                <a:cs typeface="Helvetica"/>
              </a:rPr>
              <a:t>CARBAPENEMS: resistance to some (or all carbapenems)</a:t>
            </a:r>
            <a:endParaRPr lang="en-US" sz="2200"/>
          </a:p>
          <a:p>
            <a:r>
              <a:rPr lang="en-US" sz="2400">
                <a:latin typeface="Helvetica"/>
                <a:cs typeface="Helvetica"/>
              </a:rPr>
              <a:t>Note: many virulence genes will lack values for these fields</a:t>
            </a:r>
            <a:endParaRPr lang="en-US" sz="2400"/>
          </a:p>
        </p:txBody>
      </p:sp>
    </p:spTree>
    <p:extLst>
      <p:ext uri="{BB962C8B-B14F-4D97-AF65-F5344CB8AC3E}">
        <p14:creationId xmlns:p14="http://schemas.microsoft.com/office/powerpoint/2010/main" val="2039849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15F2E-8115-EFC1-0D60-777276B98DE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98DC90D-E531-8669-E996-7C9EC5A3B851}"/>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31BACB7-5147-6DE2-4E48-92D46473D478}"/>
              </a:ext>
            </a:extLst>
          </p:cNvPr>
          <p:cNvSpPr>
            <a:spLocks noGrp="1"/>
          </p:cNvSpPr>
          <p:nvPr/>
        </p:nvSpPr>
        <p:spPr>
          <a:xfrm>
            <a:off x="-14288" y="0"/>
            <a:ext cx="5095875" cy="6858000"/>
          </a:xfrm>
          <a:prstGeom prst="rect">
            <a:avLst/>
          </a:prstGeom>
          <a:solidFill>
            <a:srgbClr val="FFFFFF"/>
          </a:solidFill>
          <a:ln w="0">
            <a:noFill/>
          </a:ln>
        </p:spPr>
        <p:txBody>
          <a:bodyPr/>
          <a:lstStyle/>
          <a:p>
            <a:endParaRPr lang="en-US" dirty="0"/>
          </a:p>
        </p:txBody>
      </p:sp>
      <p:sp>
        <p:nvSpPr>
          <p:cNvPr id="4" name="Rectangle 3">
            <a:extLst>
              <a:ext uri="{FF2B5EF4-FFF2-40B4-BE49-F238E27FC236}">
                <a16:creationId xmlns:a16="http://schemas.microsoft.com/office/drawing/2014/main" id="{54B6E4E6-31C4-74E3-5C3D-3A75DF72DCCD}"/>
              </a:ext>
            </a:extLst>
          </p:cNvPr>
          <p:cNvSpPr>
            <a:spLocks noGrp="1"/>
          </p:cNvSpPr>
          <p:nvPr/>
        </p:nvSpPr>
        <p:spPr>
          <a:xfrm>
            <a:off x="647700" y="1590675"/>
            <a:ext cx="3905250" cy="819150"/>
          </a:xfrm>
          <a:prstGeom prst="rect">
            <a:avLst/>
          </a:prstGeom>
          <a:noFill/>
          <a:ln w="0">
            <a:noFill/>
          </a:ln>
        </p:spPr>
        <p:txBody>
          <a:bodyPr anchor="ctr">
            <a:noAutofit/>
          </a:bodyPr>
          <a:lstStyle/>
          <a:p>
            <a:pPr>
              <a:defRPr sz="4125" b="1">
                <a:solidFill>
                  <a:srgbClr val="15263A"/>
                </a:solidFill>
                <a:latin typeface="Arial"/>
                <a:ea typeface="Arial"/>
                <a:cs typeface="Arial"/>
              </a:defRPr>
            </a:pPr>
            <a:r>
              <a:rPr sz="4125" b="1" dirty="0">
                <a:solidFill>
                  <a:srgbClr val="15263A"/>
                </a:solidFill>
                <a:latin typeface="Arial"/>
                <a:ea typeface="Arial"/>
                <a:cs typeface="Arial"/>
              </a:rPr>
              <a:t>To </a:t>
            </a:r>
            <a:r>
              <a:rPr sz="4125" b="1" dirty="0">
                <a:solidFill>
                  <a:srgbClr val="15263A"/>
                </a:solidFill>
                <a:latin typeface="Arial"/>
                <a:ea typeface="Arial"/>
                <a:cs typeface="Arial"/>
                <a:hlinkClick r:id="rId4"/>
              </a:rPr>
              <a:t>Exercise </a:t>
            </a:r>
            <a:r>
              <a:rPr lang="en-US" sz="4125" b="1" dirty="0">
                <a:solidFill>
                  <a:srgbClr val="15263A"/>
                </a:solidFill>
                <a:latin typeface="Arial"/>
                <a:ea typeface="Arial"/>
                <a:cs typeface="Arial"/>
                <a:hlinkClick r:id="rId4"/>
              </a:rPr>
              <a:t>2</a:t>
            </a:r>
            <a:endParaRPr sz="4125" b="1" dirty="0">
              <a:solidFill>
                <a:srgbClr val="15263A"/>
              </a:solidFill>
              <a:latin typeface="Arial"/>
              <a:ea typeface="Arial"/>
              <a:cs typeface="Arial"/>
            </a:endParaRPr>
          </a:p>
        </p:txBody>
      </p:sp>
      <p:sp>
        <p:nvSpPr>
          <p:cNvPr id="5" name="Rectangle 4">
            <a:extLst>
              <a:ext uri="{FF2B5EF4-FFF2-40B4-BE49-F238E27FC236}">
                <a16:creationId xmlns:a16="http://schemas.microsoft.com/office/drawing/2014/main" id="{92477D0F-471B-7AB3-B814-1AA34346BF95}"/>
              </a:ext>
            </a:extLst>
          </p:cNvPr>
          <p:cNvSpPr>
            <a:spLocks noGrp="1"/>
          </p:cNvSpPr>
          <p:nvPr/>
        </p:nvSpPr>
        <p:spPr>
          <a:xfrm>
            <a:off x="676275" y="2628900"/>
            <a:ext cx="3810000" cy="476250"/>
          </a:xfrm>
          <a:prstGeom prst="rect">
            <a:avLst/>
          </a:prstGeom>
          <a:noFill/>
          <a:ln w="0">
            <a:noFill/>
          </a:ln>
        </p:spPr>
        <p:txBody>
          <a:bodyPr anchor="ctr">
            <a:noAutofit/>
          </a:bodyPr>
          <a:lstStyle/>
          <a:p>
            <a:pPr>
              <a:defRPr sz="2175" b="0">
                <a:solidFill>
                  <a:srgbClr val="587086"/>
                </a:solidFill>
                <a:latin typeface="Arial"/>
                <a:ea typeface="Arial"/>
                <a:cs typeface="Arial"/>
              </a:defRPr>
            </a:pPr>
            <a:r>
              <a:rPr lang="en-US" sz="2175" b="0" dirty="0">
                <a:solidFill>
                  <a:srgbClr val="587086"/>
                </a:solidFill>
                <a:latin typeface="Arial"/>
                <a:ea typeface="Arial"/>
                <a:cs typeface="Arial"/>
              </a:rPr>
              <a:t>Antibiotic resistance</a:t>
            </a:r>
          </a:p>
        </p:txBody>
      </p:sp>
      <p:sp>
        <p:nvSpPr>
          <p:cNvPr id="6" name="Rectangle 5">
            <a:extLst>
              <a:ext uri="{FF2B5EF4-FFF2-40B4-BE49-F238E27FC236}">
                <a16:creationId xmlns:a16="http://schemas.microsoft.com/office/drawing/2014/main" id="{E9A7F0A2-2B6F-3021-C732-41917EBAABE9}"/>
              </a:ext>
            </a:extLst>
          </p:cNvPr>
          <p:cNvSpPr>
            <a:spLocks noGrp="1"/>
          </p:cNvSpPr>
          <p:nvPr/>
        </p:nvSpPr>
        <p:spPr>
          <a:xfrm>
            <a:off x="676275" y="3666066"/>
            <a:ext cx="3714750" cy="620183"/>
          </a:xfrm>
          <a:prstGeom prst="rect">
            <a:avLst/>
          </a:prstGeom>
          <a:noFill/>
          <a:ln w="0">
            <a:noFill/>
          </a:ln>
        </p:spPr>
        <p:txBody>
          <a:bodyPr anchor="ctr">
            <a:noAutofit/>
          </a:bodyPr>
          <a:lstStyle/>
          <a:p>
            <a:pPr>
              <a:defRPr sz="1650" b="0">
                <a:solidFill>
                  <a:srgbClr val="587086"/>
                </a:solidFill>
                <a:latin typeface="Arial"/>
                <a:ea typeface="Arial"/>
                <a:cs typeface="Arial"/>
              </a:defRPr>
            </a:pPr>
            <a:r>
              <a:rPr lang="en-US" sz="1650" dirty="0">
                <a:solidFill>
                  <a:srgbClr val="587086"/>
                </a:solidFill>
                <a:latin typeface="Arial"/>
                <a:ea typeface="Arial"/>
                <a:cs typeface="Arial"/>
              </a:rPr>
              <a:t>Explore resistance genotypes and phenotypes</a:t>
            </a:r>
            <a:endParaRPr sz="1650" b="0" dirty="0">
              <a:solidFill>
                <a:srgbClr val="587086"/>
              </a:solidFill>
              <a:latin typeface="Arial"/>
              <a:ea typeface="Arial"/>
              <a:cs typeface="Arial"/>
            </a:endParaRPr>
          </a:p>
        </p:txBody>
      </p:sp>
      <p:sp>
        <p:nvSpPr>
          <p:cNvPr id="10" name="TextBox 9">
            <a:extLst>
              <a:ext uri="{FF2B5EF4-FFF2-40B4-BE49-F238E27FC236}">
                <a16:creationId xmlns:a16="http://schemas.microsoft.com/office/drawing/2014/main" id="{AE4678BC-B901-4CAD-77A5-4FA4C7AA42E5}"/>
              </a:ext>
            </a:extLst>
          </p:cNvPr>
          <p:cNvSpPr txBox="1"/>
          <p:nvPr/>
        </p:nvSpPr>
        <p:spPr>
          <a:xfrm>
            <a:off x="455083" y="4612243"/>
            <a:ext cx="4461933" cy="369332"/>
          </a:xfrm>
          <a:prstGeom prst="rect">
            <a:avLst/>
          </a:prstGeom>
          <a:noFill/>
        </p:spPr>
        <p:txBody>
          <a:bodyPr wrap="square" rtlCol="0">
            <a:spAutoFit/>
          </a:bodyPr>
          <a:lstStyle/>
          <a:p>
            <a:r>
              <a:rPr lang="en-US" sz="900" dirty="0">
                <a:hlinkClick r:id="rId4"/>
              </a:rPr>
              <a:t>https://github.com/ncbi/workshop-asm-big-2026/blob/main/amr/README.md</a:t>
            </a:r>
            <a:endParaRPr lang="en-US" sz="900" dirty="0"/>
          </a:p>
          <a:p>
            <a:endParaRPr lang="en-US" sz="900" dirty="0"/>
          </a:p>
        </p:txBody>
      </p:sp>
      <p:pic>
        <p:nvPicPr>
          <p:cNvPr id="11" name="Picture 10">
            <a:extLst>
              <a:ext uri="{FF2B5EF4-FFF2-40B4-BE49-F238E27FC236}">
                <a16:creationId xmlns:a16="http://schemas.microsoft.com/office/drawing/2014/main" id="{848D440F-DF63-54EF-946A-C1618EB898F4}"/>
              </a:ext>
            </a:extLst>
          </p:cNvPr>
          <p:cNvPicPr>
            <a:picLocks noChangeAspect="1"/>
          </p:cNvPicPr>
          <p:nvPr/>
        </p:nvPicPr>
        <p:blipFill>
          <a:blip r:embed="rId5"/>
          <a:stretch>
            <a:fillRect/>
          </a:stretch>
        </p:blipFill>
        <p:spPr>
          <a:xfrm>
            <a:off x="837141" y="6351507"/>
            <a:ext cx="2304589" cy="274320"/>
          </a:xfrm>
          <a:prstGeom prst="rect">
            <a:avLst/>
          </a:prstGeom>
        </p:spPr>
      </p:pic>
    </p:spTree>
    <p:extLst>
      <p:ext uri="{BB962C8B-B14F-4D97-AF65-F5344CB8AC3E}">
        <p14:creationId xmlns:p14="http://schemas.microsoft.com/office/powerpoint/2010/main" val="3386034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FABB4-2EBD-6F20-A048-0350011FD115}"/>
              </a:ext>
            </a:extLst>
          </p:cNvPr>
          <p:cNvSpPr>
            <a:spLocks noGrp="1"/>
          </p:cNvSpPr>
          <p:nvPr>
            <p:ph type="title"/>
          </p:nvPr>
        </p:nvSpPr>
        <p:spPr/>
        <p:txBody>
          <a:bodyPr/>
          <a:lstStyle/>
          <a:p>
            <a:r>
              <a:rPr lang="en-US" dirty="0"/>
              <a:t>Metagenomics</a:t>
            </a:r>
          </a:p>
        </p:txBody>
      </p:sp>
    </p:spTree>
    <p:extLst>
      <p:ext uri="{BB962C8B-B14F-4D97-AF65-F5344CB8AC3E}">
        <p14:creationId xmlns:p14="http://schemas.microsoft.com/office/powerpoint/2010/main" val="1017349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6F798-2ABA-905F-FEC0-E6DF916E1E8B}"/>
              </a:ext>
            </a:extLst>
          </p:cNvPr>
          <p:cNvSpPr>
            <a:spLocks noGrp="1"/>
          </p:cNvSpPr>
          <p:nvPr>
            <p:ph type="title"/>
          </p:nvPr>
        </p:nvSpPr>
        <p:spPr/>
        <p:txBody>
          <a:bodyPr/>
          <a:lstStyle/>
          <a:p>
            <a:r>
              <a:rPr lang="en-US" sz="3600" dirty="0"/>
              <a:t>Plasmids and antimicrobial resistance in hospital metagenomes</a:t>
            </a:r>
            <a:br>
              <a:rPr lang="en-US" sz="3600" dirty="0"/>
            </a:br>
            <a:endParaRPr lang="en-US" sz="3600" dirty="0"/>
          </a:p>
        </p:txBody>
      </p:sp>
      <p:sp>
        <p:nvSpPr>
          <p:cNvPr id="4" name="Text Placeholder 2">
            <a:extLst>
              <a:ext uri="{FF2B5EF4-FFF2-40B4-BE49-F238E27FC236}">
                <a16:creationId xmlns:a16="http://schemas.microsoft.com/office/drawing/2014/main" id="{8DB93B96-65EF-7487-DE10-17AB352566D5}"/>
              </a:ext>
            </a:extLst>
          </p:cNvPr>
          <p:cNvSpPr txBox="1">
            <a:spLocks/>
          </p:cNvSpPr>
          <p:nvPr/>
        </p:nvSpPr>
        <p:spPr>
          <a:xfrm>
            <a:off x="426719" y="2039537"/>
            <a:ext cx="6463938" cy="1389463"/>
          </a:xfrm>
          <a:prstGeom prst="rect">
            <a:avLst/>
          </a:prstGeom>
        </p:spPr>
        <p:txBody>
          <a:bodyPr vert="horz" lIns="0" tIns="0" rIns="0" bIns="0" rtlCol="0" anchor="t">
            <a:noAutofit/>
          </a:bodyPr>
          <a:lstStyle>
            <a:lvl1pPr marL="0" indent="0" algn="l" defTabSz="914400" rtl="0" eaLnBrk="1" latinLnBrk="0" hangingPunct="1">
              <a:lnSpc>
                <a:spcPct val="100000"/>
              </a:lnSpc>
              <a:spcBef>
                <a:spcPts val="1000"/>
              </a:spcBef>
              <a:spcAft>
                <a:spcPts val="900"/>
              </a:spcAft>
              <a:buClr>
                <a:schemeClr val="accent1"/>
              </a:buClr>
              <a:buSzPct val="85000"/>
              <a:buFont typeface="Arial" panose="020B0604020202020204" pitchFamily="34" charset="0"/>
              <a:buNone/>
              <a:defRPr sz="2000" b="0" kern="1200">
                <a:solidFill>
                  <a:schemeClr val="accent1"/>
                </a:solidFill>
                <a:latin typeface="Helvetica" charset="0"/>
                <a:ea typeface="Helvetica" charset="0"/>
                <a:cs typeface="Helvetica" charset="0"/>
              </a:defRPr>
            </a:lvl1pPr>
            <a:lvl2pPr marL="800100" indent="-342900" algn="l" defTabSz="914400" rtl="0" eaLnBrk="1" latinLnBrk="0" hangingPunct="1">
              <a:lnSpc>
                <a:spcPct val="100000"/>
              </a:lnSpc>
              <a:spcBef>
                <a:spcPts val="500"/>
              </a:spcBef>
              <a:spcAft>
                <a:spcPts val="900"/>
              </a:spcAft>
              <a:buClr>
                <a:schemeClr val="accent1"/>
              </a:buClr>
              <a:buSzPct val="85000"/>
              <a:buFont typeface="Arial" panose="020B0604020202020204" pitchFamily="34" charset="0"/>
              <a:buChar char="•"/>
              <a:defRPr sz="30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hlinkClick r:id="rId2"/>
              </a:rPr>
              <a:t>https://</a:t>
            </a:r>
            <a:r>
              <a:rPr lang="en-US" dirty="0" err="1">
                <a:hlinkClick r:id="rId2"/>
              </a:rPr>
              <a:t>github.com</a:t>
            </a:r>
            <a:r>
              <a:rPr lang="en-US" dirty="0">
                <a:hlinkClick r:id="rId2"/>
              </a:rPr>
              <a:t>/</a:t>
            </a:r>
            <a:r>
              <a:rPr lang="en-US" dirty="0" err="1">
                <a:hlinkClick r:id="rId2"/>
              </a:rPr>
              <a:t>ncbi</a:t>
            </a:r>
            <a:r>
              <a:rPr lang="en-US" dirty="0">
                <a:hlinkClick r:id="rId2"/>
              </a:rPr>
              <a:t>/workshop-asm-big-2026/blob/main/metagenomics/</a:t>
            </a:r>
            <a:r>
              <a:rPr lang="en-US" dirty="0" err="1">
                <a:hlinkClick r:id="rId2"/>
              </a:rPr>
              <a:t>README.md</a:t>
            </a:r>
            <a:endParaRPr lang="en-US" dirty="0"/>
          </a:p>
        </p:txBody>
      </p:sp>
    </p:spTree>
    <p:extLst>
      <p:ext uri="{BB962C8B-B14F-4D97-AF65-F5344CB8AC3E}">
        <p14:creationId xmlns:p14="http://schemas.microsoft.com/office/powerpoint/2010/main" val="693071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BDAFF9-83DB-74F3-849A-2E25B6059065}"/>
              </a:ext>
            </a:extLst>
          </p:cNvPr>
          <p:cNvSpPr>
            <a:spLocks noGrp="1"/>
          </p:cNvSpPr>
          <p:nvPr>
            <p:ph type="title"/>
          </p:nvPr>
        </p:nvSpPr>
        <p:spPr/>
        <p:txBody>
          <a:bodyPr/>
          <a:lstStyle/>
          <a:p>
            <a:r>
              <a:rPr lang="en-US" dirty="0"/>
              <a:t>Metagenomics</a:t>
            </a:r>
          </a:p>
        </p:txBody>
      </p:sp>
      <p:sp>
        <p:nvSpPr>
          <p:cNvPr id="5" name="Text Placeholder 4">
            <a:extLst>
              <a:ext uri="{FF2B5EF4-FFF2-40B4-BE49-F238E27FC236}">
                <a16:creationId xmlns:a16="http://schemas.microsoft.com/office/drawing/2014/main" id="{79C485B3-C793-D4AB-EFDD-3283C6ECE181}"/>
              </a:ext>
            </a:extLst>
          </p:cNvPr>
          <p:cNvSpPr>
            <a:spLocks noGrp="1"/>
          </p:cNvSpPr>
          <p:nvPr>
            <p:ph type="body" sz="quarter" idx="11"/>
          </p:nvPr>
        </p:nvSpPr>
        <p:spPr/>
        <p:txBody>
          <a:bodyPr/>
          <a:lstStyle/>
          <a:p>
            <a:pPr marL="457200" indent="-457200">
              <a:buFont typeface="Arial" panose="020B0604020202020204" pitchFamily="34" charset="0"/>
              <a:buChar char="•"/>
            </a:pPr>
            <a:r>
              <a:rPr lang="en-US" dirty="0"/>
              <a:t>Culture-independent, untargeted sequencing of total genomic DNA recovered directly from a mixed sample</a:t>
            </a:r>
          </a:p>
          <a:p>
            <a:pPr marL="457200" indent="-457200">
              <a:buFont typeface="Arial" panose="020B0604020202020204" pitchFamily="34" charset="0"/>
              <a:buChar char="•"/>
            </a:pPr>
            <a:r>
              <a:rPr lang="en-US" dirty="0"/>
              <a:t>Shotgun metagenomics is when you don’t target a particular gene or set of genes, but just sequence everything randomly</a:t>
            </a:r>
          </a:p>
          <a:p>
            <a:endParaRPr lang="en-US" dirty="0"/>
          </a:p>
        </p:txBody>
      </p:sp>
    </p:spTree>
    <p:extLst>
      <p:ext uri="{BB962C8B-B14F-4D97-AF65-F5344CB8AC3E}">
        <p14:creationId xmlns:p14="http://schemas.microsoft.com/office/powerpoint/2010/main" val="4258576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DC9D3-E29E-AB7C-3D9A-082BC7868809}"/>
              </a:ext>
            </a:extLst>
          </p:cNvPr>
          <p:cNvSpPr>
            <a:spLocks noGrp="1"/>
          </p:cNvSpPr>
          <p:nvPr>
            <p:ph type="title"/>
          </p:nvPr>
        </p:nvSpPr>
        <p:spPr/>
        <p:txBody>
          <a:bodyPr/>
          <a:lstStyle/>
          <a:p>
            <a:pPr>
              <a:buClr>
                <a:schemeClr val="accent1"/>
              </a:buClr>
              <a:buSzPct val="85000"/>
            </a:pPr>
            <a:r>
              <a:rPr lang="en-US" sz="2800" u="sng" dirty="0">
                <a:hlinkClick r:id="rId2"/>
              </a:rPr>
              <a:t>Chng et al. (2020), </a:t>
            </a:r>
            <a:r>
              <a:rPr lang="en-US" sz="2800" i="1" u="sng" dirty="0">
                <a:hlinkClick r:id="rId2"/>
              </a:rPr>
              <a:t>Cartography of opportunistic pathogens and antibiotic resistance genes in a tertiary hospital environment</a:t>
            </a:r>
            <a:r>
              <a:rPr lang="en-US" sz="2800" dirty="0"/>
              <a:t>.</a:t>
            </a:r>
          </a:p>
        </p:txBody>
      </p:sp>
      <p:sp>
        <p:nvSpPr>
          <p:cNvPr id="3" name="Text Placeholder 2">
            <a:extLst>
              <a:ext uri="{FF2B5EF4-FFF2-40B4-BE49-F238E27FC236}">
                <a16:creationId xmlns:a16="http://schemas.microsoft.com/office/drawing/2014/main" id="{426E5881-8E93-0EAF-8BF6-B7207351CA64}"/>
              </a:ext>
            </a:extLst>
          </p:cNvPr>
          <p:cNvSpPr>
            <a:spLocks noGrp="1"/>
          </p:cNvSpPr>
          <p:nvPr>
            <p:ph type="body" sz="quarter" idx="11"/>
          </p:nvPr>
        </p:nvSpPr>
        <p:spPr>
          <a:xfrm>
            <a:off x="427038" y="1924050"/>
            <a:ext cx="9144345" cy="2288721"/>
          </a:xfrm>
        </p:spPr>
        <p:txBody>
          <a:bodyPr/>
          <a:lstStyle/>
          <a:p>
            <a:pPr marL="457200" indent="-457200">
              <a:buFont typeface="Arial" panose="020B0604020202020204" pitchFamily="34" charset="0"/>
              <a:buChar char="•"/>
            </a:pPr>
            <a:r>
              <a:rPr lang="en-US" dirty="0"/>
              <a:t>Sampled various hospital surfaces and sequenced enriched cultures. </a:t>
            </a:r>
          </a:p>
          <a:p>
            <a:pPr marL="457200" indent="-457200">
              <a:buFont typeface="Arial" panose="020B0604020202020204" pitchFamily="34" charset="0"/>
              <a:buChar char="•"/>
            </a:pPr>
            <a:r>
              <a:rPr lang="en-US" dirty="0"/>
              <a:t>We will focus on three of the plasmids from two sequencing runs on two samples.</a:t>
            </a:r>
          </a:p>
        </p:txBody>
      </p:sp>
      <p:pic>
        <p:nvPicPr>
          <p:cNvPr id="4" name="Picture 3">
            <a:extLst>
              <a:ext uri="{FF2B5EF4-FFF2-40B4-BE49-F238E27FC236}">
                <a16:creationId xmlns:a16="http://schemas.microsoft.com/office/drawing/2014/main" id="{55328FF1-32E8-42DE-E953-C37EF5D8173B}"/>
              </a:ext>
            </a:extLst>
          </p:cNvPr>
          <p:cNvPicPr>
            <a:picLocks noChangeAspect="1"/>
          </p:cNvPicPr>
          <p:nvPr/>
        </p:nvPicPr>
        <p:blipFill>
          <a:blip r:embed="rId3"/>
          <a:stretch>
            <a:fillRect/>
          </a:stretch>
        </p:blipFill>
        <p:spPr>
          <a:xfrm>
            <a:off x="1798320" y="4358097"/>
            <a:ext cx="7772400" cy="1509303"/>
          </a:xfrm>
          <a:prstGeom prst="rect">
            <a:avLst/>
          </a:prstGeom>
        </p:spPr>
      </p:pic>
    </p:spTree>
    <p:extLst>
      <p:ext uri="{BB962C8B-B14F-4D97-AF65-F5344CB8AC3E}">
        <p14:creationId xmlns:p14="http://schemas.microsoft.com/office/powerpoint/2010/main" val="2422600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7ADE5-B47A-1812-B1D5-4EF909DFC880}"/>
              </a:ext>
            </a:extLst>
          </p:cNvPr>
          <p:cNvSpPr>
            <a:spLocks noGrp="1"/>
          </p:cNvSpPr>
          <p:nvPr>
            <p:ph type="title"/>
          </p:nvPr>
        </p:nvSpPr>
        <p:spPr/>
        <p:txBody>
          <a:bodyPr/>
          <a:lstStyle/>
          <a:p>
            <a:r>
              <a:rPr lang="en-US" dirty="0"/>
              <a:t>Exercise overview</a:t>
            </a:r>
          </a:p>
        </p:txBody>
      </p:sp>
      <p:sp>
        <p:nvSpPr>
          <p:cNvPr id="3" name="Text Placeholder 2">
            <a:extLst>
              <a:ext uri="{FF2B5EF4-FFF2-40B4-BE49-F238E27FC236}">
                <a16:creationId xmlns:a16="http://schemas.microsoft.com/office/drawing/2014/main" id="{BB40DB64-1C1A-33C8-8D9D-5857E3DF8FCB}"/>
              </a:ext>
            </a:extLst>
          </p:cNvPr>
          <p:cNvSpPr>
            <a:spLocks noGrp="1"/>
          </p:cNvSpPr>
          <p:nvPr>
            <p:ph type="body" sz="quarter" idx="11"/>
          </p:nvPr>
        </p:nvSpPr>
        <p:spPr>
          <a:xfrm>
            <a:off x="427038" y="1426030"/>
            <a:ext cx="11002962" cy="4593770"/>
          </a:xfrm>
        </p:spPr>
        <p:txBody>
          <a:bodyPr/>
          <a:lstStyle/>
          <a:p>
            <a:pPr marL="514350" lvl="0" indent="-514350">
              <a:buFont typeface="+mj-lt"/>
              <a:buAutoNum type="arabicPeriod"/>
            </a:pPr>
            <a:r>
              <a:rPr lang="en-US" sz="2600" b="1" dirty="0"/>
              <a:t>Prepare the targets and reads.</a:t>
            </a:r>
            <a:r>
              <a:rPr lang="en-US" sz="2600" dirty="0"/>
              <a:t> Download published plasmid sequences, select three targets, and obtain and filter reads from two metagenomes.</a:t>
            </a:r>
          </a:p>
          <a:p>
            <a:pPr marL="514350" lvl="0" indent="-514350">
              <a:buFont typeface="+mj-lt"/>
              <a:buAutoNum type="arabicPeriod"/>
            </a:pPr>
            <a:r>
              <a:rPr lang="en-US" sz="2600" b="1" dirty="0"/>
              <a:t>Explore the sample composition.</a:t>
            </a:r>
            <a:r>
              <a:rPr lang="en-US" sz="2600" dirty="0"/>
              <a:t> Use STAT and its Krona display to examine the taxa represented in a metagenomic sample.</a:t>
            </a:r>
          </a:p>
          <a:p>
            <a:pPr marL="514350" lvl="0" indent="-514350">
              <a:buFont typeface="+mj-lt"/>
              <a:buAutoNum type="arabicPeriod"/>
            </a:pPr>
            <a:r>
              <a:rPr lang="en-US" sz="2600" b="1" dirty="0"/>
              <a:t>Assemble and compare sequences.</a:t>
            </a:r>
            <a:r>
              <a:rPr lang="en-US" sz="2600" dirty="0"/>
              <a:t> Run SAUTE and use BLAST to compare the assemblies with the plasmid targets.</a:t>
            </a:r>
          </a:p>
          <a:p>
            <a:pPr marL="514350" lvl="0" indent="-514350">
              <a:buFont typeface="+mj-lt"/>
              <a:buAutoNum type="arabicPeriod"/>
            </a:pPr>
            <a:r>
              <a:rPr lang="en-US" sz="2600" b="1" dirty="0"/>
              <a:t>Investigate resistance genes and related genomes.</a:t>
            </a:r>
            <a:r>
              <a:rPr lang="en-US" sz="2600" dirty="0"/>
              <a:t> Run AMRFinderPlus, search Pebblescout, and follow a match into Pathogen Detection.</a:t>
            </a:r>
          </a:p>
        </p:txBody>
      </p:sp>
    </p:spTree>
    <p:extLst>
      <p:ext uri="{BB962C8B-B14F-4D97-AF65-F5344CB8AC3E}">
        <p14:creationId xmlns:p14="http://schemas.microsoft.com/office/powerpoint/2010/main" val="2067497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885FA-9E1A-4825-6455-F6DE19A6805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DA8DA12-D564-3A53-39D5-FE4C0C98634E}"/>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C63D4658-F8C7-0919-6431-0AFEBA9DEBE7}"/>
              </a:ext>
            </a:extLst>
          </p:cNvPr>
          <p:cNvSpPr>
            <a:spLocks noGrp="1"/>
          </p:cNvSpPr>
          <p:nvPr/>
        </p:nvSpPr>
        <p:spPr>
          <a:xfrm>
            <a:off x="-14288" y="0"/>
            <a:ext cx="5095875" cy="6858000"/>
          </a:xfrm>
          <a:prstGeom prst="rect">
            <a:avLst/>
          </a:prstGeom>
          <a:solidFill>
            <a:srgbClr val="FFFFFF"/>
          </a:solidFill>
          <a:ln w="0">
            <a:noFill/>
          </a:ln>
        </p:spPr>
        <p:txBody>
          <a:bodyPr/>
          <a:lstStyle/>
          <a:p>
            <a:endParaRPr lang="en-US" dirty="0"/>
          </a:p>
        </p:txBody>
      </p:sp>
      <p:sp>
        <p:nvSpPr>
          <p:cNvPr id="4" name="Rectangle 3">
            <a:extLst>
              <a:ext uri="{FF2B5EF4-FFF2-40B4-BE49-F238E27FC236}">
                <a16:creationId xmlns:a16="http://schemas.microsoft.com/office/drawing/2014/main" id="{5A8B1E96-A9A5-DC10-1F65-EE4D3C7651A4}"/>
              </a:ext>
            </a:extLst>
          </p:cNvPr>
          <p:cNvSpPr>
            <a:spLocks noGrp="1"/>
          </p:cNvSpPr>
          <p:nvPr/>
        </p:nvSpPr>
        <p:spPr>
          <a:xfrm>
            <a:off x="647700" y="1590675"/>
            <a:ext cx="3905250" cy="819150"/>
          </a:xfrm>
          <a:prstGeom prst="rect">
            <a:avLst/>
          </a:prstGeom>
          <a:noFill/>
          <a:ln w="0">
            <a:noFill/>
          </a:ln>
        </p:spPr>
        <p:txBody>
          <a:bodyPr anchor="ctr">
            <a:noAutofit/>
          </a:bodyPr>
          <a:lstStyle/>
          <a:p>
            <a:pPr>
              <a:defRPr sz="4125" b="1">
                <a:solidFill>
                  <a:srgbClr val="15263A"/>
                </a:solidFill>
                <a:latin typeface="Arial"/>
                <a:ea typeface="Arial"/>
                <a:cs typeface="Arial"/>
              </a:defRPr>
            </a:pPr>
            <a:r>
              <a:rPr sz="4125" b="1" dirty="0">
                <a:solidFill>
                  <a:srgbClr val="15263A"/>
                </a:solidFill>
                <a:latin typeface="Arial"/>
                <a:ea typeface="Arial"/>
                <a:cs typeface="Arial"/>
              </a:rPr>
              <a:t>To </a:t>
            </a:r>
            <a:r>
              <a:rPr lang="en-US" sz="4125" b="1" dirty="0">
                <a:solidFill>
                  <a:srgbClr val="15263A"/>
                </a:solidFill>
                <a:latin typeface="Arial"/>
                <a:ea typeface="Arial"/>
                <a:cs typeface="Arial"/>
                <a:hlinkClick r:id="rId4"/>
              </a:rPr>
              <a:t>Exercise 3</a:t>
            </a:r>
            <a:endParaRPr sz="4125" b="1" dirty="0">
              <a:solidFill>
                <a:srgbClr val="15263A"/>
              </a:solidFill>
              <a:latin typeface="Arial"/>
              <a:ea typeface="Arial"/>
              <a:cs typeface="Arial"/>
            </a:endParaRPr>
          </a:p>
        </p:txBody>
      </p:sp>
      <p:sp>
        <p:nvSpPr>
          <p:cNvPr id="5" name="Rectangle 4">
            <a:extLst>
              <a:ext uri="{FF2B5EF4-FFF2-40B4-BE49-F238E27FC236}">
                <a16:creationId xmlns:a16="http://schemas.microsoft.com/office/drawing/2014/main" id="{B44512CF-E622-9AA7-24E3-14C91DF550A9}"/>
              </a:ext>
            </a:extLst>
          </p:cNvPr>
          <p:cNvSpPr>
            <a:spLocks noGrp="1"/>
          </p:cNvSpPr>
          <p:nvPr/>
        </p:nvSpPr>
        <p:spPr>
          <a:xfrm>
            <a:off x="676275" y="2628900"/>
            <a:ext cx="3810000" cy="476250"/>
          </a:xfrm>
          <a:prstGeom prst="rect">
            <a:avLst/>
          </a:prstGeom>
          <a:noFill/>
          <a:ln w="0">
            <a:noFill/>
          </a:ln>
        </p:spPr>
        <p:txBody>
          <a:bodyPr anchor="ctr">
            <a:noAutofit/>
          </a:bodyPr>
          <a:lstStyle/>
          <a:p>
            <a:pPr>
              <a:defRPr sz="2175" b="0">
                <a:solidFill>
                  <a:srgbClr val="587086"/>
                </a:solidFill>
                <a:latin typeface="Arial"/>
                <a:ea typeface="Arial"/>
                <a:cs typeface="Arial"/>
              </a:defRPr>
            </a:pPr>
            <a:r>
              <a:rPr lang="en-US" sz="2175" b="0" dirty="0">
                <a:solidFill>
                  <a:srgbClr val="587086"/>
                </a:solidFill>
                <a:latin typeface="Arial"/>
                <a:ea typeface="Arial"/>
                <a:cs typeface="Arial"/>
              </a:rPr>
              <a:t>Metagenomics</a:t>
            </a:r>
          </a:p>
        </p:txBody>
      </p:sp>
      <p:sp>
        <p:nvSpPr>
          <p:cNvPr id="6" name="Rectangle 5">
            <a:extLst>
              <a:ext uri="{FF2B5EF4-FFF2-40B4-BE49-F238E27FC236}">
                <a16:creationId xmlns:a16="http://schemas.microsoft.com/office/drawing/2014/main" id="{D41DAA9F-4AC1-78A5-F1B5-63872F6CEFAD}"/>
              </a:ext>
            </a:extLst>
          </p:cNvPr>
          <p:cNvSpPr>
            <a:spLocks noGrp="1"/>
          </p:cNvSpPr>
          <p:nvPr/>
        </p:nvSpPr>
        <p:spPr>
          <a:xfrm>
            <a:off x="676275" y="3666066"/>
            <a:ext cx="3714750" cy="620183"/>
          </a:xfrm>
          <a:prstGeom prst="rect">
            <a:avLst/>
          </a:prstGeom>
          <a:noFill/>
          <a:ln w="0">
            <a:noFill/>
          </a:ln>
        </p:spPr>
        <p:txBody>
          <a:bodyPr anchor="ctr">
            <a:noAutofit/>
          </a:bodyPr>
          <a:lstStyle/>
          <a:p>
            <a:pPr>
              <a:defRPr sz="1650" b="0">
                <a:solidFill>
                  <a:srgbClr val="587086"/>
                </a:solidFill>
                <a:latin typeface="Arial"/>
                <a:ea typeface="Arial"/>
                <a:cs typeface="Arial"/>
              </a:defRPr>
            </a:pPr>
            <a:r>
              <a:rPr lang="en-US" sz="1650" dirty="0">
                <a:solidFill>
                  <a:srgbClr val="587086"/>
                </a:solidFill>
                <a:latin typeface="Arial"/>
                <a:ea typeface="Arial"/>
                <a:cs typeface="Arial"/>
              </a:rPr>
              <a:t>Some tools to explore metagenomic data</a:t>
            </a:r>
            <a:endParaRPr sz="1650" b="0" dirty="0">
              <a:solidFill>
                <a:srgbClr val="587086"/>
              </a:solidFill>
              <a:latin typeface="Arial"/>
              <a:ea typeface="Arial"/>
              <a:cs typeface="Arial"/>
            </a:endParaRPr>
          </a:p>
        </p:txBody>
      </p:sp>
      <p:sp>
        <p:nvSpPr>
          <p:cNvPr id="10" name="TextBox 9">
            <a:extLst>
              <a:ext uri="{FF2B5EF4-FFF2-40B4-BE49-F238E27FC236}">
                <a16:creationId xmlns:a16="http://schemas.microsoft.com/office/drawing/2014/main" id="{8086283F-AFC6-4788-7407-743C42DC68AB}"/>
              </a:ext>
            </a:extLst>
          </p:cNvPr>
          <p:cNvSpPr txBox="1"/>
          <p:nvPr/>
        </p:nvSpPr>
        <p:spPr>
          <a:xfrm>
            <a:off x="293915" y="4612243"/>
            <a:ext cx="4623102" cy="369332"/>
          </a:xfrm>
          <a:prstGeom prst="rect">
            <a:avLst/>
          </a:prstGeom>
          <a:noFill/>
        </p:spPr>
        <p:txBody>
          <a:bodyPr wrap="square" rtlCol="0">
            <a:spAutoFit/>
          </a:bodyPr>
          <a:lstStyle/>
          <a:p>
            <a:r>
              <a:rPr lang="en-US" sz="900" dirty="0">
                <a:hlinkClick r:id="rId4"/>
              </a:rPr>
              <a:t>https://github.com/ncbi/workshop-asm-big-2026/blob/main/metagenomics/README.md</a:t>
            </a:r>
            <a:endParaRPr lang="en-US" sz="900" dirty="0"/>
          </a:p>
          <a:p>
            <a:endParaRPr lang="en-US" sz="900" dirty="0"/>
          </a:p>
        </p:txBody>
      </p:sp>
      <p:pic>
        <p:nvPicPr>
          <p:cNvPr id="11" name="Picture 10">
            <a:extLst>
              <a:ext uri="{FF2B5EF4-FFF2-40B4-BE49-F238E27FC236}">
                <a16:creationId xmlns:a16="http://schemas.microsoft.com/office/drawing/2014/main" id="{0C30C1CB-8F6A-656F-E171-85924F475B82}"/>
              </a:ext>
            </a:extLst>
          </p:cNvPr>
          <p:cNvPicPr>
            <a:picLocks noChangeAspect="1"/>
          </p:cNvPicPr>
          <p:nvPr/>
        </p:nvPicPr>
        <p:blipFill>
          <a:blip r:embed="rId5"/>
          <a:stretch>
            <a:fillRect/>
          </a:stretch>
        </p:blipFill>
        <p:spPr>
          <a:xfrm>
            <a:off x="837141" y="6351507"/>
            <a:ext cx="2304589" cy="274320"/>
          </a:xfrm>
          <a:prstGeom prst="rect">
            <a:avLst/>
          </a:prstGeom>
        </p:spPr>
      </p:pic>
    </p:spTree>
    <p:extLst>
      <p:ext uri="{BB962C8B-B14F-4D97-AF65-F5344CB8AC3E}">
        <p14:creationId xmlns:p14="http://schemas.microsoft.com/office/powerpoint/2010/main" val="282162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6DFFF0F-7D3F-4C1A-9C9A-72B38CC69EB0}"/>
              </a:ext>
            </a:extLst>
          </p:cNvPr>
          <p:cNvSpPr>
            <a:spLocks noChangeArrowheads="1"/>
          </p:cNvSpPr>
          <p:nvPr/>
        </p:nvSpPr>
        <p:spPr bwMode="auto">
          <a:xfrm>
            <a:off x="545619" y="772682"/>
            <a:ext cx="3030992" cy="63401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en-US" altLang="ja-JP" sz="1400" dirty="0">
                <a:solidFill>
                  <a:prstClr val="black"/>
                </a:solidFill>
                <a:highlight>
                  <a:srgbClr val="00FFFF"/>
                </a:highlight>
                <a:latin typeface="Aharoni" panose="02010803020104030203" pitchFamily="2" charset="-79"/>
                <a:cs typeface="Aharoni" panose="02010803020104030203" pitchFamily="2" charset="-79"/>
              </a:rPr>
              <a:t>Richa Agarwala</a:t>
            </a:r>
          </a:p>
          <a:p>
            <a:r>
              <a:rPr lang="en-US" altLang="ja-JP" sz="1400" dirty="0">
                <a:solidFill>
                  <a:prstClr val="black"/>
                </a:solidFill>
                <a:latin typeface="Aharoni" panose="02010803020104030203" pitchFamily="2" charset="-79"/>
                <a:cs typeface="Aharoni" panose="02010803020104030203" pitchFamily="2" charset="-79"/>
              </a:rPr>
              <a:t>Victor </a:t>
            </a:r>
            <a:r>
              <a:rPr lang="en-US" altLang="ja-JP" sz="1400" dirty="0" err="1">
                <a:solidFill>
                  <a:prstClr val="black"/>
                </a:solidFill>
                <a:latin typeface="Aharoni" panose="02010803020104030203" pitchFamily="2" charset="-79"/>
                <a:cs typeface="Aharoni" panose="02010803020104030203" pitchFamily="2" charset="-79"/>
              </a:rPr>
              <a:t>Ananiev</a:t>
            </a:r>
            <a:endParaRPr lang="en-US" altLang="ja-JP" sz="1400" dirty="0">
              <a:solidFill>
                <a:prstClr val="black"/>
              </a:solidFill>
              <a:latin typeface="Aharoni" panose="02010803020104030203" pitchFamily="2" charset="-79"/>
              <a:cs typeface="Aharoni" panose="02010803020104030203" pitchFamily="2" charset="-79"/>
            </a:endParaRPr>
          </a:p>
          <a:p>
            <a:r>
              <a:rPr lang="en-US" altLang="ja-JP" sz="1400" dirty="0">
                <a:solidFill>
                  <a:prstClr val="black"/>
                </a:solidFill>
                <a:latin typeface="Aharoni" panose="02010803020104030203" pitchFamily="2" charset="-79"/>
                <a:cs typeface="Aharoni" panose="02010803020104030203" pitchFamily="2" charset="-79"/>
              </a:rPr>
              <a:t>Azat Badretdin</a:t>
            </a:r>
          </a:p>
          <a:p>
            <a:r>
              <a:rPr lang="en-US" altLang="ja-JP" sz="1400" dirty="0" err="1">
                <a:solidFill>
                  <a:prstClr val="black"/>
                </a:solidFill>
                <a:highlight>
                  <a:srgbClr val="00FF00"/>
                </a:highlight>
                <a:latin typeface="Aharoni" panose="02010803020104030203" pitchFamily="2" charset="-79"/>
                <a:cs typeface="Aharoni" panose="02010803020104030203" pitchFamily="2" charset="-79"/>
              </a:rPr>
              <a:t>Slava</a:t>
            </a:r>
            <a:r>
              <a:rPr lang="en-US" altLang="ja-JP" sz="1400" dirty="0">
                <a:solidFill>
                  <a:prstClr val="black"/>
                </a:solidFill>
                <a:highlight>
                  <a:srgbClr val="00FF00"/>
                </a:highlight>
                <a:latin typeface="Aharoni" panose="02010803020104030203" pitchFamily="2" charset="-79"/>
                <a:cs typeface="Aharoni" panose="02010803020104030203" pitchFamily="2" charset="-79"/>
              </a:rPr>
              <a:t> Brover</a:t>
            </a:r>
          </a:p>
          <a:p>
            <a:r>
              <a:rPr lang="en-US" altLang="ja-JP" sz="1400" dirty="0">
                <a:solidFill>
                  <a:prstClr val="black"/>
                </a:solidFill>
                <a:latin typeface="Aharoni" panose="02010803020104030203" pitchFamily="2" charset="-79"/>
                <a:cs typeface="Aharoni" panose="02010803020104030203" pitchFamily="2" charset="-79"/>
              </a:rPr>
              <a:t>Joshua Cherry</a:t>
            </a:r>
          </a:p>
          <a:p>
            <a:r>
              <a:rPr lang="en-US" altLang="ja-JP" sz="1400" dirty="0">
                <a:solidFill>
                  <a:prstClr val="black"/>
                </a:solidFill>
                <a:latin typeface="Aharoni" panose="02010803020104030203" pitchFamily="2" charset="-79"/>
                <a:cs typeface="Aharoni" panose="02010803020104030203" pitchFamily="2" charset="-79"/>
              </a:rPr>
              <a:t>Jinna Choi</a:t>
            </a:r>
          </a:p>
          <a:p>
            <a:r>
              <a:rPr lang="en-US" altLang="ja-JP" sz="1400" dirty="0">
                <a:solidFill>
                  <a:prstClr val="black"/>
                </a:solidFill>
                <a:latin typeface="Aharoni" panose="02010803020104030203" pitchFamily="2" charset="-79"/>
                <a:cs typeface="Aharoni" panose="02010803020104030203" pitchFamily="2" charset="-79"/>
              </a:rPr>
              <a:t>Vyacheslav </a:t>
            </a:r>
            <a:r>
              <a:rPr lang="en-US" altLang="ja-JP" sz="1400" dirty="0" err="1">
                <a:solidFill>
                  <a:prstClr val="black"/>
                </a:solidFill>
                <a:latin typeface="Aharoni" panose="02010803020104030203" pitchFamily="2" charset="-79"/>
                <a:cs typeface="Aharoni" panose="02010803020104030203" pitchFamily="2" charset="-79"/>
              </a:rPr>
              <a:t>Chetvernin</a:t>
            </a:r>
            <a:endParaRPr lang="en-US" altLang="ja-JP" sz="1400" dirty="0">
              <a:solidFill>
                <a:prstClr val="black"/>
              </a:solidFill>
              <a:latin typeface="Aharoni" panose="02010803020104030203" pitchFamily="2" charset="-79"/>
              <a:cs typeface="Aharoni" panose="02010803020104030203" pitchFamily="2" charset="-79"/>
            </a:endParaRPr>
          </a:p>
          <a:p>
            <a:r>
              <a:rPr lang="en-US" altLang="ja-JP" sz="1400" dirty="0">
                <a:solidFill>
                  <a:prstClr val="black"/>
                </a:solidFill>
                <a:latin typeface="Aharoni" panose="02010803020104030203" pitchFamily="2" charset="-79"/>
                <a:cs typeface="Aharoni" panose="02010803020104030203" pitchFamily="2" charset="-79"/>
              </a:rPr>
              <a:t>Pavan </a:t>
            </a:r>
            <a:r>
              <a:rPr lang="en-US" altLang="ja-JP" sz="1400" dirty="0" err="1">
                <a:solidFill>
                  <a:prstClr val="black"/>
                </a:solidFill>
                <a:latin typeface="Aharoni" panose="02010803020104030203" pitchFamily="2" charset="-79"/>
                <a:cs typeface="Aharoni" panose="02010803020104030203" pitchFamily="2" charset="-79"/>
              </a:rPr>
              <a:t>Chilamakuri</a:t>
            </a:r>
            <a:endParaRPr lang="en-US" altLang="ja-JP" sz="1400" dirty="0">
              <a:solidFill>
                <a:prstClr val="black"/>
              </a:solidFill>
              <a:latin typeface="Aharoni" panose="02010803020104030203" pitchFamily="2" charset="-79"/>
              <a:cs typeface="Aharoni" panose="02010803020104030203" pitchFamily="2" charset="-79"/>
            </a:endParaRPr>
          </a:p>
          <a:p>
            <a:r>
              <a:rPr lang="en-US" altLang="ja-JP" sz="1400" dirty="0">
                <a:solidFill>
                  <a:prstClr val="black"/>
                </a:solidFill>
                <a:latin typeface="Aharoni" panose="02010803020104030203" pitchFamily="2" charset="-79"/>
                <a:cs typeface="Aharoni" panose="02010803020104030203" pitchFamily="2" charset="-79"/>
              </a:rPr>
              <a:t>Robert Cohen</a:t>
            </a:r>
          </a:p>
          <a:p>
            <a:r>
              <a:rPr lang="en-US" altLang="ja-JP" sz="1400" dirty="0">
                <a:solidFill>
                  <a:prstClr val="black"/>
                </a:solidFill>
                <a:highlight>
                  <a:srgbClr val="00FF00"/>
                </a:highlight>
                <a:latin typeface="Aharoni" panose="02010803020104030203" pitchFamily="2" charset="-79"/>
                <a:cs typeface="Aharoni" panose="02010803020104030203" pitchFamily="2" charset="-79"/>
              </a:rPr>
              <a:t>DeAnne </a:t>
            </a:r>
            <a:r>
              <a:rPr lang="en-US" altLang="ja-JP" sz="1400" dirty="0" err="1">
                <a:solidFill>
                  <a:prstClr val="black"/>
                </a:solidFill>
                <a:highlight>
                  <a:srgbClr val="00FF00"/>
                </a:highlight>
                <a:latin typeface="Aharoni" panose="02010803020104030203" pitchFamily="2" charset="-79"/>
                <a:cs typeface="Aharoni" panose="02010803020104030203" pitchFamily="2" charset="-79"/>
              </a:rPr>
              <a:t>Cravaritis</a:t>
            </a:r>
            <a:endParaRPr lang="en-US" altLang="ja-JP" sz="1400" dirty="0">
              <a:solidFill>
                <a:prstClr val="black"/>
              </a:solidFill>
              <a:highlight>
                <a:srgbClr val="00FF00"/>
              </a:highlight>
              <a:latin typeface="Aharoni" panose="02010803020104030203" pitchFamily="2" charset="-79"/>
              <a:cs typeface="Aharoni" panose="02010803020104030203" pitchFamily="2" charset="-79"/>
            </a:endParaRPr>
          </a:p>
          <a:p>
            <a:r>
              <a:rPr lang="en-US" altLang="ja-JP" sz="1400" dirty="0">
                <a:solidFill>
                  <a:prstClr val="black"/>
                </a:solidFill>
                <a:latin typeface="Aharoni" panose="02010803020104030203" pitchFamily="2" charset="-79"/>
                <a:cs typeface="Aharoni" panose="02010803020104030203" pitchFamily="2" charset="-79"/>
              </a:rPr>
              <a:t>Michael </a:t>
            </a:r>
            <a:r>
              <a:rPr lang="en-US" altLang="ja-JP" sz="1400" dirty="0" err="1">
                <a:solidFill>
                  <a:prstClr val="black"/>
                </a:solidFill>
                <a:latin typeface="Aharoni" panose="02010803020104030203" pitchFamily="2" charset="-79"/>
                <a:cs typeface="Aharoni" panose="02010803020104030203" pitchFamily="2" charset="-79"/>
              </a:rPr>
              <a:t>DiCuccio</a:t>
            </a:r>
            <a:endParaRPr lang="en-US" altLang="ja-JP" sz="1400" dirty="0">
              <a:solidFill>
                <a:prstClr val="black"/>
              </a:solidFill>
              <a:latin typeface="Aharoni" panose="02010803020104030203" pitchFamily="2" charset="-79"/>
              <a:cs typeface="Aharoni" panose="02010803020104030203" pitchFamily="2" charset="-79"/>
            </a:endParaRPr>
          </a:p>
          <a:p>
            <a:r>
              <a:rPr lang="en-US" altLang="ja-JP" sz="1400" dirty="0">
                <a:solidFill>
                  <a:prstClr val="black"/>
                </a:solidFill>
                <a:latin typeface="Aharoni" panose="02010803020104030203" pitchFamily="2" charset="-79"/>
                <a:cs typeface="Aharoni" panose="02010803020104030203" pitchFamily="2" charset="-79"/>
              </a:rPr>
              <a:t>Olga </a:t>
            </a:r>
            <a:r>
              <a:rPr lang="en-US" altLang="ja-JP" sz="1400" dirty="0" err="1">
                <a:solidFill>
                  <a:prstClr val="black"/>
                </a:solidFill>
                <a:latin typeface="Aharoni" panose="02010803020104030203" pitchFamily="2" charset="-79"/>
                <a:cs typeface="Aharoni" panose="02010803020104030203" pitchFamily="2" charset="-79"/>
              </a:rPr>
              <a:t>Ermoleava</a:t>
            </a:r>
            <a:endParaRPr lang="en-US" altLang="ja-JP" sz="1400" dirty="0">
              <a:solidFill>
                <a:prstClr val="black"/>
              </a:solidFill>
              <a:latin typeface="Aharoni" panose="02010803020104030203" pitchFamily="2" charset="-79"/>
              <a:cs typeface="Aharoni" panose="02010803020104030203" pitchFamily="2" charset="-79"/>
            </a:endParaRPr>
          </a:p>
          <a:p>
            <a:r>
              <a:rPr lang="en-US" altLang="ja-JP" sz="1400" dirty="0">
                <a:solidFill>
                  <a:prstClr val="black"/>
                </a:solidFill>
                <a:highlight>
                  <a:srgbClr val="00FF00"/>
                </a:highlight>
                <a:latin typeface="Aharoni" panose="02010803020104030203" pitchFamily="2" charset="-79"/>
                <a:cs typeface="Aharoni" panose="02010803020104030203" pitchFamily="2" charset="-79"/>
              </a:rPr>
              <a:t>Boris Fedorov</a:t>
            </a:r>
          </a:p>
          <a:p>
            <a:r>
              <a:rPr lang="en-US" altLang="ja-JP" sz="1400" dirty="0">
                <a:solidFill>
                  <a:prstClr val="black"/>
                </a:solidFill>
                <a:highlight>
                  <a:srgbClr val="00FF00"/>
                </a:highlight>
                <a:latin typeface="Aharoni" panose="02010803020104030203" pitchFamily="2" charset="-79"/>
                <a:cs typeface="Aharoni" panose="02010803020104030203" pitchFamily="2" charset="-79"/>
              </a:rPr>
              <a:t>Mike Feldgarden</a:t>
            </a:r>
          </a:p>
          <a:p>
            <a:r>
              <a:rPr lang="en-US" altLang="ja-JP" sz="1400" dirty="0">
                <a:solidFill>
                  <a:prstClr val="black"/>
                </a:solidFill>
                <a:latin typeface="Aharoni" panose="02010803020104030203" pitchFamily="2" charset="-79"/>
                <a:cs typeface="Aharoni" panose="02010803020104030203" pitchFamily="2" charset="-79"/>
              </a:rPr>
              <a:t>Lewis Geer</a:t>
            </a:r>
          </a:p>
          <a:p>
            <a:r>
              <a:rPr lang="en-US" altLang="ja-JP" sz="1400" dirty="0">
                <a:solidFill>
                  <a:prstClr val="black"/>
                </a:solidFill>
                <a:latin typeface="Aharoni" panose="02010803020104030203" pitchFamily="2" charset="-79"/>
                <a:cs typeface="Aharoni" panose="02010803020104030203" pitchFamily="2" charset="-79"/>
              </a:rPr>
              <a:t>Renata Geer</a:t>
            </a:r>
          </a:p>
          <a:p>
            <a:r>
              <a:rPr lang="en-US" altLang="ja-JP" sz="1400" dirty="0">
                <a:solidFill>
                  <a:prstClr val="black"/>
                </a:solidFill>
                <a:highlight>
                  <a:srgbClr val="00FF00"/>
                </a:highlight>
                <a:latin typeface="Aharoni" panose="02010803020104030203" pitchFamily="2" charset="-79"/>
                <a:cs typeface="Aharoni" panose="02010803020104030203" pitchFamily="2" charset="-79"/>
              </a:rPr>
              <a:t>Dan Haft</a:t>
            </a:r>
          </a:p>
          <a:p>
            <a:r>
              <a:rPr lang="en-US" altLang="ja-JP" sz="1400" dirty="0" err="1">
                <a:solidFill>
                  <a:prstClr val="black"/>
                </a:solidFill>
                <a:latin typeface="Aharoni" panose="02010803020104030203" pitchFamily="2" charset="-79"/>
                <a:cs typeface="Aharoni" panose="02010803020104030203" pitchFamily="2" charset="-79"/>
              </a:rPr>
              <a:t>Lianyi</a:t>
            </a:r>
            <a:r>
              <a:rPr lang="en-US" altLang="ja-JP" sz="1400" dirty="0">
                <a:solidFill>
                  <a:prstClr val="black"/>
                </a:solidFill>
                <a:latin typeface="Aharoni" panose="02010803020104030203" pitchFamily="2" charset="-79"/>
                <a:cs typeface="Aharoni" panose="02010803020104030203" pitchFamily="2" charset="-79"/>
              </a:rPr>
              <a:t> Han</a:t>
            </a:r>
          </a:p>
          <a:p>
            <a:r>
              <a:rPr lang="en-US" altLang="ja-JP" sz="1400" dirty="0">
                <a:solidFill>
                  <a:prstClr val="black"/>
                </a:solidFill>
                <a:latin typeface="Aharoni" panose="02010803020104030203" pitchFamily="2" charset="-79"/>
                <a:cs typeface="Aharoni" panose="02010803020104030203" pitchFamily="2" charset="-79"/>
              </a:rPr>
              <a:t>Avi Kimchi</a:t>
            </a:r>
          </a:p>
          <a:p>
            <a:r>
              <a:rPr lang="en-US" altLang="ja-JP" sz="1400" dirty="0">
                <a:solidFill>
                  <a:prstClr val="black"/>
                </a:solidFill>
                <a:latin typeface="Aharoni" panose="02010803020104030203" pitchFamily="2" charset="-79"/>
                <a:cs typeface="Aharoni" panose="02010803020104030203" pitchFamily="2" charset="-79"/>
              </a:rPr>
              <a:t>Michel Kimelman</a:t>
            </a:r>
          </a:p>
          <a:p>
            <a:r>
              <a:rPr lang="en-US" altLang="ja-JP" sz="1400" dirty="0">
                <a:solidFill>
                  <a:prstClr val="black"/>
                </a:solidFill>
                <a:highlight>
                  <a:srgbClr val="00FF00"/>
                </a:highlight>
                <a:latin typeface="Aharoni" panose="02010803020104030203" pitchFamily="2" charset="-79"/>
                <a:cs typeface="Aharoni" panose="02010803020104030203" pitchFamily="2" charset="-79"/>
              </a:rPr>
              <a:t>William Klimke</a:t>
            </a:r>
          </a:p>
          <a:p>
            <a:r>
              <a:rPr lang="en-US" altLang="ja-JP" sz="1400" dirty="0">
                <a:solidFill>
                  <a:prstClr val="black"/>
                </a:solidFill>
                <a:latin typeface="Aharoni" panose="02010803020104030203" pitchFamily="2" charset="-79"/>
                <a:cs typeface="Aharoni" panose="02010803020104030203" pitchFamily="2" charset="-79"/>
              </a:rPr>
              <a:t>Alex </a:t>
            </a:r>
            <a:r>
              <a:rPr lang="en-US" altLang="ja-JP" sz="1400" dirty="0" err="1">
                <a:solidFill>
                  <a:prstClr val="black"/>
                </a:solidFill>
                <a:latin typeface="Aharoni" panose="02010803020104030203" pitchFamily="2" charset="-79"/>
                <a:cs typeface="Aharoni" panose="02010803020104030203" pitchFamily="2" charset="-79"/>
              </a:rPr>
              <a:t>Kotliarov</a:t>
            </a:r>
            <a:endParaRPr lang="en-US" altLang="ja-JP" sz="1400" dirty="0">
              <a:solidFill>
                <a:prstClr val="black"/>
              </a:solidFill>
              <a:latin typeface="Aharoni" panose="02010803020104030203" pitchFamily="2" charset="-79"/>
              <a:cs typeface="Aharoni" panose="02010803020104030203" pitchFamily="2" charset="-79"/>
            </a:endParaRPr>
          </a:p>
          <a:p>
            <a:r>
              <a:rPr lang="en-US" altLang="ja-JP" sz="1400" dirty="0">
                <a:solidFill>
                  <a:prstClr val="black"/>
                </a:solidFill>
                <a:latin typeface="Aharoni" panose="02010803020104030203" pitchFamily="2" charset="-79"/>
                <a:cs typeface="Aharoni" panose="02010803020104030203" pitchFamily="2" charset="-79"/>
              </a:rPr>
              <a:t>Valerii </a:t>
            </a:r>
            <a:r>
              <a:rPr lang="en-US" altLang="ja-JP" sz="1400" dirty="0" err="1">
                <a:solidFill>
                  <a:prstClr val="black"/>
                </a:solidFill>
                <a:latin typeface="Aharoni" panose="02010803020104030203" pitchFamily="2" charset="-79"/>
                <a:cs typeface="Aharoni" panose="02010803020104030203" pitchFamily="2" charset="-79"/>
              </a:rPr>
              <a:t>Lashmanov</a:t>
            </a:r>
            <a:endParaRPr lang="en-US" altLang="ja-JP" sz="1400" dirty="0">
              <a:solidFill>
                <a:prstClr val="black"/>
              </a:solidFill>
              <a:latin typeface="Aharoni" panose="02010803020104030203" pitchFamily="2" charset="-79"/>
              <a:cs typeface="Aharoni" panose="02010803020104030203" pitchFamily="2" charset="-79"/>
            </a:endParaRPr>
          </a:p>
          <a:p>
            <a:r>
              <a:rPr lang="en-US" sz="1400" dirty="0">
                <a:solidFill>
                  <a:prstClr val="black"/>
                </a:solidFill>
                <a:highlight>
                  <a:srgbClr val="00FF00"/>
                </a:highlight>
                <a:latin typeface="Aharoni" panose="02010803020104030203" pitchFamily="2" charset="-79"/>
                <a:cs typeface="Aharoni" panose="02010803020104030203" pitchFamily="2" charset="-79"/>
              </a:rPr>
              <a:t>Aleksandr </a:t>
            </a:r>
            <a:r>
              <a:rPr lang="en-US" sz="1400" dirty="0" err="1">
                <a:solidFill>
                  <a:prstClr val="black"/>
                </a:solidFill>
                <a:highlight>
                  <a:srgbClr val="00FF00"/>
                </a:highlight>
                <a:latin typeface="Aharoni" panose="02010803020104030203" pitchFamily="2" charset="-79"/>
                <a:cs typeface="Aharoni" panose="02010803020104030203" pitchFamily="2" charset="-79"/>
              </a:rPr>
              <a:t>Morgulis</a:t>
            </a:r>
            <a:endParaRPr lang="en-US" altLang="ja-JP" sz="1400" dirty="0">
              <a:solidFill>
                <a:prstClr val="black"/>
              </a:solidFill>
              <a:highlight>
                <a:srgbClr val="00FF00"/>
              </a:highlight>
              <a:latin typeface="Aharoni" panose="02010803020104030203" pitchFamily="2" charset="-79"/>
              <a:cs typeface="Aharoni" panose="02010803020104030203" pitchFamily="2" charset="-79"/>
            </a:endParaRPr>
          </a:p>
          <a:p>
            <a:r>
              <a:rPr lang="en-US" altLang="ja-JP" sz="1400" dirty="0">
                <a:solidFill>
                  <a:prstClr val="black"/>
                </a:solidFill>
                <a:highlight>
                  <a:srgbClr val="00FF00"/>
                </a:highlight>
                <a:latin typeface="Aharoni" panose="02010803020104030203" pitchFamily="2" charset="-79"/>
                <a:cs typeface="Aharoni" panose="02010803020104030203" pitchFamily="2" charset="-79"/>
              </a:rPr>
              <a:t>Eyal Moses</a:t>
            </a:r>
          </a:p>
          <a:p>
            <a:r>
              <a:rPr lang="en-US" altLang="ja-JP" sz="1400" dirty="0">
                <a:solidFill>
                  <a:prstClr val="black"/>
                </a:solidFill>
                <a:latin typeface="Aharoni" panose="02010803020104030203" pitchFamily="2" charset="-79"/>
                <a:cs typeface="Aharoni" panose="02010803020104030203" pitchFamily="2" charset="-79"/>
              </a:rPr>
              <a:t>Chris O'Sullivan</a:t>
            </a:r>
          </a:p>
          <a:p>
            <a:r>
              <a:rPr lang="en-US" altLang="ja-JP" sz="1400" dirty="0">
                <a:solidFill>
                  <a:prstClr val="black"/>
                </a:solidFill>
                <a:highlight>
                  <a:srgbClr val="00FF00"/>
                </a:highlight>
                <a:latin typeface="Aharoni" panose="02010803020104030203" pitchFamily="2" charset="-79"/>
                <a:cs typeface="Aharoni" panose="02010803020104030203" pitchFamily="2" charset="-79"/>
              </a:rPr>
              <a:t>Arjun Prasad</a:t>
            </a:r>
          </a:p>
          <a:p>
            <a:endParaRPr lang="en-US" altLang="ja-JP" sz="1400" dirty="0">
              <a:solidFill>
                <a:prstClr val="black"/>
              </a:solidFill>
              <a:latin typeface="Aharoni" panose="02010803020104030203" pitchFamily="2" charset="-79"/>
              <a:cs typeface="Aharoni" panose="02010803020104030203" pitchFamily="2" charset="-79"/>
            </a:endParaRPr>
          </a:p>
          <a:p>
            <a:endParaRPr lang="en-US" altLang="ja-JP" sz="1400" dirty="0">
              <a:solidFill>
                <a:prstClr val="black"/>
              </a:solidFill>
              <a:latin typeface="Aharoni" panose="02010803020104030203" pitchFamily="2" charset="-79"/>
              <a:cs typeface="Aharoni" panose="02010803020104030203" pitchFamily="2" charset="-79"/>
            </a:endParaRPr>
          </a:p>
        </p:txBody>
      </p:sp>
      <p:sp>
        <p:nvSpPr>
          <p:cNvPr id="11" name="TextBox 6">
            <a:extLst>
              <a:ext uri="{FF2B5EF4-FFF2-40B4-BE49-F238E27FC236}">
                <a16:creationId xmlns:a16="http://schemas.microsoft.com/office/drawing/2014/main" id="{E4F36FD2-2688-4446-A685-D9526E618FAA}"/>
              </a:ext>
            </a:extLst>
          </p:cNvPr>
          <p:cNvSpPr txBox="1">
            <a:spLocks noChangeArrowheads="1"/>
          </p:cNvSpPr>
          <p:nvPr/>
        </p:nvSpPr>
        <p:spPr bwMode="auto">
          <a:xfrm>
            <a:off x="5495026" y="4728891"/>
            <a:ext cx="6323163" cy="175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171450" indent="-171450"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indent="0" algn="ctr" eaLnBrk="1" hangingPunct="1"/>
            <a:r>
              <a:rPr lang="en-US" sz="1200" dirty="0">
                <a:latin typeface="Aharoni" panose="02010803020104030203" pitchFamily="2" charset="-79"/>
                <a:cs typeface="Aharoni" panose="02010803020104030203" pitchFamily="2" charset="-79"/>
              </a:rPr>
              <a:t>This |work was </a:t>
            </a:r>
            <a:r>
              <a:rPr lang="en-US" sz="1200">
                <a:latin typeface="Aharoni" panose="02010803020104030203" pitchFamily="2" charset="-79"/>
                <a:cs typeface="Aharoni" panose="02010803020104030203" pitchFamily="2" charset="-79"/>
              </a:rPr>
              <a:t>supported by </a:t>
            </a:r>
            <a:r>
              <a:rPr lang="en-US" sz="1200" dirty="0">
                <a:latin typeface="Aharoni" panose="02010803020104030203" pitchFamily="2" charset="-79"/>
                <a:cs typeface="Aharoni" panose="02010803020104030203" pitchFamily="2" charset="-79"/>
              </a:rPr>
              <a:t>the National Center for Biotechnology Information of the National Library of Medicine (NLM) and the National Institute of Allergy and Infectious Diseases (NIAID), National Institutes of Health (NIH), and the Human Foods Program (HFP), Food and Drug Administration (FDA). The contributions of the NIH author(s) are considered Works of the United States Government. The findings and conclusions presented in this paper are those of the author(s) and do not necessarily reflect the views of the NIH or the U.S. Department of Health and Human Services.</a:t>
            </a:r>
          </a:p>
          <a:p>
            <a:pPr marL="0" indent="0" algn="ctr" eaLnBrk="1" hangingPunct="1"/>
            <a:endParaRPr lang="en-US" sz="1200" dirty="0">
              <a:latin typeface="Aharoni" panose="02010803020104030203" pitchFamily="2" charset="-79"/>
              <a:cs typeface="Aharoni" panose="02010803020104030203" pitchFamily="2" charset="-79"/>
            </a:endParaRPr>
          </a:p>
          <a:p>
            <a:pPr marL="0" indent="0" algn="ctr" eaLnBrk="1" hangingPunct="1"/>
            <a:endParaRPr lang="en-US" sz="1200" dirty="0">
              <a:latin typeface="Aharoni" panose="02010803020104030203" pitchFamily="2" charset="-79"/>
              <a:cs typeface="Aharoni" panose="02010803020104030203" pitchFamily="2" charset="-79"/>
            </a:endParaRPr>
          </a:p>
        </p:txBody>
      </p:sp>
      <p:sp>
        <p:nvSpPr>
          <p:cNvPr id="13" name="Rectangle 12">
            <a:extLst>
              <a:ext uri="{FF2B5EF4-FFF2-40B4-BE49-F238E27FC236}">
                <a16:creationId xmlns:a16="http://schemas.microsoft.com/office/drawing/2014/main" id="{9E1C09F8-C9FB-4BF5-AE4F-451B96B4AFD7}"/>
              </a:ext>
            </a:extLst>
          </p:cNvPr>
          <p:cNvSpPr/>
          <p:nvPr/>
        </p:nvSpPr>
        <p:spPr>
          <a:xfrm>
            <a:off x="3384060" y="772682"/>
            <a:ext cx="3379838" cy="5693866"/>
          </a:xfrm>
          <a:prstGeom prst="rect">
            <a:avLst/>
          </a:prstGeom>
        </p:spPr>
        <p:txBody>
          <a:bodyPr wrap="square">
            <a:spAutoFit/>
          </a:bodyPr>
          <a:lstStyle/>
          <a:p>
            <a:r>
              <a:rPr lang="en-US" altLang="ja-JP" sz="1400" dirty="0">
                <a:solidFill>
                  <a:prstClr val="black"/>
                </a:solidFill>
                <a:latin typeface="Aharoni" panose="02010803020104030203" pitchFamily="2" charset="-79"/>
                <a:cs typeface="Aharoni" panose="02010803020104030203" pitchFamily="2" charset="-79"/>
              </a:rPr>
              <a:t>Edward Rice</a:t>
            </a:r>
          </a:p>
          <a:p>
            <a:r>
              <a:rPr lang="en-US" altLang="ja-JP" sz="1400" dirty="0">
                <a:solidFill>
                  <a:prstClr val="black"/>
                </a:solidFill>
                <a:latin typeface="Aharoni" panose="02010803020104030203" pitchFamily="2" charset="-79"/>
                <a:cs typeface="Aharoni" panose="02010803020104030203" pitchFamily="2" charset="-79"/>
              </a:rPr>
              <a:t>Kirill </a:t>
            </a:r>
            <a:r>
              <a:rPr lang="en-US" altLang="ja-JP" sz="1400" dirty="0" err="1">
                <a:solidFill>
                  <a:prstClr val="black"/>
                </a:solidFill>
                <a:latin typeface="Aharoni" panose="02010803020104030203" pitchFamily="2" charset="-79"/>
                <a:cs typeface="Aharoni" panose="02010803020104030203" pitchFamily="2" charset="-79"/>
              </a:rPr>
              <a:t>Rotmistrovskyy</a:t>
            </a:r>
            <a:endParaRPr lang="en-US" altLang="ja-JP" sz="1400" dirty="0">
              <a:solidFill>
                <a:prstClr val="black"/>
              </a:solidFill>
              <a:latin typeface="Aharoni" panose="02010803020104030203" pitchFamily="2" charset="-79"/>
              <a:cs typeface="Aharoni" panose="02010803020104030203" pitchFamily="2" charset="-79"/>
            </a:endParaRPr>
          </a:p>
          <a:p>
            <a:r>
              <a:rPr lang="en-US" sz="1400" dirty="0">
                <a:solidFill>
                  <a:prstClr val="black"/>
                </a:solidFill>
                <a:latin typeface="Aharoni" panose="02010803020104030203" pitchFamily="2" charset="-79"/>
                <a:cs typeface="Aharoni" panose="02010803020104030203" pitchFamily="2" charset="-79"/>
              </a:rPr>
              <a:t>Alejandro A. Schaffer</a:t>
            </a:r>
            <a:endParaRPr lang="en-US" altLang="ja-JP" sz="1400" dirty="0">
              <a:solidFill>
                <a:prstClr val="black"/>
              </a:solidFill>
              <a:latin typeface="Aharoni" panose="02010803020104030203" pitchFamily="2" charset="-79"/>
              <a:cs typeface="Aharoni" panose="02010803020104030203" pitchFamily="2" charset="-79"/>
            </a:endParaRPr>
          </a:p>
          <a:p>
            <a:r>
              <a:rPr lang="en-US" altLang="ja-JP" sz="1400" dirty="0">
                <a:solidFill>
                  <a:prstClr val="black"/>
                </a:solidFill>
                <a:latin typeface="Aharoni" panose="02010803020104030203" pitchFamily="2" charset="-79"/>
                <a:cs typeface="Aharoni" panose="02010803020104030203" pitchFamily="2" charset="-79"/>
              </a:rPr>
              <a:t>Nadya Serova</a:t>
            </a:r>
          </a:p>
          <a:p>
            <a:r>
              <a:rPr lang="en-US" altLang="ja-JP" sz="1400" dirty="0">
                <a:solidFill>
                  <a:prstClr val="black"/>
                </a:solidFill>
                <a:latin typeface="Aharoni" panose="02010803020104030203" pitchFamily="2" charset="-79"/>
                <a:cs typeface="Aharoni" panose="02010803020104030203" pitchFamily="2" charset="-79"/>
              </a:rPr>
              <a:t>Sergey </a:t>
            </a:r>
            <a:r>
              <a:rPr lang="en-US" altLang="ja-JP" sz="1400" dirty="0" err="1">
                <a:solidFill>
                  <a:prstClr val="black"/>
                </a:solidFill>
                <a:latin typeface="Aharoni" panose="02010803020104030203" pitchFamily="2" charset="-79"/>
                <a:cs typeface="Aharoni" panose="02010803020104030203" pitchFamily="2" charset="-79"/>
              </a:rPr>
              <a:t>Shiryev</a:t>
            </a:r>
            <a:endParaRPr lang="en-US" altLang="ja-JP" sz="1400" dirty="0">
              <a:solidFill>
                <a:prstClr val="black"/>
              </a:solidFill>
              <a:latin typeface="Aharoni" panose="02010803020104030203" pitchFamily="2" charset="-79"/>
              <a:cs typeface="Aharoni" panose="02010803020104030203" pitchFamily="2" charset="-79"/>
            </a:endParaRPr>
          </a:p>
          <a:p>
            <a:r>
              <a:rPr lang="en-US" altLang="ja-JP" sz="1400" dirty="0">
                <a:solidFill>
                  <a:prstClr val="black"/>
                </a:solidFill>
                <a:highlight>
                  <a:srgbClr val="00FF00"/>
                </a:highlight>
                <a:latin typeface="Aharoni" panose="02010803020104030203" pitchFamily="2" charset="-79"/>
                <a:cs typeface="Aharoni" panose="02010803020104030203" pitchFamily="2" charset="-79"/>
              </a:rPr>
              <a:t>Martin Shumway</a:t>
            </a:r>
          </a:p>
          <a:p>
            <a:r>
              <a:rPr lang="en-US" altLang="ja-JP" sz="1400" dirty="0">
                <a:solidFill>
                  <a:prstClr val="black"/>
                </a:solidFill>
                <a:latin typeface="Aharoni" panose="02010803020104030203" pitchFamily="2" charset="-79"/>
                <a:cs typeface="Aharoni" panose="02010803020104030203" pitchFamily="2" charset="-79"/>
              </a:rPr>
              <a:t>Oleg </a:t>
            </a:r>
            <a:r>
              <a:rPr lang="en-US" altLang="ja-JP" sz="1400" dirty="0" err="1">
                <a:solidFill>
                  <a:prstClr val="black"/>
                </a:solidFill>
                <a:latin typeface="Aharoni" panose="02010803020104030203" pitchFamily="2" charset="-79"/>
                <a:cs typeface="Aharoni" panose="02010803020104030203" pitchFamily="2" charset="-79"/>
              </a:rPr>
              <a:t>Shutov</a:t>
            </a:r>
            <a:endParaRPr lang="en-US" altLang="ja-JP" sz="1400" dirty="0">
              <a:solidFill>
                <a:prstClr val="black"/>
              </a:solidFill>
              <a:latin typeface="Aharoni" panose="02010803020104030203" pitchFamily="2" charset="-79"/>
              <a:cs typeface="Aharoni" panose="02010803020104030203" pitchFamily="2" charset="-79"/>
            </a:endParaRPr>
          </a:p>
          <a:p>
            <a:r>
              <a:rPr lang="en-US" altLang="ja-JP" sz="1400" dirty="0">
                <a:solidFill>
                  <a:prstClr val="black"/>
                </a:solidFill>
                <a:latin typeface="Aharoni" panose="02010803020104030203" pitchFamily="2" charset="-79"/>
                <a:cs typeface="Aharoni" panose="02010803020104030203" pitchFamily="2" charset="-79"/>
              </a:rPr>
              <a:t>Douglas </a:t>
            </a:r>
            <a:r>
              <a:rPr lang="en-US" altLang="ja-JP" sz="1400" dirty="0" err="1">
                <a:solidFill>
                  <a:prstClr val="black"/>
                </a:solidFill>
                <a:latin typeface="Aharoni" panose="02010803020104030203" pitchFamily="2" charset="-79"/>
                <a:cs typeface="Aharoni" panose="02010803020104030203" pitchFamily="2" charset="-79"/>
              </a:rPr>
              <a:t>Slotta</a:t>
            </a:r>
            <a:endParaRPr lang="en-US" altLang="ja-JP" sz="1400" dirty="0">
              <a:solidFill>
                <a:prstClr val="black"/>
              </a:solidFill>
              <a:latin typeface="Aharoni" panose="02010803020104030203" pitchFamily="2" charset="-79"/>
              <a:cs typeface="Aharoni" panose="02010803020104030203" pitchFamily="2" charset="-79"/>
            </a:endParaRPr>
          </a:p>
          <a:p>
            <a:r>
              <a:rPr lang="en-US" altLang="ja-JP" sz="1400" dirty="0">
                <a:solidFill>
                  <a:prstClr val="black"/>
                </a:solidFill>
                <a:highlight>
                  <a:srgbClr val="00FFFF"/>
                </a:highlight>
                <a:latin typeface="Aharoni" panose="02010803020104030203" pitchFamily="2" charset="-79"/>
                <a:cs typeface="Aharoni" panose="02010803020104030203" pitchFamily="2" charset="-79"/>
              </a:rPr>
              <a:t>Alexandre </a:t>
            </a:r>
            <a:r>
              <a:rPr lang="en-US" altLang="ja-JP" sz="1400" dirty="0" err="1">
                <a:solidFill>
                  <a:prstClr val="black"/>
                </a:solidFill>
                <a:highlight>
                  <a:srgbClr val="00FFFF"/>
                </a:highlight>
                <a:latin typeface="Aharoni" panose="02010803020104030203" pitchFamily="2" charset="-79"/>
                <a:cs typeface="Aharoni" panose="02010803020104030203" pitchFamily="2" charset="-79"/>
              </a:rPr>
              <a:t>Souvorov</a:t>
            </a:r>
            <a:endParaRPr lang="en-US" altLang="ja-JP" sz="1400" dirty="0">
              <a:solidFill>
                <a:prstClr val="black"/>
              </a:solidFill>
              <a:highlight>
                <a:srgbClr val="00FFFF"/>
              </a:highlight>
              <a:latin typeface="Aharoni" panose="02010803020104030203" pitchFamily="2" charset="-79"/>
              <a:cs typeface="Aharoni" panose="02010803020104030203" pitchFamily="2" charset="-79"/>
            </a:endParaRPr>
          </a:p>
          <a:p>
            <a:r>
              <a:rPr lang="en-US" altLang="ja-JP" sz="1400" dirty="0">
                <a:solidFill>
                  <a:prstClr val="black"/>
                </a:solidFill>
                <a:latin typeface="Aharoni" panose="02010803020104030203" pitchFamily="2" charset="-79"/>
                <a:cs typeface="Aharoni" panose="02010803020104030203" pitchFamily="2" charset="-79"/>
              </a:rPr>
              <a:t>Tatiana </a:t>
            </a:r>
            <a:r>
              <a:rPr lang="en-US" altLang="ja-JP" sz="1400" dirty="0" err="1">
                <a:solidFill>
                  <a:prstClr val="black"/>
                </a:solidFill>
                <a:latin typeface="Aharoni" panose="02010803020104030203" pitchFamily="2" charset="-79"/>
                <a:cs typeface="Aharoni" panose="02010803020104030203" pitchFamily="2" charset="-79"/>
              </a:rPr>
              <a:t>Tatusova</a:t>
            </a:r>
            <a:endParaRPr lang="en-US" altLang="ja-JP" sz="1400" dirty="0">
              <a:solidFill>
                <a:prstClr val="black"/>
              </a:solidFill>
              <a:latin typeface="Aharoni" panose="02010803020104030203" pitchFamily="2" charset="-79"/>
              <a:cs typeface="Aharoni" panose="02010803020104030203" pitchFamily="2" charset="-79"/>
            </a:endParaRPr>
          </a:p>
          <a:p>
            <a:r>
              <a:rPr lang="en-US" altLang="ja-JP" sz="1400" dirty="0">
                <a:solidFill>
                  <a:prstClr val="black"/>
                </a:solidFill>
                <a:latin typeface="Aharoni" panose="02010803020104030203" pitchFamily="2" charset="-79"/>
                <a:cs typeface="Aharoni" panose="02010803020104030203" pitchFamily="2" charset="-79"/>
              </a:rPr>
              <a:t>Francoise </a:t>
            </a:r>
            <a:r>
              <a:rPr lang="en-US" altLang="ja-JP" sz="1400" dirty="0" err="1">
                <a:solidFill>
                  <a:prstClr val="black"/>
                </a:solidFill>
                <a:latin typeface="Aharoni" panose="02010803020104030203" pitchFamily="2" charset="-79"/>
                <a:cs typeface="Aharoni" panose="02010803020104030203" pitchFamily="2" charset="-79"/>
              </a:rPr>
              <a:t>Thibaud</a:t>
            </a:r>
            <a:r>
              <a:rPr lang="en-US" altLang="ja-JP" sz="1400" dirty="0">
                <a:solidFill>
                  <a:prstClr val="black"/>
                </a:solidFill>
                <a:latin typeface="Aharoni" panose="02010803020104030203" pitchFamily="2" charset="-79"/>
                <a:cs typeface="Aharoni" panose="02010803020104030203" pitchFamily="2" charset="-79"/>
              </a:rPr>
              <a:t>-Nissen</a:t>
            </a:r>
          </a:p>
          <a:p>
            <a:r>
              <a:rPr lang="en-US" sz="1400" dirty="0">
                <a:solidFill>
                  <a:prstClr val="black"/>
                </a:solidFill>
                <a:latin typeface="Aharoni" panose="02010803020104030203" pitchFamily="2" charset="-79"/>
                <a:cs typeface="Aharoni" panose="02010803020104030203" pitchFamily="2" charset="-79"/>
              </a:rPr>
              <a:t>Igor Tolstoy</a:t>
            </a:r>
          </a:p>
          <a:p>
            <a:r>
              <a:rPr lang="en-US" sz="1400" dirty="0">
                <a:solidFill>
                  <a:prstClr val="black"/>
                </a:solidFill>
                <a:highlight>
                  <a:srgbClr val="00FF00"/>
                </a:highlight>
                <a:latin typeface="Aharoni" panose="02010803020104030203" pitchFamily="2" charset="-79"/>
                <a:cs typeface="Aharoni" panose="02010803020104030203" pitchFamily="2" charset="-79"/>
              </a:rPr>
              <a:t>Ed Wachtel</a:t>
            </a:r>
            <a:br>
              <a:rPr lang="en-US" sz="1400" dirty="0">
                <a:solidFill>
                  <a:prstClr val="black"/>
                </a:solidFill>
                <a:latin typeface="Aharoni" panose="02010803020104030203" pitchFamily="2" charset="-79"/>
                <a:cs typeface="Aharoni" panose="02010803020104030203" pitchFamily="2" charset="-79"/>
              </a:rPr>
            </a:br>
            <a:r>
              <a:rPr lang="en-US" sz="1400" dirty="0">
                <a:solidFill>
                  <a:prstClr val="black"/>
                </a:solidFill>
                <a:latin typeface="Aharoni" panose="02010803020104030203" pitchFamily="2" charset="-79"/>
                <a:cs typeface="Aharoni" panose="02010803020104030203" pitchFamily="2" charset="-79"/>
              </a:rPr>
              <a:t>Lukas Wagner</a:t>
            </a:r>
          </a:p>
          <a:p>
            <a:r>
              <a:rPr lang="en-US" sz="1400" dirty="0">
                <a:solidFill>
                  <a:prstClr val="black"/>
                </a:solidFill>
                <a:highlight>
                  <a:srgbClr val="00FF00"/>
                </a:highlight>
                <a:latin typeface="Aharoni" panose="02010803020104030203" pitchFamily="2" charset="-79"/>
                <a:cs typeface="Aharoni" panose="02010803020104030203" pitchFamily="2" charset="-79"/>
              </a:rPr>
              <a:t>Jay Worley</a:t>
            </a:r>
          </a:p>
          <a:p>
            <a:r>
              <a:rPr lang="en-US" sz="1400" dirty="0" err="1">
                <a:solidFill>
                  <a:prstClr val="black"/>
                </a:solidFill>
                <a:latin typeface="Aharoni" panose="02010803020104030203" pitchFamily="2" charset="-79"/>
                <a:cs typeface="Aharoni" panose="02010803020104030203" pitchFamily="2" charset="-79"/>
              </a:rPr>
              <a:t>Hlavina</a:t>
            </a:r>
            <a:r>
              <a:rPr lang="en-US" sz="1400" dirty="0">
                <a:solidFill>
                  <a:prstClr val="black"/>
                </a:solidFill>
                <a:latin typeface="Aharoni" panose="02010803020104030203" pitchFamily="2" charset="-79"/>
                <a:cs typeface="Aharoni" panose="02010803020104030203" pitchFamily="2" charset="-79"/>
              </a:rPr>
              <a:t> </a:t>
            </a:r>
            <a:r>
              <a:rPr lang="en-US" sz="1400" dirty="0" err="1">
                <a:solidFill>
                  <a:prstClr val="black"/>
                </a:solidFill>
                <a:latin typeface="Aharoni" panose="02010803020104030203" pitchFamily="2" charset="-79"/>
                <a:cs typeface="Aharoni" panose="02010803020104030203" pitchFamily="2" charset="-79"/>
              </a:rPr>
              <a:t>Wratko</a:t>
            </a:r>
            <a:endParaRPr lang="en-US" sz="1400" dirty="0">
              <a:solidFill>
                <a:prstClr val="black"/>
              </a:solidFill>
              <a:latin typeface="Aharoni" panose="02010803020104030203" pitchFamily="2" charset="-79"/>
              <a:cs typeface="Aharoni" panose="02010803020104030203" pitchFamily="2" charset="-79"/>
            </a:endParaRPr>
          </a:p>
          <a:p>
            <a:r>
              <a:rPr lang="en-US" altLang="ja-JP" sz="1400" dirty="0" err="1">
                <a:solidFill>
                  <a:prstClr val="black"/>
                </a:solidFill>
                <a:latin typeface="Aharoni" panose="02010803020104030203" pitchFamily="2" charset="-79"/>
                <a:cs typeface="Aharoni" panose="02010803020104030203" pitchFamily="2" charset="-79"/>
              </a:rPr>
              <a:t>Chunlin</a:t>
            </a:r>
            <a:r>
              <a:rPr lang="en-US" altLang="ja-JP" sz="1400" dirty="0">
                <a:solidFill>
                  <a:prstClr val="black"/>
                </a:solidFill>
                <a:latin typeface="Aharoni" panose="02010803020104030203" pitchFamily="2" charset="-79"/>
                <a:cs typeface="Aharoni" panose="02010803020104030203" pitchFamily="2" charset="-79"/>
              </a:rPr>
              <a:t> Xiao</a:t>
            </a:r>
          </a:p>
          <a:p>
            <a:r>
              <a:rPr lang="en-US" altLang="ja-JP" sz="1400" dirty="0">
                <a:solidFill>
                  <a:prstClr val="black"/>
                </a:solidFill>
                <a:highlight>
                  <a:srgbClr val="00FF00"/>
                </a:highlight>
                <a:latin typeface="Aharoni" panose="02010803020104030203" pitchFamily="2" charset="-79"/>
                <a:cs typeface="Aharoni" panose="02010803020104030203" pitchFamily="2" charset="-79"/>
              </a:rPr>
              <a:t>Alexander </a:t>
            </a:r>
            <a:r>
              <a:rPr lang="en-US" altLang="ja-JP" sz="1400" dirty="0" err="1">
                <a:solidFill>
                  <a:prstClr val="black"/>
                </a:solidFill>
                <a:highlight>
                  <a:srgbClr val="00FF00"/>
                </a:highlight>
                <a:latin typeface="Aharoni" panose="02010803020104030203" pitchFamily="2" charset="-79"/>
                <a:cs typeface="Aharoni" panose="02010803020104030203" pitchFamily="2" charset="-79"/>
              </a:rPr>
              <a:t>Zasypkin</a:t>
            </a:r>
            <a:endParaRPr lang="en-US" sz="1400" dirty="0">
              <a:solidFill>
                <a:prstClr val="black"/>
              </a:solidFill>
              <a:highlight>
                <a:srgbClr val="00FF00"/>
              </a:highlight>
              <a:latin typeface="Aharoni" panose="02010803020104030203" pitchFamily="2" charset="-79"/>
              <a:cs typeface="Aharoni" panose="02010803020104030203" pitchFamily="2" charset="-79"/>
            </a:endParaRPr>
          </a:p>
          <a:p>
            <a:r>
              <a:rPr lang="en-US" sz="1400" dirty="0">
                <a:solidFill>
                  <a:prstClr val="black"/>
                </a:solidFill>
                <a:latin typeface="Aharoni" panose="02010803020104030203" pitchFamily="2" charset="-79"/>
                <a:cs typeface="Aharoni" panose="02010803020104030203" pitchFamily="2" charset="-79"/>
              </a:rPr>
              <a:t>Eugene </a:t>
            </a:r>
            <a:r>
              <a:rPr lang="en-US" sz="1400" dirty="0" err="1">
                <a:solidFill>
                  <a:prstClr val="black"/>
                </a:solidFill>
                <a:latin typeface="Aharoni" panose="02010803020104030203" pitchFamily="2" charset="-79"/>
                <a:cs typeface="Aharoni" panose="02010803020104030203" pitchFamily="2" charset="-79"/>
              </a:rPr>
              <a:t>Yaschenko</a:t>
            </a:r>
            <a:br>
              <a:rPr lang="en-US" sz="1400" dirty="0">
                <a:solidFill>
                  <a:prstClr val="black"/>
                </a:solidFill>
                <a:latin typeface="Aharoni" panose="02010803020104030203" pitchFamily="2" charset="-79"/>
                <a:cs typeface="Aharoni" panose="02010803020104030203" pitchFamily="2" charset="-79"/>
              </a:rPr>
            </a:br>
            <a:r>
              <a:rPr lang="en-US" sz="1400" dirty="0">
                <a:solidFill>
                  <a:prstClr val="black"/>
                </a:solidFill>
                <a:latin typeface="Aharoni" panose="02010803020104030203" pitchFamily="2" charset="-79"/>
                <a:cs typeface="Aharoni" panose="02010803020104030203" pitchFamily="2" charset="-79"/>
              </a:rPr>
              <a:t>Mingzhang Yang</a:t>
            </a:r>
          </a:p>
          <a:p>
            <a:endParaRPr lang="en-US" altLang="ja-JP" sz="1400" dirty="0">
              <a:solidFill>
                <a:prstClr val="black"/>
              </a:solidFill>
              <a:latin typeface="Aharoni" panose="02010803020104030203" pitchFamily="2" charset="-79"/>
              <a:cs typeface="Aharoni" panose="02010803020104030203" pitchFamily="2" charset="-79"/>
            </a:endParaRPr>
          </a:p>
          <a:p>
            <a:r>
              <a:rPr lang="en-US" altLang="ja-JP" sz="1400" dirty="0">
                <a:solidFill>
                  <a:prstClr val="black"/>
                </a:solidFill>
                <a:latin typeface="Aharoni" panose="02010803020104030203" pitchFamily="2" charset="-79"/>
                <a:cs typeface="Aharoni" panose="02010803020104030203" pitchFamily="2" charset="-79"/>
              </a:rPr>
              <a:t>David Lipman</a:t>
            </a:r>
          </a:p>
          <a:p>
            <a:r>
              <a:rPr lang="en-US" altLang="ja-JP" sz="1400" dirty="0">
                <a:solidFill>
                  <a:prstClr val="black"/>
                </a:solidFill>
                <a:latin typeface="Aharoni" panose="02010803020104030203" pitchFamily="2" charset="-79"/>
                <a:cs typeface="Aharoni" panose="02010803020104030203" pitchFamily="2" charset="-79"/>
              </a:rPr>
              <a:t>James </a:t>
            </a:r>
            <a:r>
              <a:rPr lang="en-US" altLang="ja-JP" sz="1400" dirty="0" err="1">
                <a:solidFill>
                  <a:prstClr val="black"/>
                </a:solidFill>
                <a:latin typeface="Aharoni" panose="02010803020104030203" pitchFamily="2" charset="-79"/>
                <a:cs typeface="Aharoni" panose="02010803020104030203" pitchFamily="2" charset="-79"/>
              </a:rPr>
              <a:t>Ostell</a:t>
            </a:r>
            <a:endParaRPr lang="en-US" altLang="ja-JP" sz="1400" dirty="0">
              <a:solidFill>
                <a:prstClr val="black"/>
              </a:solidFill>
              <a:latin typeface="Aharoni" panose="02010803020104030203" pitchFamily="2" charset="-79"/>
              <a:cs typeface="Aharoni" panose="02010803020104030203" pitchFamily="2" charset="-79"/>
            </a:endParaRPr>
          </a:p>
          <a:p>
            <a:r>
              <a:rPr lang="en-US" altLang="ja-JP" sz="1400" dirty="0">
                <a:solidFill>
                  <a:prstClr val="black"/>
                </a:solidFill>
                <a:latin typeface="Aharoni" panose="02010803020104030203" pitchFamily="2" charset="-79"/>
                <a:cs typeface="Aharoni" panose="02010803020104030203" pitchFamily="2" charset="-79"/>
              </a:rPr>
              <a:t>Kim Pruitt</a:t>
            </a:r>
          </a:p>
          <a:p>
            <a:r>
              <a:rPr lang="en-US" altLang="ja-JP" sz="1400" dirty="0">
                <a:solidFill>
                  <a:prstClr val="black"/>
                </a:solidFill>
                <a:latin typeface="Aharoni" panose="02010803020104030203" pitchFamily="2" charset="-79"/>
                <a:cs typeface="Aharoni" panose="02010803020104030203" pitchFamily="2" charset="-79"/>
              </a:rPr>
              <a:t>Stephen Sherry</a:t>
            </a:r>
          </a:p>
        </p:txBody>
      </p:sp>
      <p:sp>
        <p:nvSpPr>
          <p:cNvPr id="14" name="TextBox 13">
            <a:extLst>
              <a:ext uri="{FF2B5EF4-FFF2-40B4-BE49-F238E27FC236}">
                <a16:creationId xmlns:a16="http://schemas.microsoft.com/office/drawing/2014/main" id="{398044D6-119C-43CB-B249-9C2CA47D5684}"/>
              </a:ext>
            </a:extLst>
          </p:cNvPr>
          <p:cNvSpPr txBox="1"/>
          <p:nvPr/>
        </p:nvSpPr>
        <p:spPr>
          <a:xfrm>
            <a:off x="6542644" y="3956889"/>
            <a:ext cx="4145494" cy="523220"/>
          </a:xfrm>
          <a:prstGeom prst="rect">
            <a:avLst/>
          </a:prstGeom>
          <a:noFill/>
        </p:spPr>
        <p:txBody>
          <a:bodyPr wrap="none" rtlCol="0">
            <a:spAutoFit/>
          </a:bodyPr>
          <a:lstStyle/>
          <a:p>
            <a:r>
              <a:rPr lang="en-US" sz="2800" b="1" dirty="0">
                <a:highlight>
                  <a:srgbClr val="FFFF00"/>
                </a:highlight>
              </a:rPr>
              <a:t>pd-help@ncbi.nlm.nih.gov</a:t>
            </a:r>
          </a:p>
        </p:txBody>
      </p:sp>
      <p:sp>
        <p:nvSpPr>
          <p:cNvPr id="20" name="TextBox 19">
            <a:extLst>
              <a:ext uri="{FF2B5EF4-FFF2-40B4-BE49-F238E27FC236}">
                <a16:creationId xmlns:a16="http://schemas.microsoft.com/office/drawing/2014/main" id="{5C32FF8C-528E-4829-BCED-107991075082}"/>
              </a:ext>
            </a:extLst>
          </p:cNvPr>
          <p:cNvSpPr txBox="1"/>
          <p:nvPr/>
        </p:nvSpPr>
        <p:spPr>
          <a:xfrm>
            <a:off x="4349883" y="234103"/>
            <a:ext cx="3006464" cy="461665"/>
          </a:xfrm>
          <a:prstGeom prst="rect">
            <a:avLst/>
          </a:prstGeom>
          <a:noFill/>
        </p:spPr>
        <p:txBody>
          <a:bodyPr wrap="none" rtlCol="0">
            <a:spAutoFit/>
          </a:bodyPr>
          <a:lstStyle/>
          <a:p>
            <a:r>
              <a:rPr lang="en-US" sz="2400" b="1"/>
              <a:t>Acknowledgements</a:t>
            </a:r>
          </a:p>
        </p:txBody>
      </p:sp>
      <p:sp>
        <p:nvSpPr>
          <p:cNvPr id="15" name="TextBox 8">
            <a:extLst>
              <a:ext uri="{FF2B5EF4-FFF2-40B4-BE49-F238E27FC236}">
                <a16:creationId xmlns:a16="http://schemas.microsoft.com/office/drawing/2014/main" id="{687876ED-1B6C-4E6D-8A6D-B4DCE53E371A}"/>
              </a:ext>
            </a:extLst>
          </p:cNvPr>
          <p:cNvSpPr txBox="1">
            <a:spLocks noChangeArrowheads="1"/>
          </p:cNvSpPr>
          <p:nvPr/>
        </p:nvSpPr>
        <p:spPr bwMode="auto">
          <a:xfrm>
            <a:off x="9023900" y="772682"/>
            <a:ext cx="1664238" cy="2677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400" dirty="0">
                <a:solidFill>
                  <a:prstClr val="black"/>
                </a:solidFill>
                <a:latin typeface="Aharoni" panose="02010803020104030203" pitchFamily="2" charset="-79"/>
                <a:cs typeface="Aharoni" panose="02010803020104030203" pitchFamily="2" charset="-79"/>
              </a:rPr>
              <a:t>ASM</a:t>
            </a:r>
          </a:p>
          <a:p>
            <a:pPr eaLnBrk="1" hangingPunct="1"/>
            <a:r>
              <a:rPr lang="en-US" sz="1400" dirty="0">
                <a:solidFill>
                  <a:prstClr val="black"/>
                </a:solidFill>
                <a:latin typeface="Aharoni" panose="02010803020104030203" pitchFamily="2" charset="-79"/>
                <a:cs typeface="Aharoni" panose="02010803020104030203" pitchFamily="2" charset="-79"/>
              </a:rPr>
              <a:t>APHL</a:t>
            </a:r>
          </a:p>
          <a:p>
            <a:pPr eaLnBrk="1" hangingPunct="1"/>
            <a:r>
              <a:rPr lang="en-US" sz="1400" dirty="0">
                <a:solidFill>
                  <a:prstClr val="black"/>
                </a:solidFill>
                <a:latin typeface="Aharoni" panose="02010803020104030203" pitchFamily="2" charset="-79"/>
                <a:cs typeface="Aharoni" panose="02010803020104030203" pitchFamily="2" charset="-79"/>
              </a:rPr>
              <a:t>BWH</a:t>
            </a:r>
          </a:p>
          <a:p>
            <a:pPr eaLnBrk="1" hangingPunct="1"/>
            <a:r>
              <a:rPr lang="en-US" sz="1400" dirty="0">
                <a:solidFill>
                  <a:prstClr val="black"/>
                </a:solidFill>
                <a:latin typeface="Aharoni" panose="02010803020104030203" pitchFamily="2" charset="-79"/>
                <a:cs typeface="Aharoni" panose="02010803020104030203" pitchFamily="2" charset="-79"/>
              </a:rPr>
              <a:t>CDC</a:t>
            </a:r>
          </a:p>
          <a:p>
            <a:pPr eaLnBrk="1" hangingPunct="1"/>
            <a:r>
              <a:rPr lang="en-US" sz="1400" dirty="0">
                <a:solidFill>
                  <a:prstClr val="black"/>
                </a:solidFill>
                <a:latin typeface="Aharoni" panose="02010803020104030203" pitchFamily="2" charset="-79"/>
                <a:cs typeface="Aharoni" panose="02010803020104030203" pitchFamily="2" charset="-79"/>
              </a:rPr>
              <a:t>FDA/CFSAN</a:t>
            </a:r>
          </a:p>
          <a:p>
            <a:pPr eaLnBrk="1" hangingPunct="1"/>
            <a:r>
              <a:rPr lang="en-US" sz="1400" dirty="0">
                <a:solidFill>
                  <a:prstClr val="black"/>
                </a:solidFill>
                <a:latin typeface="Aharoni" panose="02010803020104030203" pitchFamily="2" charset="-79"/>
                <a:cs typeface="Aharoni" panose="02010803020104030203" pitchFamily="2" charset="-79"/>
              </a:rPr>
              <a:t>FDA/CVM</a:t>
            </a:r>
          </a:p>
          <a:p>
            <a:pPr eaLnBrk="1" hangingPunct="1"/>
            <a:r>
              <a:rPr lang="en-US" sz="1400" dirty="0" err="1">
                <a:solidFill>
                  <a:prstClr val="black"/>
                </a:solidFill>
                <a:latin typeface="Aharoni" panose="02010803020104030203" pitchFamily="2" charset="-79"/>
                <a:cs typeface="Aharoni" panose="02010803020104030203" pitchFamily="2" charset="-79"/>
              </a:rPr>
              <a:t>GenFS</a:t>
            </a:r>
            <a:endParaRPr lang="en-US" sz="1400" dirty="0">
              <a:solidFill>
                <a:prstClr val="black"/>
              </a:solidFill>
              <a:latin typeface="Aharoni" panose="02010803020104030203" pitchFamily="2" charset="-79"/>
              <a:cs typeface="Aharoni" panose="02010803020104030203" pitchFamily="2" charset="-79"/>
            </a:endParaRPr>
          </a:p>
          <a:p>
            <a:pPr eaLnBrk="1" hangingPunct="1"/>
            <a:r>
              <a:rPr lang="en-US" sz="1400" dirty="0">
                <a:solidFill>
                  <a:prstClr val="black"/>
                </a:solidFill>
                <a:latin typeface="Aharoni" panose="02010803020104030203" pitchFamily="2" charset="-79"/>
                <a:cs typeface="Aharoni" panose="02010803020104030203" pitchFamily="2" charset="-79"/>
              </a:rPr>
              <a:t>USDA-FSIS</a:t>
            </a:r>
          </a:p>
          <a:p>
            <a:pPr eaLnBrk="1" hangingPunct="1"/>
            <a:r>
              <a:rPr lang="en-US" sz="1400" dirty="0">
                <a:solidFill>
                  <a:prstClr val="black"/>
                </a:solidFill>
                <a:latin typeface="Aharoni" panose="02010803020104030203" pitchFamily="2" charset="-79"/>
                <a:cs typeface="Aharoni" panose="02010803020104030203" pitchFamily="2" charset="-79"/>
              </a:rPr>
              <a:t>PHAC/CFIA</a:t>
            </a:r>
          </a:p>
          <a:p>
            <a:pPr eaLnBrk="1" hangingPunct="1"/>
            <a:r>
              <a:rPr lang="en-US" sz="1400" dirty="0">
                <a:solidFill>
                  <a:prstClr val="black"/>
                </a:solidFill>
                <a:latin typeface="Aharoni" panose="02010803020104030203" pitchFamily="2" charset="-79"/>
                <a:cs typeface="Aharoni" panose="02010803020104030203" pitchFamily="2" charset="-79"/>
              </a:rPr>
              <a:t>PHE/FERA</a:t>
            </a:r>
          </a:p>
          <a:p>
            <a:pPr eaLnBrk="1" hangingPunct="1"/>
            <a:r>
              <a:rPr lang="en-US" sz="1400" dirty="0">
                <a:solidFill>
                  <a:prstClr val="black"/>
                </a:solidFill>
                <a:latin typeface="Aharoni" panose="02010803020104030203" pitchFamily="2" charset="-79"/>
                <a:cs typeface="Aharoni" panose="02010803020104030203" pitchFamily="2" charset="-79"/>
              </a:rPr>
              <a:t>NIAID</a:t>
            </a:r>
          </a:p>
          <a:p>
            <a:pPr eaLnBrk="1" hangingPunct="1"/>
            <a:r>
              <a:rPr lang="en-US" sz="1400" dirty="0">
                <a:solidFill>
                  <a:prstClr val="black"/>
                </a:solidFill>
                <a:latin typeface="Aharoni" panose="02010803020104030203" pitchFamily="2" charset="-79"/>
                <a:cs typeface="Aharoni" panose="02010803020104030203" pitchFamily="2" charset="-79"/>
              </a:rPr>
              <a:t>Wadsworth/MDH</a:t>
            </a:r>
          </a:p>
        </p:txBody>
      </p:sp>
    </p:spTree>
    <p:extLst>
      <p:ext uri="{BB962C8B-B14F-4D97-AF65-F5344CB8AC3E}">
        <p14:creationId xmlns:p14="http://schemas.microsoft.com/office/powerpoint/2010/main" val="132116040"/>
      </p:ext>
    </p:extLst>
  </p:cSld>
  <p:clrMapOvr>
    <a:masterClrMapping/>
  </p:clrMapOvr>
</p:sld>
</file>

<file path=ppt/theme/theme1.xml><?xml version="1.0" encoding="utf-8"?>
<a:theme xmlns:a="http://schemas.openxmlformats.org/drawingml/2006/main" name="Office Theme">
  <a:themeElements>
    <a:clrScheme name="NCBI Colors 1">
      <a:dk1>
        <a:srgbClr val="000000"/>
      </a:dk1>
      <a:lt1>
        <a:srgbClr val="FFFFFF"/>
      </a:lt1>
      <a:dk2>
        <a:srgbClr val="44546A"/>
      </a:dk2>
      <a:lt2>
        <a:srgbClr val="E7E6E6"/>
      </a:lt2>
      <a:accent1>
        <a:srgbClr val="0071BC"/>
      </a:accent1>
      <a:accent2>
        <a:srgbClr val="AEB0B5"/>
      </a:accent2>
      <a:accent3>
        <a:srgbClr val="00A6D2"/>
      </a:accent3>
      <a:accent4>
        <a:srgbClr val="981B1E"/>
      </a:accent4>
      <a:accent5>
        <a:srgbClr val="002455"/>
      </a:accent5>
      <a:accent6>
        <a:srgbClr val="2E8540"/>
      </a:accent6>
      <a:hlink>
        <a:srgbClr val="0563C1"/>
      </a:hlink>
      <a:folHlink>
        <a:srgbClr val="954F72"/>
      </a:folHlink>
    </a:clrScheme>
    <a:fontScheme name="NCBI Helvetica Font">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cbi_presentation_light_2018-final3" id="{98D4A0B7-E0BF-164B-A57A-F4BCD23BECE7}" vid="{3CA3D7C7-A90F-314B-994C-EF26FE2F6ED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1BBD5C7FAC17C4F9F62ED65478D417A" ma:contentTypeVersion="14" ma:contentTypeDescription="Create a new document." ma:contentTypeScope="" ma:versionID="579183c95807dbe9ca39dd31f7dee8a0">
  <xsd:schema xmlns:xsd="http://www.w3.org/2001/XMLSchema" xmlns:xs="http://www.w3.org/2001/XMLSchema" xmlns:p="http://schemas.microsoft.com/office/2006/metadata/properties" xmlns:ns1="http://schemas.microsoft.com/sharepoint/v3" xmlns:ns2="4f470479-beb7-4b11-a5df-a20cf6d784b6" xmlns:ns3="4c72124a-75fe-4ae6-88c5-ab2a950d04a8" targetNamespace="http://schemas.microsoft.com/office/2006/metadata/properties" ma:root="true" ma:fieldsID="8961dd310327d6cc48411fc2661a2ede" ns1:_="" ns2:_="" ns3:_="">
    <xsd:import namespace="http://schemas.microsoft.com/sharepoint/v3"/>
    <xsd:import namespace="4f470479-beb7-4b11-a5df-a20cf6d784b6"/>
    <xsd:import namespace="4c72124a-75fe-4ae6-88c5-ab2a950d04a8"/>
    <xsd:element name="properties">
      <xsd:complexType>
        <xsd:sequence>
          <xsd:element name="documentManagement">
            <xsd:complexType>
              <xsd:all>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Person" minOccurs="0"/>
                <xsd:element ref="ns1:_ip_UnifiedCompliancePolicyProperties" minOccurs="0"/>
                <xsd:element ref="ns1:_ip_UnifiedCompliancePolicyUIAction"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f470479-beb7-4b11-a5df-a20cf6d784b6" elementFormDefault="qualified">
    <xsd:import namespace="http://schemas.microsoft.com/office/2006/documentManagement/types"/>
    <xsd:import namespace="http://schemas.microsoft.com/office/infopath/2007/PartnerControls"/>
    <xsd:element name="MediaServiceEventHashCode" ma:index="8" nillable="true" ma:displayName="MediaServiceEventHashCode" ma:hidden="true" ma:internalName="MediaServiceEventHashCode" ma:readOnly="true">
      <xsd:simpleType>
        <xsd:restriction base="dms:Text"/>
      </xsd:simpleType>
    </xsd:element>
    <xsd:element name="MediaServiceGenerationTime" ma:index="9" nillable="true" ma:displayName="MediaServiceGenerationTime" ma:hidden="true" ma:internalName="MediaServiceGenerationTime" ma:readOnly="true">
      <xsd:simpleType>
        <xsd:restriction base="dms:Text"/>
      </xsd:simpleType>
    </xsd:element>
    <xsd:element name="MediaServiceLocation" ma:index="10" nillable="true" ma:displayName="Location" ma:internalName="MediaServiceLocatio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Person" ma:index="13" nillable="true" ma:displayName="Person" ma:format="Dropdown" ma:list="UserInfo" ma:SharePointGroup="0" ma:internalName="Person">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LengthInSeconds" ma:index="16" nillable="true" ma:displayName="Length (seconds)"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85076318-fc83-4098-b869-becb80c8aa91" ma:termSetId="09814cd3-568e-fe90-9814-8d621ff8fb84" ma:anchorId="fba54fb3-c3e1-fe81-a776-ca4b69148c4d" ma:open="true" ma:isKeyword="false">
      <xsd:complexType>
        <xsd:sequence>
          <xsd:element ref="pc:Terms" minOccurs="0" maxOccurs="1"/>
        </xsd:sequence>
      </xsd:complex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c72124a-75fe-4ae6-88c5-ab2a950d04a8"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57123358-6b54-413a-b6ef-b2f5ba7fb6f5}" ma:internalName="TaxCatchAll" ma:showField="CatchAllData" ma:web="4c72124a-75fe-4ae6-88c5-ab2a950d04a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4c72124a-75fe-4ae6-88c5-ab2a950d04a8" xsi:nil="true"/>
    <lcf76f155ced4ddcb4097134ff3c332f xmlns="4f470479-beb7-4b11-a5df-a20cf6d784b6">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Person xmlns="4f470479-beb7-4b11-a5df-a20cf6d784b6">
      <UserInfo>
        <DisplayName/>
        <AccountId xsi:nil="true"/>
        <AccountType/>
      </UserInfo>
    </Person>
  </documentManagement>
</p:properties>
</file>

<file path=customXml/itemProps1.xml><?xml version="1.0" encoding="utf-8"?>
<ds:datastoreItem xmlns:ds="http://schemas.openxmlformats.org/officeDocument/2006/customXml" ds:itemID="{5A8BAA86-98B8-4506-BF04-1D37DE5824BA}">
  <ds:schemaRefs>
    <ds:schemaRef ds:uri="http://schemas.microsoft.com/sharepoint/v3/contenttype/forms"/>
  </ds:schemaRefs>
</ds:datastoreItem>
</file>

<file path=customXml/itemProps2.xml><?xml version="1.0" encoding="utf-8"?>
<ds:datastoreItem xmlns:ds="http://schemas.openxmlformats.org/officeDocument/2006/customXml" ds:itemID="{5C7DF705-151F-4A5F-B75C-DF488EDE845D}">
  <ds:schemaRefs>
    <ds:schemaRef ds:uri="4c72124a-75fe-4ae6-88c5-ab2a950d04a8"/>
    <ds:schemaRef ds:uri="4f470479-beb7-4b11-a5df-a20cf6d784b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73432C6-09C1-4655-AEB5-6BC5B71B0AF6}">
  <ds:schemaRefs>
    <ds:schemaRef ds:uri="http://purl.org/dc/elements/1.1/"/>
    <ds:schemaRef ds:uri="http://schemas.microsoft.com/office/2006/documentManagement/types"/>
    <ds:schemaRef ds:uri="http://www.w3.org/XML/1998/namespace"/>
    <ds:schemaRef ds:uri="4c72124a-75fe-4ae6-88c5-ab2a950d04a8"/>
    <ds:schemaRef ds:uri="http://schemas.openxmlformats.org/package/2006/metadata/core-properties"/>
    <ds:schemaRef ds:uri="4f470479-beb7-4b11-a5df-a20cf6d784b6"/>
    <ds:schemaRef ds:uri="http://schemas.microsoft.com/office/infopath/2007/PartnerControls"/>
    <ds:schemaRef ds:uri="http://purl.org/dc/terms/"/>
    <ds:schemaRef ds:uri="http://schemas.microsoft.com/sharepoint/v3"/>
    <ds:schemaRef ds:uri="http://schemas.microsoft.com/office/2006/metadata/properties"/>
    <ds:schemaRef ds:uri="http://purl.org/dc/dcmitype/"/>
  </ds:schemaRefs>
</ds:datastoreItem>
</file>

<file path=docMetadata/LabelInfo.xml><?xml version="1.0" encoding="utf-8"?>
<clbl:labelList xmlns:clbl="http://schemas.microsoft.com/office/2020/mipLabelMetadata">
  <clbl:label id="{14b77578-9773-42d5-8507-251ca2dc2b06}" enabled="0" method="" siteId="{14b77578-9773-42d5-8507-251ca2dc2b06}" removed="1"/>
</clbl:labelList>
</file>

<file path=docProps/app.xml><?xml version="1.0" encoding="utf-8"?>
<Properties xmlns="http://schemas.openxmlformats.org/officeDocument/2006/extended-properties" xmlns:vt="http://schemas.openxmlformats.org/officeDocument/2006/docPropsVTypes">
  <Template/>
  <TotalTime>12059</TotalTime>
  <Words>2230</Words>
  <Application>Microsoft Macintosh PowerPoint</Application>
  <PresentationFormat>Widescreen</PresentationFormat>
  <Paragraphs>289</Paragraphs>
  <Slides>26</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Abadi</vt:lpstr>
      <vt:lpstr>Aharoni</vt:lpstr>
      <vt:lpstr>Arial</vt:lpstr>
      <vt:lpstr>Calibri</vt:lpstr>
      <vt:lpstr>Helvetica</vt:lpstr>
      <vt:lpstr>Lucida Console</vt:lpstr>
      <vt:lpstr>Plus Jakarta Sans</vt:lpstr>
      <vt:lpstr>Tahoma</vt:lpstr>
      <vt:lpstr>Office Theme</vt:lpstr>
      <vt:lpstr>PowerPoint Presentation</vt:lpstr>
      <vt:lpstr>ASM BIG 2026 NCBI Workshop  NCBI Pathogen Detection</vt:lpstr>
      <vt:lpstr>PowerPoint Presentation</vt:lpstr>
      <vt:lpstr>NCBI Pathogen Detection</vt:lpstr>
      <vt:lpstr>Pathogen Detection Analysis Goals</vt:lpstr>
      <vt:lpstr>Pathogen Detection Analysis Goals</vt:lpstr>
      <vt:lpstr>Pathogen Detection Pipeline</vt:lpstr>
      <vt:lpstr>Understanding the Min-same / Min-diff Fields</vt:lpstr>
      <vt:lpstr>PowerPoint Presentation</vt:lpstr>
      <vt:lpstr>PowerPoint Presentation</vt:lpstr>
      <vt:lpstr>PowerPoint Presentation</vt:lpstr>
      <vt:lpstr>Antimicrobial Resistance (AMR)</vt:lpstr>
      <vt:lpstr>Pathogen Detection Analysis Goals</vt:lpstr>
      <vt:lpstr>AMRFinderPlus Uses a Curated Database, HMMs and BLAST to Identify AMR genes</vt:lpstr>
      <vt:lpstr>Reference tables  Data used by AMRFinderPlus to identify genes and point mutations</vt:lpstr>
      <vt:lpstr>Analysis results</vt:lpstr>
      <vt:lpstr>AST data from BioSample</vt:lpstr>
      <vt:lpstr>Understanding AMRFinderPlus: Class and Subclass</vt:lpstr>
      <vt:lpstr>PowerPoint Presentation</vt:lpstr>
      <vt:lpstr>Metagenomics</vt:lpstr>
      <vt:lpstr>Plasmids and antimicrobial resistance in hospital metagenomes </vt:lpstr>
      <vt:lpstr>Metagenomics</vt:lpstr>
      <vt:lpstr>Chng et al. (2020), Cartography of opportunistic pathogens and antibiotic resistance genes in a tertiary hospital environment.</vt:lpstr>
      <vt:lpstr>Exercise overview</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
  <dc:creator>Leubsdorf, Carl (NIH/NLM/NCBI) [C]</dc:creator>
  <cp:keywords/>
  <dc:description/>
  <cp:lastModifiedBy>Prasad, Arjun (NIH/NLM/NCBI) [E]</cp:lastModifiedBy>
  <cp:revision>9</cp:revision>
  <dcterms:created xsi:type="dcterms:W3CDTF">2019-03-19T15:16:52Z</dcterms:created>
  <dcterms:modified xsi:type="dcterms:W3CDTF">2026-10-10T23:09:31Z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0x01010041BBD5C7FAC17C4F9F62ED65478D417A</vt:lpwstr>
  </property>
  <property fmtid="{D5CDD505-2E9C-101B-9397-08002B2CF9AE}" pid="3" name="MediaServiceImageTags">
    <vt:lpwstr/>
  </property>
</Properties>
</file>